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60" r:id="rId8"/>
    <p:sldId id="265" r:id="rId9"/>
    <p:sldId id="266" r:id="rId10"/>
    <p:sldId id="262" r:id="rId11"/>
    <p:sldId id="261" r:id="rId12"/>
    <p:sldId id="263" r:id="rId13"/>
    <p:sldId id="259" r:id="rId14"/>
    <p:sldId id="264" r:id="rId15"/>
    <p:sldId id="268" r:id="rId16"/>
  </p:sldIdLst>
  <p:sldSz cx="12192000" cy="6858000"/>
  <p:notesSz cx="6858000" cy="9144000"/>
  <p:defaultTextStyle>
    <a:defPPr>
      <a:defRPr lang="en-A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26" d="100"/>
          <a:sy n="126" d="100"/>
        </p:scale>
        <p:origin x="648" y="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CD2FF5-F736-5B7A-0CFB-7B163C7AEC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7A54551-30F8-79C0-CB56-60AC7E2F1A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4F79B79-BFDD-3CFD-C3CF-ACFB870EC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B9C0E-6BCF-4A10-9D76-D4669468EC85}" type="datetimeFigureOut">
              <a:rPr lang="de-AT" smtClean="0"/>
              <a:t>13.11.2025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F4C22FD-E91E-28D1-BD65-78FB1D807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294492A-FCC9-A21C-51CE-AB4DD6636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60A8B-CEBC-429C-959A-545AA23ABB6A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271085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3E9318-030D-9EA1-322A-FF01DEA42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9C073B4-4604-0452-BF18-28221F4C1B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8843105-EA57-A615-9A32-A10F94392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B9C0E-6BCF-4A10-9D76-D4669468EC85}" type="datetimeFigureOut">
              <a:rPr lang="de-AT" smtClean="0"/>
              <a:t>13.11.2025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32BC6BD-4D20-51D3-6FF0-01BA2B630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25D9FC0-ACDF-3495-AB87-E2A910DD0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60A8B-CEBC-429C-959A-545AA23ABB6A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187396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0977AC-10DA-9A8B-31D2-7600620B6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FE32FFC-4192-8AB3-F686-7E888E143E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96F940D-9384-9BDC-3111-B92CBC0C5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B9C0E-6BCF-4A10-9D76-D4669468EC85}" type="datetimeFigureOut">
              <a:rPr lang="de-AT" smtClean="0"/>
              <a:t>13.11.2025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1D4B27D-5E48-6CBD-326C-E9A514E11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CC7C3B0-75C7-0334-4D4E-1BE670B4A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60A8B-CEBC-429C-959A-545AA23ABB6A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225040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D34186-1FBD-B7BB-3DA9-BF081B606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A7DFCC5-A38D-23C8-1CDF-BEA5CE8BF9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78CCA4F-1F36-DB4B-A8D3-9E2628A0C9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CF23747-7863-17FE-740B-1EA49ED95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B9C0E-6BCF-4A10-9D76-D4669468EC85}" type="datetimeFigureOut">
              <a:rPr lang="de-AT" smtClean="0"/>
              <a:t>13.11.2025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395FF4F-CE09-338C-E32C-4DA9DB2A7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D2C2671-C2DF-A610-8E8A-F9261E1C6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60A8B-CEBC-429C-959A-545AA23ABB6A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105171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1098FA-66E5-8EDC-00BF-B1739F3ED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ADEFB4F-EA83-DC82-5823-C9B451ED24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1CEB450-8EA9-936A-256A-B40F0A4FD2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E32A361-A39D-EF50-AE03-AD90C46E5A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29A5174-D48C-AF3B-71BB-A061DDF8CE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85462A4-0314-3E33-E73E-F487E5E9B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B9C0E-6BCF-4A10-9D76-D4669468EC85}" type="datetimeFigureOut">
              <a:rPr lang="de-AT" smtClean="0"/>
              <a:t>13.11.2025</a:t>
            </a:fld>
            <a:endParaRPr lang="de-AT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81C01167-443B-B5C4-FBF1-00E92832F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EDDB74F-F79D-FA33-0A9D-9F4A5D988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60A8B-CEBC-429C-959A-545AA23ABB6A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9092069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A47BC1-FBFF-E352-601B-A0DA9339B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34EDB82-4830-2E34-C570-D2755C3E6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B9C0E-6BCF-4A10-9D76-D4669468EC85}" type="datetimeFigureOut">
              <a:rPr lang="de-AT" smtClean="0"/>
              <a:t>13.11.2025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60AD9DB-F714-E231-EA28-105AD165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70D4037-384E-970F-83C7-750AD871D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60A8B-CEBC-429C-959A-545AA23ABB6A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705210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17B3DBA-7B2A-641A-6130-D45811AAF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B9C0E-6BCF-4A10-9D76-D4669468EC85}" type="datetimeFigureOut">
              <a:rPr lang="de-AT" smtClean="0"/>
              <a:t>13.11.2025</a:t>
            </a:fld>
            <a:endParaRPr lang="de-AT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DD8DD30-8487-3144-EDE5-C11BB2928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0C6AAAB-CDF2-E5F4-6008-3D1B46F57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60A8B-CEBC-429C-959A-545AA23ABB6A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922007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B80982-A189-B89B-3B6B-04632A397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3BB23DE-31AE-C95C-12CF-6E36314CFD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4DA0440-253C-B553-8DF8-2026CFD4C6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48A0A7F-0CA3-A0D4-C036-44409462F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B9C0E-6BCF-4A10-9D76-D4669468EC85}" type="datetimeFigureOut">
              <a:rPr lang="de-AT" smtClean="0"/>
              <a:t>13.11.2025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F535482-3CF5-3966-E846-B0265E395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7FC4E69-B85A-0C1D-D891-B3F3A5B61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60A8B-CEBC-429C-959A-545AA23ABB6A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2243329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10A44D-0CDF-9664-006F-6F2C8219E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F65F7EE3-6EBC-6F0B-784B-ABCD1AF967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7B253DA-C424-7CA5-A4D4-ADC348D1C6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AF62308-05C7-F1D7-C5A5-090F50A95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B9C0E-6BCF-4A10-9D76-D4669468EC85}" type="datetimeFigureOut">
              <a:rPr lang="de-AT" smtClean="0"/>
              <a:t>13.11.2025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FB24E31-9FE9-7DE9-89BF-D139A18DD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3A409E0-11B5-1285-D7F9-B9F8F45B1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60A8B-CEBC-429C-959A-545AA23ABB6A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875856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3FD1D7-BCF2-E346-A6F2-1197C4088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C82B88A-23CC-0F89-96D1-F22045B1DD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04974C0-3F72-F48B-E7A3-F5BFC00DE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B9C0E-6BCF-4A10-9D76-D4669468EC85}" type="datetimeFigureOut">
              <a:rPr lang="de-AT" smtClean="0"/>
              <a:t>13.11.2025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78623FE-A6AB-6037-C0F8-9EFC5088D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F0A9BA1-3501-A34B-AE81-67D6FF769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60A8B-CEBC-429C-959A-545AA23ABB6A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693585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42248C34-B376-8133-777C-C0488A0D0A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1595DED-6ECA-0162-F314-5C3C0A3154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61700DB-3027-A2C7-A16B-8F1ACB890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B9C0E-6BCF-4A10-9D76-D4669468EC85}" type="datetimeFigureOut">
              <a:rPr lang="de-AT" smtClean="0"/>
              <a:t>13.11.2025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F657438-4AC1-7D86-E08C-21FCDF7BA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AF31D0A-977F-53C5-DAAC-69E8D5A18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60A8B-CEBC-429C-959A-545AA23ABB6A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156389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3BE83C7-C6F3-EF21-73EF-545E77A3C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FC3422A-A8A0-29ED-7839-6DE0DA9E3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5F7A2C9-6DE1-1CD7-009A-0FCAA83F4C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5B9C0E-6BCF-4A10-9D76-D4669468EC85}" type="datetimeFigureOut">
              <a:rPr lang="de-AT" smtClean="0"/>
              <a:t>13.11.2025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D8CF41F-1E89-CA6E-35C8-95B8F5BA27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CA8C9F3-2D39-2F38-E78E-6F14F5E591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960A8B-CEBC-429C-959A-545AA23ABB6A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579293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A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0E9A60-9514-F6AD-3337-814721F399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T" dirty="0"/>
              <a:t>Update </a:t>
            </a:r>
            <a:r>
              <a:rPr lang="en-AT" dirty="0" err="1"/>
              <a:t>Masterarbeit</a:t>
            </a:r>
            <a:r>
              <a:rPr lang="en-AT" dirty="0"/>
              <a:t> (Sentiment &amp; Forecasting)</a:t>
            </a:r>
            <a:endParaRPr lang="de-AT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0F1099E-427F-2FE6-F5F3-078E001600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T" dirty="0"/>
              <a:t>David Höchtl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274693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F79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9F48D39D-DE1D-F498-12C1-2C9465EDDE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19006" y="643467"/>
            <a:ext cx="7553987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512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52C233-C1C5-DD9B-C510-EA17F3787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Schwerer Fehler in </a:t>
            </a:r>
            <a:r>
              <a:rPr lang="en-AT" dirty="0" err="1"/>
              <a:t>Evaluierung</a:t>
            </a:r>
            <a:endParaRPr lang="de-AT" dirty="0"/>
          </a:p>
        </p:txBody>
      </p:sp>
      <p:pic>
        <p:nvPicPr>
          <p:cNvPr id="6" name="Inhaltsplatzhalter 5" descr="Ein Bild, das Text, Screenshot, Software, Zahl enthält.&#10;&#10;KI-generierte Inhalte können fehlerhaft sein.">
            <a:extLst>
              <a:ext uri="{FF2B5EF4-FFF2-40B4-BE49-F238E27FC236}">
                <a16:creationId xmlns:a16="http://schemas.microsoft.com/office/drawing/2014/main" id="{1052E3F4-9897-D8E3-C08F-09CDB66DA6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6695" y="1525443"/>
            <a:ext cx="5185373" cy="4351338"/>
          </a:xfrm>
        </p:spPr>
      </p:pic>
      <p:sp>
        <p:nvSpPr>
          <p:cNvPr id="4" name="AutoShape 2">
            <a:extLst>
              <a:ext uri="{FF2B5EF4-FFF2-40B4-BE49-F238E27FC236}">
                <a16:creationId xmlns:a16="http://schemas.microsoft.com/office/drawing/2014/main" id="{3CEC8D42-6003-8377-0A38-F2B9ECD1E80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AT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C88A4D19-CFE0-6397-9859-25FCD6340D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254" y="2189352"/>
            <a:ext cx="5100746" cy="3023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9026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DB37E1-D700-1C9A-48F1-609451577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 err="1"/>
              <a:t>Erkenntnisse</a:t>
            </a:r>
            <a:r>
              <a:rPr lang="en-AT" dirty="0"/>
              <a:t> </a:t>
            </a:r>
            <a:r>
              <a:rPr lang="en-AT" dirty="0" err="1"/>
              <a:t>FinBERT</a:t>
            </a:r>
            <a:r>
              <a:rPr lang="en-AT" dirty="0"/>
              <a:t> vs VADER</a:t>
            </a:r>
            <a:endParaRPr lang="de-AT" dirty="0"/>
          </a:p>
        </p:txBody>
      </p:sp>
      <p:sp>
        <p:nvSpPr>
          <p:cNvPr id="10" name="Inhaltsplatzhalter 5">
            <a:extLst>
              <a:ext uri="{FF2B5EF4-FFF2-40B4-BE49-F238E27FC236}">
                <a16:creationId xmlns:a16="http://schemas.microsoft.com/office/drawing/2014/main" id="{F9BE99FB-D666-D4DF-6267-8011659E5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AT" dirty="0" err="1"/>
              <a:t>FinBERT</a:t>
            </a:r>
            <a:r>
              <a:rPr lang="en-AT" dirty="0"/>
              <a:t> </a:t>
            </a:r>
            <a:r>
              <a:rPr lang="en-AT" dirty="0" err="1"/>
              <a:t>ist</a:t>
            </a:r>
            <a:r>
              <a:rPr lang="en-AT" dirty="0"/>
              <a:t> </a:t>
            </a:r>
            <a:r>
              <a:rPr lang="en-AT" dirty="0" err="1"/>
              <a:t>genauer</a:t>
            </a:r>
            <a:r>
              <a:rPr lang="en-AT" dirty="0"/>
              <a:t> </a:t>
            </a:r>
            <a:r>
              <a:rPr lang="en-AT" dirty="0" err="1"/>
              <a:t>bei</a:t>
            </a:r>
            <a:r>
              <a:rPr lang="en-AT" dirty="0"/>
              <a:t> der Sentiment analyse (</a:t>
            </a:r>
            <a:r>
              <a:rPr lang="en-AT" dirty="0" err="1"/>
              <a:t>siehe</a:t>
            </a:r>
            <a:r>
              <a:rPr lang="en-AT" dirty="0"/>
              <a:t> Experiment </a:t>
            </a:r>
            <a:r>
              <a:rPr lang="en-AT" dirty="0" err="1"/>
              <a:t>mit</a:t>
            </a:r>
            <a:r>
              <a:rPr lang="en-AT" dirty="0"/>
              <a:t> Lookahead)</a:t>
            </a:r>
          </a:p>
          <a:p>
            <a:endParaRPr lang="en-AT" dirty="0"/>
          </a:p>
          <a:p>
            <a:r>
              <a:rPr lang="en-AT" dirty="0" err="1"/>
              <a:t>Dadurch</a:t>
            </a:r>
            <a:r>
              <a:rPr lang="en-AT" dirty="0"/>
              <a:t> </a:t>
            </a:r>
            <a:r>
              <a:rPr lang="en-AT" dirty="0" err="1"/>
              <a:t>dass</a:t>
            </a:r>
            <a:r>
              <a:rPr lang="en-AT" dirty="0"/>
              <a:t> Sentiment_lag1 </a:t>
            </a:r>
            <a:r>
              <a:rPr lang="en-AT" dirty="0" err="1"/>
              <a:t>ein</a:t>
            </a:r>
            <a:r>
              <a:rPr lang="en-AT" dirty="0"/>
              <a:t> </a:t>
            </a:r>
            <a:r>
              <a:rPr lang="en-AT" dirty="0" err="1"/>
              <a:t>schwaches</a:t>
            </a:r>
            <a:r>
              <a:rPr lang="en-AT" dirty="0"/>
              <a:t> signal </a:t>
            </a:r>
            <a:r>
              <a:rPr lang="en-AT" dirty="0" err="1"/>
              <a:t>ist</a:t>
            </a:r>
            <a:r>
              <a:rPr lang="en-AT" dirty="0"/>
              <a:t>, hat die </a:t>
            </a:r>
            <a:r>
              <a:rPr lang="en-AT" dirty="0" err="1"/>
              <a:t>umstellung</a:t>
            </a:r>
            <a:r>
              <a:rPr lang="en-AT" dirty="0"/>
              <a:t> auf </a:t>
            </a:r>
            <a:r>
              <a:rPr lang="en-AT" dirty="0" err="1"/>
              <a:t>FinBERT</a:t>
            </a:r>
            <a:r>
              <a:rPr lang="en-AT" dirty="0"/>
              <a:t> </a:t>
            </a:r>
            <a:r>
              <a:rPr lang="en-AT" dirty="0" err="1"/>
              <a:t>nur</a:t>
            </a:r>
            <a:r>
              <a:rPr lang="en-AT" dirty="0"/>
              <a:t> </a:t>
            </a:r>
            <a:r>
              <a:rPr lang="en-AT" dirty="0" err="1"/>
              <a:t>einen</a:t>
            </a:r>
            <a:r>
              <a:rPr lang="en-AT" dirty="0"/>
              <a:t> </a:t>
            </a:r>
            <a:r>
              <a:rPr lang="en-AT" dirty="0" err="1"/>
              <a:t>kleinen</a:t>
            </a:r>
            <a:r>
              <a:rPr lang="en-AT" dirty="0"/>
              <a:t> </a:t>
            </a:r>
            <a:r>
              <a:rPr lang="en-AT" dirty="0" err="1"/>
              <a:t>Nutzen</a:t>
            </a:r>
            <a:r>
              <a:rPr lang="en-AT" dirty="0"/>
              <a:t> </a:t>
            </a:r>
            <a:r>
              <a:rPr lang="en-AT" dirty="0" err="1"/>
              <a:t>ergeben</a:t>
            </a:r>
            <a:endParaRPr lang="en-AT" dirty="0"/>
          </a:p>
          <a:p>
            <a:endParaRPr lang="en-AT" dirty="0"/>
          </a:p>
          <a:p>
            <a:r>
              <a:rPr lang="en-AT" dirty="0"/>
              <a:t>390k </a:t>
            </a:r>
            <a:r>
              <a:rPr lang="en-AT" dirty="0" err="1"/>
              <a:t>Datensätze</a:t>
            </a:r>
            <a:r>
              <a:rPr lang="en-AT" dirty="0"/>
              <a:t> </a:t>
            </a:r>
            <a:r>
              <a:rPr lang="en-AT" dirty="0" err="1"/>
              <a:t>kein</a:t>
            </a:r>
            <a:r>
              <a:rPr lang="en-AT" dirty="0"/>
              <a:t> Problem </a:t>
            </a:r>
            <a:r>
              <a:rPr lang="en-AT" dirty="0" err="1"/>
              <a:t>mit</a:t>
            </a:r>
            <a:r>
              <a:rPr lang="en-AT" dirty="0"/>
              <a:t> </a:t>
            </a:r>
            <a:r>
              <a:rPr lang="en-AT" dirty="0" err="1"/>
              <a:t>meiner</a:t>
            </a:r>
            <a:r>
              <a:rPr lang="en-AT" dirty="0"/>
              <a:t> RTX 3080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363661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91B704-5F98-A025-1BFA-3271508F8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 err="1"/>
              <a:t>FinBERT</a:t>
            </a:r>
            <a:r>
              <a:rPr lang="en-AT" dirty="0"/>
              <a:t> </a:t>
            </a:r>
            <a:r>
              <a:rPr lang="en-AT" dirty="0" err="1"/>
              <a:t>mit</a:t>
            </a:r>
            <a:r>
              <a:rPr lang="en-AT" dirty="0"/>
              <a:t> Lookahead</a:t>
            </a:r>
            <a:endParaRPr lang="de-AT" dirty="0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9AD6B6C2-ADD1-85C4-CF6A-A074FFA906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72022"/>
            <a:ext cx="10515600" cy="3658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511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A9F74-BFD7-AB10-82B5-6F60C6298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BA29B05-482B-7CC6-B1B6-EBDA73246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/>
              <a:t>VADER </a:t>
            </a:r>
            <a:r>
              <a:rPr lang="en-AT" dirty="0" err="1"/>
              <a:t>mit</a:t>
            </a:r>
            <a:r>
              <a:rPr lang="en-AT" dirty="0"/>
              <a:t> Lookahead</a:t>
            </a:r>
            <a:endParaRPr lang="de-AT" dirty="0"/>
          </a:p>
        </p:txBody>
      </p:sp>
      <p:pic>
        <p:nvPicPr>
          <p:cNvPr id="8" name="Inhaltsplatzhalter 7">
            <a:extLst>
              <a:ext uri="{FF2B5EF4-FFF2-40B4-BE49-F238E27FC236}">
                <a16:creationId xmlns:a16="http://schemas.microsoft.com/office/drawing/2014/main" id="{0D6043B2-19B6-D52F-ACE3-F6808537BC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245894"/>
            <a:ext cx="10515600" cy="3510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834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FC043-96EB-0AF6-F8BC-313C1F7CB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nhaltsplatzhalter 7">
            <a:extLst>
              <a:ext uri="{FF2B5EF4-FFF2-40B4-BE49-F238E27FC236}">
                <a16:creationId xmlns:a16="http://schemas.microsoft.com/office/drawing/2014/main" id="{01DD6E12-E00B-D32B-1EA1-0C1E475B09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3618" y="1870040"/>
            <a:ext cx="10515600" cy="3551790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9B07DE3A-30C1-32F6-3559-DB1AC88BD2BD}"/>
              </a:ext>
            </a:extLst>
          </p:cNvPr>
          <p:cNvSpPr txBox="1"/>
          <p:nvPr/>
        </p:nvSpPr>
        <p:spPr>
          <a:xfrm>
            <a:off x="1201190" y="909782"/>
            <a:ext cx="30290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T" sz="4400" dirty="0">
                <a:latin typeface="+mj-lt"/>
                <a:ea typeface="+mj-ea"/>
                <a:cs typeface="+mj-cs"/>
              </a:rPr>
              <a:t>VADER</a:t>
            </a:r>
            <a:endParaRPr lang="de-AT" sz="4400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210309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E15F80BB-2B2D-C640-63BC-BE381FAEF0F9}"/>
              </a:ext>
            </a:extLst>
          </p:cNvPr>
          <p:cNvSpPr txBox="1"/>
          <p:nvPr/>
        </p:nvSpPr>
        <p:spPr>
          <a:xfrm>
            <a:off x="1054232" y="839023"/>
            <a:ext cx="30290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T" sz="4400" dirty="0">
                <a:latin typeface="+mj-lt"/>
                <a:ea typeface="+mj-ea"/>
                <a:cs typeface="+mj-cs"/>
              </a:rPr>
              <a:t>FINBERT</a:t>
            </a:r>
            <a:endParaRPr lang="de-AT" sz="4400" dirty="0">
              <a:latin typeface="+mj-lt"/>
              <a:ea typeface="+mj-ea"/>
              <a:cs typeface="+mj-cs"/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A312BB2A-24FD-AC27-8E01-0FB49F42AB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679" y="1986629"/>
            <a:ext cx="10661401" cy="3526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2151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50D23604-8A3C-DFCC-ABCA-6F9EA62F9F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4666" y="922482"/>
            <a:ext cx="6080550" cy="456936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FFA7B1A8-1987-BD0E-769A-71CD588970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691" y="1581075"/>
            <a:ext cx="5648053" cy="3426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2925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CA0CDA4-2A89-AE70-0B15-1DF6AEF46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 err="1"/>
              <a:t>Mögliche</a:t>
            </a:r>
            <a:r>
              <a:rPr lang="en-AT" dirty="0"/>
              <a:t> </a:t>
            </a:r>
            <a:r>
              <a:rPr lang="en-AT" dirty="0" err="1"/>
              <a:t>nächste</a:t>
            </a:r>
            <a:r>
              <a:rPr lang="en-AT" dirty="0"/>
              <a:t> </a:t>
            </a:r>
            <a:r>
              <a:rPr lang="en-AT" dirty="0" err="1"/>
              <a:t>Schritte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7010197-1D80-A900-961E-A86FA42067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AT" dirty="0"/>
              <a:t>Sentiment Feature </a:t>
            </a:r>
            <a:r>
              <a:rPr lang="en-AT" dirty="0" err="1"/>
              <a:t>verbessern</a:t>
            </a:r>
            <a:endParaRPr lang="en-AT" dirty="0"/>
          </a:p>
          <a:p>
            <a:pPr lvl="1"/>
            <a:r>
              <a:rPr lang="en-AT" dirty="0"/>
              <a:t>Impact Score</a:t>
            </a:r>
          </a:p>
          <a:p>
            <a:pPr lvl="1"/>
            <a:r>
              <a:rPr lang="en-AT" dirty="0" err="1"/>
              <a:t>Nicht-Lineare</a:t>
            </a:r>
            <a:r>
              <a:rPr lang="en-AT" dirty="0"/>
              <a:t> Modelle (</a:t>
            </a:r>
            <a:r>
              <a:rPr lang="en-AT" dirty="0" err="1"/>
              <a:t>XGBoost</a:t>
            </a:r>
            <a:r>
              <a:rPr lang="en-AT" dirty="0"/>
              <a:t>, RNN, LSTM, Transformer)</a:t>
            </a:r>
          </a:p>
          <a:p>
            <a:pPr lvl="2"/>
            <a:r>
              <a:rPr lang="en-AT" dirty="0"/>
              <a:t>Volatility x sentiment x </a:t>
            </a:r>
            <a:r>
              <a:rPr lang="en-AT" dirty="0" err="1"/>
              <a:t>volumen</a:t>
            </a:r>
            <a:endParaRPr lang="en-AT" dirty="0"/>
          </a:p>
          <a:p>
            <a:pPr lvl="1"/>
            <a:r>
              <a:rPr lang="en-GB" dirty="0"/>
              <a:t>Granger Causality Test</a:t>
            </a:r>
            <a:endParaRPr lang="en-AT" dirty="0"/>
          </a:p>
          <a:p>
            <a:pPr lvl="1"/>
            <a:r>
              <a:rPr lang="en-AT" dirty="0"/>
              <a:t>Social media </a:t>
            </a:r>
            <a:r>
              <a:rPr lang="en-AT" dirty="0" err="1"/>
              <a:t>miteinbeziehen</a:t>
            </a:r>
            <a:r>
              <a:rPr lang="en-AT" dirty="0"/>
              <a:t> ?!</a:t>
            </a:r>
          </a:p>
          <a:p>
            <a:pPr lvl="1"/>
            <a:endParaRPr lang="en-AT" dirty="0"/>
          </a:p>
          <a:p>
            <a:r>
              <a:rPr lang="en-AT" i="1" dirty="0">
                <a:solidFill>
                  <a:schemeClr val="bg1">
                    <a:lumMod val="50000"/>
                  </a:schemeClr>
                </a:solidFill>
              </a:rPr>
              <a:t>Intra day sentiment score (</a:t>
            </a:r>
            <a:r>
              <a:rPr lang="en-AT" i="1" dirty="0" err="1">
                <a:solidFill>
                  <a:schemeClr val="bg1">
                    <a:lumMod val="50000"/>
                  </a:schemeClr>
                </a:solidFill>
              </a:rPr>
              <a:t>fehlende</a:t>
            </a:r>
            <a:r>
              <a:rPr lang="en-AT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AT" i="1" dirty="0" err="1">
                <a:solidFill>
                  <a:schemeClr val="bg1">
                    <a:lumMod val="50000"/>
                  </a:schemeClr>
                </a:solidFill>
              </a:rPr>
              <a:t>Datengrundlage</a:t>
            </a:r>
            <a:r>
              <a:rPr lang="en-AT" i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  <a:p>
            <a:pPr lvl="1"/>
            <a:r>
              <a:rPr lang="en-GB" i="1" dirty="0">
                <a:solidFill>
                  <a:schemeClr val="bg1">
                    <a:lumMod val="50000"/>
                  </a:schemeClr>
                </a:solidFill>
              </a:rPr>
              <a:t>S</a:t>
            </a:r>
            <a:r>
              <a:rPr lang="en-AT" i="1" dirty="0" err="1">
                <a:solidFill>
                  <a:schemeClr val="bg1">
                    <a:lumMod val="50000"/>
                  </a:schemeClr>
                </a:solidFill>
              </a:rPr>
              <a:t>entiment</a:t>
            </a:r>
            <a:r>
              <a:rPr lang="en-AT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AT" i="1" dirty="0" err="1">
                <a:solidFill>
                  <a:schemeClr val="bg1">
                    <a:lumMod val="50000"/>
                  </a:schemeClr>
                </a:solidFill>
              </a:rPr>
              <a:t>als</a:t>
            </a:r>
            <a:r>
              <a:rPr lang="en-AT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AT" i="1" dirty="0" err="1">
                <a:solidFill>
                  <a:schemeClr val="bg1">
                    <a:lumMod val="50000"/>
                  </a:schemeClr>
                </a:solidFill>
              </a:rPr>
              <a:t>kurzlebiges</a:t>
            </a:r>
            <a:r>
              <a:rPr lang="en-AT" i="1" dirty="0">
                <a:solidFill>
                  <a:schemeClr val="bg1">
                    <a:lumMod val="50000"/>
                  </a:schemeClr>
                </a:solidFill>
              </a:rPr>
              <a:t> Signal</a:t>
            </a:r>
          </a:p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5751964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1C3729-8916-52FB-96E9-6ECB9F260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 err="1"/>
              <a:t>XGBoost</a:t>
            </a:r>
            <a:endParaRPr lang="de-AT" dirty="0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F025B4A5-C0D0-77A2-21DE-F3947CCDAA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35113" y="463413"/>
            <a:ext cx="6618687" cy="1828848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B8BAFC75-253E-4473-512A-7A5884D52B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588" y="2866620"/>
            <a:ext cx="10733595" cy="3320230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F50FC5AB-D63C-B465-6058-A385C2BBA24E}"/>
              </a:ext>
            </a:extLst>
          </p:cNvPr>
          <p:cNvSpPr txBox="1"/>
          <p:nvPr/>
        </p:nvSpPr>
        <p:spPr>
          <a:xfrm>
            <a:off x="349450" y="2292261"/>
            <a:ext cx="759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T" dirty="0"/>
              <a:t>Vader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4681826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48483-34EC-332E-0013-0DDE1D861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04D8B5-6FCA-EB2A-DE78-AF37E55CD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 err="1"/>
              <a:t>XGBoost</a:t>
            </a:r>
            <a:endParaRPr lang="de-AT" dirty="0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029D9370-95D4-270A-D062-6B333D27DC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35113" y="463413"/>
            <a:ext cx="6618687" cy="1828848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EE0D39FF-9F48-B971-B5DA-CA201D3738F6}"/>
              </a:ext>
            </a:extLst>
          </p:cNvPr>
          <p:cNvSpPr txBox="1"/>
          <p:nvPr/>
        </p:nvSpPr>
        <p:spPr>
          <a:xfrm>
            <a:off x="349450" y="2292261"/>
            <a:ext cx="9975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T" dirty="0" err="1"/>
              <a:t>FinBERT</a:t>
            </a:r>
            <a:endParaRPr lang="de-AT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1E4FF19A-62D6-3A22-286F-3C3CC20E34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3048" y="2960011"/>
            <a:ext cx="8891037" cy="3731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7845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008DDD5495AD4418D656E87ADC1FF16" ma:contentTypeVersion="5" ma:contentTypeDescription="Ein neues Dokument erstellen." ma:contentTypeScope="" ma:versionID="0a17db1cd48855b508dfafabe113c4d7">
  <xsd:schema xmlns:xsd="http://www.w3.org/2001/XMLSchema" xmlns:xs="http://www.w3.org/2001/XMLSchema" xmlns:p="http://schemas.microsoft.com/office/2006/metadata/properties" xmlns:ns3="dfc939de-6228-4e89-abac-f80475266bb5" targetNamespace="http://schemas.microsoft.com/office/2006/metadata/properties" ma:root="true" ma:fieldsID="4186e9185e46dbf2e9788244cb708a18" ns3:_="">
    <xsd:import namespace="dfc939de-6228-4e89-abac-f80475266bb5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c939de-6228-4e89-abac-f80475266bb5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4AEF6BA-30F7-4213-ADE0-C97D2D79C3C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1AA015F-D8C5-46A3-8AAF-3F659257930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fc939de-6228-4e89-abac-f80475266bb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96727F1-7AD8-4A35-B60A-354D83BBD557}">
  <ds:schemaRefs>
    <ds:schemaRef ds:uri="http://purl.org/dc/elements/1.1/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dfc939de-6228-4e89-abac-f80475266bb5"/>
    <ds:schemaRef ds:uri="http://schemas.microsoft.com/office/2006/metadata/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</Words>
  <Application>Microsoft Office PowerPoint</Application>
  <PresentationFormat>Breitbild</PresentationFormat>
  <Paragraphs>27</Paragraphs>
  <Slides>12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</vt:lpstr>
      <vt:lpstr>Update Masterarbeit (Sentiment &amp; Forecasting)</vt:lpstr>
      <vt:lpstr>PowerPoint-Präsentation</vt:lpstr>
      <vt:lpstr>Schwerer Fehler in Evaluierung</vt:lpstr>
      <vt:lpstr>Erkenntnisse FinBERT vs VADER</vt:lpstr>
      <vt:lpstr>FinBERT mit Lookahead</vt:lpstr>
      <vt:lpstr>VADER mit Lookahead</vt:lpstr>
      <vt:lpstr>PowerPoint-Präsentation</vt:lpstr>
      <vt:lpstr>PowerPoint-Präsentation</vt:lpstr>
      <vt:lpstr>PowerPoint-Präsentation</vt:lpstr>
      <vt:lpstr>Mögliche nächste Schritte</vt:lpstr>
      <vt:lpstr>XGBoost</vt:lpstr>
      <vt:lpstr>XGBoost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Höchtl</dc:creator>
  <cp:lastModifiedBy>David Höchtl</cp:lastModifiedBy>
  <cp:revision>2</cp:revision>
  <dcterms:created xsi:type="dcterms:W3CDTF">2025-10-30T17:37:01Z</dcterms:created>
  <dcterms:modified xsi:type="dcterms:W3CDTF">2025-11-13T12:47:40Z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0x0101005008DDD5495AD4418D656E87ADC1FF16</vt:lpwstr>
  </property>
</Properties>
</file>