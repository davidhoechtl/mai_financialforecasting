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9" r:id="rId4"/>
    <p:sldId id="258" r:id="rId5"/>
    <p:sldId id="262" r:id="rId6"/>
    <p:sldId id="260" r:id="rId7"/>
    <p:sldId id="261" r:id="rId8"/>
    <p:sldId id="272" r:id="rId9"/>
    <p:sldId id="267" r:id="rId10"/>
    <p:sldId id="268" r:id="rId11"/>
    <p:sldId id="269" r:id="rId12"/>
    <p:sldId id="271" r:id="rId13"/>
    <p:sldId id="270" r:id="rId14"/>
    <p:sldId id="263" r:id="rId15"/>
    <p:sldId id="265" r:id="rId16"/>
  </p:sldIdLst>
  <p:sldSz cx="12192000" cy="6858000"/>
  <p:notesSz cx="6858000" cy="9144000"/>
  <p:defaultTextStyle>
    <a:defPPr>
      <a:defRPr lang="en-A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79" autoAdjust="0"/>
    <p:restoredTop sz="80058" autoAdjust="0"/>
  </p:normalViewPr>
  <p:slideViewPr>
    <p:cSldViewPr snapToGrid="0">
      <p:cViewPr varScale="1">
        <p:scale>
          <a:sx n="107" d="100"/>
          <a:sy n="107" d="100"/>
        </p:scale>
        <p:origin x="111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5T19:57:20.03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16,'0'-1,"0"1,0-1,1 0,-1 1,0-1,0 1,1-1,-1 1,1-1,-1 1,1-1,-1 1,1-1,-1 1,1 0,-1-1,1 1,-1 0,1-1,-1 1,1 0,0 0,-1 0,1-1,-1 1,1 0,1 0,20-2,-19 2,254-2,-131 3,277 10,-183-7,23 3,213 0,-279-9,497 2,-664 0,0-2,18-3,18-2,33 8,31-2,-62-5,-26 3,24-1,648 3,-340 2,-280-1,-79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5T20:17:18.88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97,'740'0,"-484"-18,-119 5,-89 10,311-27,0 10,-319 18,58-3,53-1,863 6,-1006 1,1 0,-1 1,0 0,1 0,-1 1,-1 0,15 7,-11-5,1 0,18 5,79 16,-43-15,131 5,-109-14,98 15,-125-9,87 12,-126-16,-7-1,1 0,27 0,420-4,-451 1,-1-1,15-4,-8 2,-7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5T20:17:20.16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0 133,'2004'0,"-1778"-6,9 0,-95 0,-6 0,140-6,83-7,-231 1,-62 8,111-4,-148 13,0-1,28-6,-28 3,52-2,-20 1,-42 3,26 0,-4 2,-1 3,0 0,39 9,10 7,91 23,-164-36,-7-4,-1 1,0 0,-1 0,1 1,0-1,-1 1,1 0,-1 1,0 0,6 4,2 3,1 0,1-1,0-1,24 12,-34-19,2 0,-1 0,0-1,0 1,1-1,7 0,15 3,-9-1,-10-2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7T11:20:54.21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84,'89'6,"-3"0,46 0,5 0,194 3,151-5,-274-5,457 1,-638 0,-1 2,0 1,45 12,-53-12,0-1,1 0,-1-1,31-3,-4 0,-7 2,175-7,-167 1,0 0,56 0,-78 7,-5 0,0-1,1-1,36-7,-39 5,28-1,-2-1,99-19,-124 21,27-1,-30 4,0-1,-1-1,24-6,-18 2,1 0,0 2,1 1,-1 0,33 2,-39 0,30-5,-28 4,26-2,-24 4,0-2,0 0,0-1,31-9,-42 10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7T11:20:59.79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13,'20'0,"30"-6,-31 3,26-1,79 4,-52 1,27-1,261 10,111 8,-243-14,759 2,-589-8,265-15,-30 9,-398 9,-56-1,-167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7T11:21:00.93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0,'0'1,"1"0,-1 1,0-1,1 0,-1 0,1 0,-1 0,1 0,0 0,-1-1,1 1,0 0,0 0,-1 0,1-1,0 1,0 0,0-1,0 1,0-1,0 1,0-1,0 1,0-1,0 0,0 1,1-1,-1 0,1 0,37 4,-36-4,183 2,67 2,377 3,-381-9,3687 2,-3627 13,-10 0,220-14,-509 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7T11:41:40.28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1 124,'4'-1,"1"1,-1-1,0 0,0 0,1-1,-1 1,5-4,-4 3,0 0,0 0,0 0,10-1,68 0,-3 0,156-5,-50 4,384-5,-90 4,-285 2,106-7,-134-8,-128 13,-24 2,26 0,657 3,-666-2,0-1,36-8,-34 5,-5 3,-1 1,47 4,-18-1,331-1,-377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7T11:41:41.15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1 143,'12'-1,"0"0,1-1,-1-1,21-7,6-2,-12 6,-1 1,2 1,51 0,21 6,192-4,-159-10,32-1,96-7,-158 11,274-22,-332 24,-35 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7T11:41:41.54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28 1,'-2'0,"-3"0,-2 0,-1 2,2 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7T11:41:41.94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1,'11'1,"0"0,1 1,-1 0,17 6,9 2,294 43,4-24,-231-20,359-1,-288-10,-98 1,82 3,-87 10,-62-12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5T19:57:54.61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43,'0'-1,"0"1,1-1,-1 0,0 1,1-1,-1 1,0-1,1 1,-1-1,1 1,-1-1,0 1,1-1,-1 1,1 0,0-1,-1 1,1 0,-1-1,1 1,-1 0,1 0,0 0,-1-1,1 1,0 0,0 0,21-2,-19 2,36-2,-13 1,33-5,-25 2,42 0,12-1,-6-1,101 5,-78 3,-54-3,242 10,-125-2,-23-1,-1 0,26 2,170-2,-207-7,486 1,-514 7,-1 0,1089-8,-1092-6,1 0,1 9,114-4,-158-4,27-1,77-1,-77 2,101 5,-82 3,476-2,-571 1,1 0,17 4,17 2,-32-7,-1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5T20:17:41.37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0 183,'144'1,"152"-2,-25-12,5-4,-99 5,613-50,-381 25,-299 28,137-9,-176 15,93-4,141 3,-174 5,-32 0,118 15,-142-9,127-5,-99-4,12 1,123 2,-211 2,0 2,0 0,35 12,15 4,10 6,-64-19,0-1,43 8,67 9,-71-13,-10-1,-1-3,78 2,-121-8,-1-1,1 2,-1-1,1 1,11 4,-11-3,0-1,0 1,1-2,9 2,25 3,-30-4,27 2,-5-4,-9-1,1 2,42 6,-34-3,-24-3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5T20:17:42.71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86,'36'-1,"49"-7,-47 4,59 3,13-2,158-8,-103 7,114-3,-41 2,342-9,31 2,-512 10,813-11,-457 12,371 3,-397 17,-164-5,243-10,-283-5,-106 1,-109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5T20:17:44.75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27,'164'-12,"-63"2,242 6,-190 6,3153-2,-2995 6,-29 0,39 11,-106-2,420 31,-630-45,553 16,-536-19,-15-1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5T20:17:48.24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37,'3048'0,"-2798"7,-104-1,-8-1,103 2,63 9,-297-16,124 12,150 8,47-8,-213-6,66 0,-154-6,-7 0,-1 0,0-1,30-6,21-14,-26 7,5 2,-31 8,1-1,21-8,-27 8,1 1,0 0,0 1,0 1,29-1,-41 3,121-12,-16 1,-68 6,-15 2,33-1,-9 4,-38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7T11:52:19.40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0 124,'434'-10,"-120"0,70 4,-15 0,-284 2,234-18,289-27,-433 36,-126 10,81 5,-45 10,-14 3,-11-1,272 47,-243-45,-21-1,1-4,105 3,-95-15,-66 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7T11:52:31.75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63,'168'-9,"235"-38,-317 41,97 6,-75 1,273-1,-360 2,0 0,39 9,-15-1,-24-7,-4 1,1-2,23 2,34 2,-28 0,1-1,48 1,-84-6,-1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7T11:52:32.53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84,'75'-6,"1"-1,87 7,324-6,-127-3,-105 3,190-6,-82-12,-296 12,-59 11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5T19:58:32.45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97,'23'0,"0"-1,39-7,-30 4,1 1,0 2,39 2,-10 1,69-1,170-3,-171-4,51-1,-76 7,295-8,-68-8,-208 12,52-3,252 1,-258 7,578-1,-621-7,0 0,-97 7,171-7,-119 0,106 7,-83 1,80-2,195 3,-212 11,58 1,-60-4,-119-7,69-4,33 2,-106 5,-28-3,28 1,195-4,-227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5T19:58:36.31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55,'2405'0,"-2196"-7,-93 1,210-8,-101 1,122-1,-267 13,76 3,-116 5,-27-5,-1 0,18 1,-10-2,39 7,-54-7,22 2,0-1,35-2,-32-1,44 5,18 3,133-5,-111-3,-25 0,93 2,-137 6,-31-4,29 1,-29-3,0 0,15 4,4 1,-7-3,16 3,43 0,18 0,1 1,203-8,-295 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5T19:58:44.28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1 104,'2'0,"1"1,-1 0,1 0,-1 0,0 0,1 1,-1-1,0 1,0-1,4 4,6 4,3 0,0-2,1 0,-1-1,2-1,-1 0,0-1,19 2,12-1,61-2,1371-4,-1367 8,-3 0,566-7,-326-1,-128-6,-7 0,170-2,-264 5,43-4,-53 2,6-2,-7 1,-9 1,-54 0,89-8,-75 8,36-1,157-3,-252 10,252-17,-169 18,130-2,-126-5,38-1,-39 3,114-21,-150 18,-23 3,-8 2,0-1,34-10,-43 9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5T19:58:47.29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1 136,'0'1,"0"0,0 1,0-1,0 0,1 0,-1 0,1 0,-1 0,1 0,-1 1,1-1,-1 0,1 0,0-1,0 1,0 0,-1 0,1 0,0 0,0-1,0 1,0 0,0-1,0 1,0-1,1 1,-1-1,0 0,0 1,0-1,2 0,5 2,1-1,-1-1,14 0,-12 0,1713-1,-1422-7,-8 1,80-3,168 5,-311 7,26-10,-107-3,172-19,-255 25,103 4,-76 2,-10 1,91-4,-155-1,1 0,35-11,-39 8,1 2,1 0,-1 1,24-1,111 3,179-6,-182 1,116-12,-204 12,76 4,-113 2,-13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5T20:17:58.23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0 152,'0'-1,"1"1,-1-1,0 1,0-1,0 1,0 0,1-1,-1 1,0-1,1 1,-1 0,0-1,0 1,1 0,-1 0,1-1,-1 1,0 0,1 0,-1-1,1 1,-1 0,0 0,2 0,14-5,-8 4,16-6,-1 2,2 0,-1 2,28-1,38-5,182-26,-191 26,96 2,11-2,489-6,-452 16,-67 12,-15-1,-22-7,40 1,-145-5,0 1,0 1,0 0,17 6,15 3,-19-6,1-1,61 3,512-9,-559-2,-1-1,48-12,-79 14,263-43,-251 40,41-14,-44 12,17-3,-27 7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7T12:00:13.90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7T12:07:59.13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0,'545'0,"-532"1,0 0,15 4,-14-3,27 2,21-4,-2 0,101 11,-70-1,181-6,-150-5,2351 1,-2463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7T12:08:16.26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26,'1'0,"-1"1,0 0,1-1,-1 1,0-1,1 1,-1-1,1 1,-1-1,1 1,-1-1,1 1,-1-1,1 0,-1 1,1-1,0 0,-1 0,1 1,0-1,0 0,21 6,-14-4,10 2,-1-1,1-1,0-1,0 0,31-3,-2 0,254-14,170-15,1 29,-257 3,626 55,-279-6,-273-27,-248-21,-21-1,25 3,-39-3,1 1,-1 0,1 0,-1 0,0 1,0 0,10 6,-11-7,0 0,0 0,0 0,0-1,0 1,1-1,-1 0,0-1,8 1,18 2,-20-1,0-1,0 0,1-1,-1 0,0-1,20-4,1 1,14 2,-35 2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7T12:08:18.67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1 203,'75'-4,"0"-3,96-23,-77 13,307-50,-325 54,172-18,149 19,742 12,-1112 0,0-2,0-1,0 0,27-9,-49 11,-1 1,1 0,0 0,0 0,0 0,-1 1,1 0,5 1,18 3,-17-5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7T12:08:19.38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1,'0'1,"0"0,1 0,-1-1,1 1,-1 0,1 0,0 0,-1-1,1 1,0 0,-1 0,1-1,0 1,0-1,0 1,-1-1,1 1,0-1,0 1,0-1,0 0,1 1,23 6,-25-7,134 21,-72-13,390 18,-313-23,816 3,-567-7,531-9,-522 8,-355 2,-28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7T12:08:20.31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0 218,'413'-21,"-14"-15,-109 13,838-75,34 59,-648 38,-285 1,-215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7T12:08:20.90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0,'12'5,"1"-1,0 0,0-1,1 0,18 1,-11-1,291 21,3-24,-128-2,30 1,228 2,-365 3,0 2,130 29,-105-5,-45-13,-50-14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7T12:08:22.03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1 194,'971'-128,"26"62,-904 66,-83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5T20:01:57.31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0,'10'1,"1"0,20 5,-3 0,-1-2,-8 0,0-1,22 0,119 4,12 11,180-4,243-14,-473 8,-47-1,185 7,-38-2,125 2,252-14,-492-7,-2 0,-26 0,-2 0,-41 2,-31 4,0 0,-1 0,1 0,0 1,0 0,0-1,0 2,0-1,5 2,34 11,-28-8,0 0,0-1,32 4,-37-8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5T20:02:09.18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1,'4352'0,"-4346"0,0 1,-1 0,1 0,-1 0,1 1,-1 0,7 3,20 6,-23-9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5T20:18:11.11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74,'45'0,"257"-7,336-23,-445 24,-13 1,1985 4,-1005 2,-1054-9,-46 3,-9 1,92-4,485 8,-618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5T20:18:14.65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61,'25'-1,"0"-1,32-8,10-1,34-6,-65 10,1 1,53-1,2327 8,-2256 5,-5 0,1481-6,-1521-6,-3-1,291 8,-394-1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5T20:18:15.94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94,'470'9,"138"-5,-346-5,-158 1,507-7,-247 1,36 0,259-1,-397 9,224-38,-412 28,244-10,1 18,-126 1,-39 6,8-1,269-7,-407 0,0-1,27-7,-28 5,1 0,32 0,-42 4,-1 1,1-1,-1-1,0 0,21-5,-26 4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5T20:18:20.13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0 170,'559'-33,"-435"20,46-7,65-6,-75 10,129-9,-198 18,178-7,-67 2,-150 8,88 6,-130-1,0 1,0 0,12 5,20 4,35 7,7 1,38-6,-73-8,-24-2,27 0,-17-3,16-1,84 9,-14 6,-24-11,-80-3,-6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7T12:10:53.41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0 108,'2335'0,"-2312"-2,0 0,29-7,-16 2,64-7,202-1,-274 15,-7 1,1-1,-1-1,34-6,1 0,-9 2,-29 2,0 2,30 1,13-1,-51-1,0 0,0 0,11-4,-13 3,0 0,1 1,0 0,15-1,315 4,-297-7,-24 3,-7 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7T12:10:56.12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1 195,'1'0,"1"1,-1-1,0 1,1 0,-1 0,0-1,0 1,0 0,1 0,0 1,8 6,3-3,1-1,-1-1,0 0,1 0,0-2,-1 0,1 0,20-2,-31 1,196 7,-175-5,49 1,0-2,-1-4,1-3,75-17,-134 21,351-67,-257 54,153-2,32 9,-177 3,36-8,-44 2,-18-1,7 0,28-5,-88 10,0 2,50-1,-69 5,31-5,-30 3,28 0,-37 3,0 1,0 0,0 0,0 2,0-1,16 7,-14-6,0-1,0 1,0-2,0 0,0 0,21-2,-17 0,1 1,28 4,-15 0,32 0,-35-3,49 9,-30-2,79 5,46-10,-142-3,-15 1,27 4,10 1,-39-5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7T12:10:59.50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0 234,'13'0,"0"0,-1-1,1-1,-1 0,1-1,-1 0,0-1,13-5,-8 3,1 1,-1 1,25-3,-39 6,10-1,17-3,61-2,-3 7,227 7,-238-1,1-5,-1-2,136-21,-107 3,142-30,-191 39,-38 7,30-8,-21 3,-1 1,2 1,-1 1,0 2,38 0,42-3,0 0,-91 5,-1 0,1-1,0-1,30-9,-30 9,-1 0,0 2,1 0,-1 1,18 2,9-1,6-1,0 2,1 3,70 15,-83-14,-27-5,0 1,-1 0,11 3,-17-4,1 1,-1-1,0 1,-1-1,1 1,0 0,0 0,-1 0,1 1,-1-1,0 0,0 1,3 3,1 2,1 1,1-1,10 8,-13-11,23 16,-21-16,-1 0,1 0,8 9,3 2,-10-11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7T12:11:01.79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0,'68'4,"107"18,-70-6,-28-6,170 20,370 20,-215-36,-231-16,252 4,-174 12,-102-4,-73-6,112 4,-173-8,1 1,1-2,-1 0,1 0,15-5,10-1,-33 7,0-1,0 0,0-1,0 1,-1-1,1-1,-1 1,8-5,21-14,-27 17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7T12:11:05.30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0,'0'2,"0"-1,1 1,-1-1,1 0,-1 0,1 1,0-1,0 0,0 0,-1 0,1 0,0 0,0 0,0 0,1 0,-1 0,0 0,0-1,0 1,2 0,27 11,-10-9,-1-1,1-1,31-3,-2 0,187 12,-212-9,307 13,-313-14,226 9,36 8,1-18,-97-1,95 10,-155-3,204 30,-265-26,169 35,-173-33,14 4,-52-11,1-1,0-1,0-1,42-3,-9 1,-48 1,0-1,0 0,0 0,0-1,0 0,0 0,7-3,0-1,16 1,-20 4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7T12:11:07.85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0 165,'28'-1,"0"-1,-1-2,1 0,41-13,-53 13,0 1,0 1,1 0,-1 2,1 0,20 2,-30 0,0-1,-1 1,1 0,-1 1,0 0,0 0,10 6,19 9,15 3,-21-9,0 0,49 11,-15-10,1-4,129 4,61-12,132-3,-117-29,-176 17,8-3,62-6,-74 12,-57 5,60-1,-82 7,-4 1,1-1,-1 1,1-2,-1 1,1-1,-1 0,1 0,-1-1,1 1,-1-1,0-1,0 1,10-8,65-55,-46 27,-21 21,-13 15,1-1,0 1,-1 0,1 0,0-1,1 1,1-1,-3 2,0 1,-1 0,1-1,0 1,0 0,-1 0,1 0,0-1,0 1,-1 0,1 0,0 0,0 1,-1-1,1 0,0 0,0 0,-1 0,1 1,0-1,0 0,-1 1,1-1,0 0,-1 1,1-1,-1 1,1-1,-1 1,1-1,0 2,21 23,-19-20,0-1,0 1,1-1,0 0,0-1,0 1,0 0,1-1,-1 0,9 4,18 9,-25-12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7T12:11:08.81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7T12:13:24.13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9F1014-7AE9-4F98-A89C-C60E4FF12402}" type="datetimeFigureOut">
              <a:rPr lang="de-AT" smtClean="0"/>
              <a:t>21.01.2026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72D1A2-862C-47DB-91FE-DCA91FB8BFB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895049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T" dirty="0"/>
              <a:t>What is the idea behind this work?</a:t>
            </a:r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2D1A2-862C-47DB-91FE-DCA91FB8BFB1}" type="slidenum">
              <a:rPr lang="de-AT" smtClean="0"/>
              <a:t>2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117873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T" dirty="0"/>
              <a:t>I want to introduce you to</a:t>
            </a:r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2D1A2-862C-47DB-91FE-DCA91FB8BFB1}" type="slidenum">
              <a:rPr lang="de-AT" smtClean="0"/>
              <a:t>3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6111932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T" dirty="0"/>
              <a:t>What are my research methods, how do </a:t>
            </a:r>
            <a:r>
              <a:rPr lang="en-AT" dirty="0" err="1"/>
              <a:t>i</a:t>
            </a:r>
            <a:r>
              <a:rPr lang="en-AT" dirty="0"/>
              <a:t> measure performance?</a:t>
            </a:r>
            <a:br>
              <a:rPr lang="en-AT" dirty="0"/>
            </a:br>
            <a:br>
              <a:rPr lang="en-AT" dirty="0"/>
            </a:br>
            <a:r>
              <a:rPr lang="en-AT" dirty="0"/>
              <a:t>Standard Cross Validation do not re</a:t>
            </a:r>
            <a:r>
              <a:rPr lang="en-GB" dirty="0"/>
              <a:t>s</a:t>
            </a:r>
            <a:r>
              <a:rPr lang="en-AT" dirty="0" err="1"/>
              <a:t>pect</a:t>
            </a:r>
            <a:r>
              <a:rPr lang="en-AT" dirty="0"/>
              <a:t> the “arrow of time”, shuffles randomly</a:t>
            </a:r>
          </a:p>
          <a:p>
            <a:endParaRPr lang="en-AT" dirty="0"/>
          </a:p>
          <a:p>
            <a:r>
              <a:rPr lang="en-AT" dirty="0"/>
              <a:t>Expanding window is stoa method for timeseries data. It starts with a small train window at for each fold it grows that window more to the end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2D1A2-862C-47DB-91FE-DCA91FB8BFB1}" type="slidenum">
              <a:rPr lang="de-AT" smtClean="0"/>
              <a:t>4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6316557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T" dirty="0"/>
              <a:t>One novel idea that </a:t>
            </a:r>
            <a:r>
              <a:rPr lang="en-AT" dirty="0" err="1"/>
              <a:t>i</a:t>
            </a:r>
            <a:r>
              <a:rPr lang="en-AT" dirty="0"/>
              <a:t> introduce in my work</a:t>
            </a:r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2D1A2-862C-47DB-91FE-DCA91FB8BFB1}" type="slidenum">
              <a:rPr lang="de-AT" smtClean="0"/>
              <a:t>5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62975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T" dirty="0"/>
              <a:t>The Pipeline</a:t>
            </a:r>
          </a:p>
          <a:p>
            <a:endParaRPr lang="en-AT" dirty="0"/>
          </a:p>
          <a:p>
            <a:r>
              <a:rPr lang="en-AT" dirty="0"/>
              <a:t>FNSPID</a:t>
            </a:r>
          </a:p>
          <a:p>
            <a:r>
              <a:rPr lang="en-AT" dirty="0"/>
              <a:t>NIFTY</a:t>
            </a:r>
          </a:p>
          <a:p>
            <a:r>
              <a:rPr lang="en-AT" dirty="0"/>
              <a:t>KAGGLE Datasets</a:t>
            </a:r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2D1A2-862C-47DB-91FE-DCA91FB8BFB1}" type="slidenum">
              <a:rPr lang="de-AT" smtClean="0"/>
              <a:t>6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149381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T" dirty="0"/>
              <a:t>Bevor we go over the experiment setup</a:t>
            </a:r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2D1A2-862C-47DB-91FE-DCA91FB8BFB1}" type="slidenum">
              <a:rPr lang="de-AT" smtClean="0"/>
              <a:t>7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6964345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T" dirty="0"/>
              <a:t>Sentiment seem to not give extra predictive power</a:t>
            </a:r>
          </a:p>
          <a:p>
            <a:pPr lvl="1"/>
            <a:r>
              <a:rPr lang="en-AT" dirty="0"/>
              <a:t>Either because the signal decays too fast (or immediately)</a:t>
            </a:r>
          </a:p>
          <a:p>
            <a:pPr lvl="1"/>
            <a:r>
              <a:rPr lang="en-AT" dirty="0"/>
              <a:t>It does not have anything to do with prices</a:t>
            </a:r>
            <a:endParaRPr lang="de-AT" dirty="0"/>
          </a:p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2D1A2-862C-47DB-91FE-DCA91FB8BFB1}" type="slidenum">
              <a:rPr lang="de-AT" smtClean="0"/>
              <a:t>14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349475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0DFA93-E459-CC45-74D4-1BFD35B6D6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CAE79B8-09C9-D305-26B5-9E2DEEABA1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67D50F5-7D54-4475-2CAF-509D0D777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A3E91-52A1-4462-8868-AF63AE28AC68}" type="datetimeFigureOut">
              <a:rPr lang="de-AT" smtClean="0"/>
              <a:t>21.01.2026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AED09F-C135-970A-4627-D8D4A5AB4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7811EE5-E433-780C-0829-8B4357AB7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3E492-388C-4366-B441-1A1E3C39C93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899662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0ED3B7-7D41-03B0-266C-B14E6E1A9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6F102A2-757F-926F-7447-0805120447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59038B6-D6A7-594F-63CF-F3E429F09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A3E91-52A1-4462-8868-AF63AE28AC68}" type="datetimeFigureOut">
              <a:rPr lang="de-AT" smtClean="0"/>
              <a:t>21.01.2026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0CC5E3F-54DC-E171-DA9A-7C641F1FA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FF16745-9398-E2C9-D5F7-B26CD4310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3E492-388C-4366-B441-1A1E3C39C93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652577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9A19CC-06DC-267F-9000-5B1DCC419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90C6822-7873-21FD-8133-752A0D86FD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1A11808-6FCA-7159-6CD5-1F8D4A8C1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A3E91-52A1-4462-8868-AF63AE28AC68}" type="datetimeFigureOut">
              <a:rPr lang="de-AT" smtClean="0"/>
              <a:t>21.01.2026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6BBE03D-85C2-325C-BAB6-64001D6FC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83E3267-FC8C-D508-4301-5EF3B8DB5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3E492-388C-4366-B441-1A1E3C39C93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96497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6B20A2-5DD0-F935-AEF3-1630A70F7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5BC129E-8D58-F503-5708-D7E5D1C818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4993D09-108A-C1E8-8EA1-150D1D953B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44B77D7-B652-8BA2-AFC4-F754F604B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A3E91-52A1-4462-8868-AF63AE28AC68}" type="datetimeFigureOut">
              <a:rPr lang="de-AT" smtClean="0"/>
              <a:t>21.01.2026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F948AA0-7CD5-2E25-9487-AB8340CDA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F5569F-8484-4D8D-1C25-15E0E424A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3E492-388C-4366-B441-1A1E3C39C93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050728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95A259-4639-8E22-6694-756E02A35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FFDC025-A8E8-EABB-014C-2994B441DA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8819FAB-A9E8-7EF6-9BBD-9D21E39579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9A426E4-3184-555B-065F-A615BCA656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AF2EFC2-D5EB-287F-A4F2-99FF98103C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2859E29-88BB-98A4-9906-38A6E16C0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A3E91-52A1-4462-8868-AF63AE28AC68}" type="datetimeFigureOut">
              <a:rPr lang="de-AT" smtClean="0"/>
              <a:t>21.01.2026</a:t>
            </a:fld>
            <a:endParaRPr lang="de-AT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566C3FC-B623-346F-B163-6AFF09B58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AA425AD-A2B7-03F3-A992-81BD278DD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3E492-388C-4366-B441-1A1E3C39C93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570725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E11FAB-E5FA-BC5A-892A-6B28FF33B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71C7341-D896-3B3F-8457-023FD8B8C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A3E91-52A1-4462-8868-AF63AE28AC68}" type="datetimeFigureOut">
              <a:rPr lang="de-AT" smtClean="0"/>
              <a:t>21.01.2026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FF09897-3D8A-977E-8290-2979E490C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8C4FD7C-4D4E-ED45-6B84-A309AAAC0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3E492-388C-4366-B441-1A1E3C39C93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11519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F40C029-EF76-1F3D-D23D-7DEEE1333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A3E91-52A1-4462-8868-AF63AE28AC68}" type="datetimeFigureOut">
              <a:rPr lang="de-AT" smtClean="0"/>
              <a:t>21.01.2026</a:t>
            </a:fld>
            <a:endParaRPr lang="de-AT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B5164B4-3A94-C268-03C2-AF25540D7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54F35D3-7A76-1FA3-16EA-C04778A10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3E492-388C-4366-B441-1A1E3C39C93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759280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791259-B162-7E48-FD22-B05E6C99E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ADE7B17-D2A7-02E2-840D-FB02AE94D4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5441AC0-DEC2-CC6C-F4E6-3581B47F11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E951534-A532-84D9-83A1-0BE3BBA47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A3E91-52A1-4462-8868-AF63AE28AC68}" type="datetimeFigureOut">
              <a:rPr lang="de-AT" smtClean="0"/>
              <a:t>21.01.2026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8F957F3-7A20-7FB1-0C3D-FC9977475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EDF2E66-1FC6-502E-8973-E0395EE42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3E492-388C-4366-B441-1A1E3C39C93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152929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C7E910-7130-2705-7F07-CD804081B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C65ECA8-5CF6-6EE7-0345-F9E7E54D77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1154CAF-F385-229B-3966-C468EB4201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ED45547-E702-D516-764F-ED9126DA1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A3E91-52A1-4462-8868-AF63AE28AC68}" type="datetimeFigureOut">
              <a:rPr lang="de-AT" smtClean="0"/>
              <a:t>21.01.2026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6BDCA8A-E491-4362-7B55-32D4B35E3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5AD0541-3350-0ABE-DCBA-2ADDFE9B6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3E492-388C-4366-B441-1A1E3C39C93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804688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334253-A039-9E2B-594A-31E4B932F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AC84861-ACAE-2B90-828C-3404E66FE6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3387443-C094-9D5F-9306-24281643D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A3E91-52A1-4462-8868-AF63AE28AC68}" type="datetimeFigureOut">
              <a:rPr lang="de-AT" smtClean="0"/>
              <a:t>21.01.2026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FAA6B8E-A7BB-3032-0390-1A0C4AA8B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362D65D-62F1-F697-EF97-AB20B9FDB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3E492-388C-4366-B441-1A1E3C39C93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838197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1F690E7C-91DD-B288-3CF7-BADCF7EB0D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DCBF7A9-61B6-1B9E-7D50-2DC9775115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D31A020-0257-9005-9FD8-1C0C8EEC7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A3E91-52A1-4462-8868-AF63AE28AC68}" type="datetimeFigureOut">
              <a:rPr lang="de-AT" smtClean="0"/>
              <a:t>21.01.2026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1DDBCF4-F2B1-6C53-C641-1AD1E244A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5115CED-4BA6-D97C-2600-90628BBFE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3E492-388C-4366-B441-1A1E3C39C93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97816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D8D9D04-7B8F-9EF7-31AC-EAD4A57F7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C60C303-D805-FA5E-0CA3-1140A7B1F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4A4D725-73BB-BBEC-F764-0C82D244BB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4A3E91-52A1-4462-8868-AF63AE28AC68}" type="datetimeFigureOut">
              <a:rPr lang="de-AT" smtClean="0"/>
              <a:t>21.01.2026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0E28CDA-BEEA-ABE8-8B35-BAEBA7EF20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E6EDC21-71E4-B341-AAEC-64F98CAC21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A3E492-388C-4366-B441-1A1E3C39C93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824843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A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customXml" Target="../ink/ink6.xml"/><Relationship Id="rId18" Type="http://schemas.openxmlformats.org/officeDocument/2006/relationships/customXml" Target="../ink/ink8.xml"/><Relationship Id="rId3" Type="http://schemas.openxmlformats.org/officeDocument/2006/relationships/customXml" Target="../ink/ink1.xml"/><Relationship Id="rId21" Type="http://schemas.openxmlformats.org/officeDocument/2006/relationships/image" Target="../media/image21.png"/><Relationship Id="rId7" Type="http://schemas.openxmlformats.org/officeDocument/2006/relationships/customXml" Target="../ink/ink3.xml"/><Relationship Id="rId12" Type="http://schemas.openxmlformats.org/officeDocument/2006/relationships/image" Target="../media/image16.png"/><Relationship Id="rId17" Type="http://schemas.openxmlformats.org/officeDocument/2006/relationships/image" Target="../media/image19.png"/><Relationship Id="rId2" Type="http://schemas.openxmlformats.org/officeDocument/2006/relationships/image" Target="../media/image10.png"/><Relationship Id="rId16" Type="http://schemas.openxmlformats.org/officeDocument/2006/relationships/customXml" Target="../ink/ink7.xml"/><Relationship Id="rId20" Type="http://schemas.openxmlformats.org/officeDocument/2006/relationships/customXml" Target="../ink/ink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image" Target="../media/image11.png"/><Relationship Id="rId23" Type="http://schemas.openxmlformats.org/officeDocument/2006/relationships/image" Target="../media/image22.png"/><Relationship Id="rId10" Type="http://schemas.openxmlformats.org/officeDocument/2006/relationships/image" Target="../media/image15.png"/><Relationship Id="rId19" Type="http://schemas.openxmlformats.org/officeDocument/2006/relationships/image" Target="../media/image20.png"/><Relationship Id="rId4" Type="http://schemas.openxmlformats.org/officeDocument/2006/relationships/image" Target="../media/image120.png"/><Relationship Id="rId9" Type="http://schemas.openxmlformats.org/officeDocument/2006/relationships/customXml" Target="../ink/ink4.xml"/><Relationship Id="rId14" Type="http://schemas.openxmlformats.org/officeDocument/2006/relationships/image" Target="../media/image17.png"/><Relationship Id="rId22" Type="http://schemas.openxmlformats.org/officeDocument/2006/relationships/customXml" Target="../ink/ink1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12.xml"/><Relationship Id="rId13" Type="http://schemas.openxmlformats.org/officeDocument/2006/relationships/image" Target="../media/image220.png"/><Relationship Id="rId18" Type="http://schemas.openxmlformats.org/officeDocument/2006/relationships/customXml" Target="../ink/ink16.xml"/><Relationship Id="rId3" Type="http://schemas.openxmlformats.org/officeDocument/2006/relationships/image" Target="../media/image18.png"/><Relationship Id="rId21" Type="http://schemas.openxmlformats.org/officeDocument/2006/relationships/image" Target="../media/image28.png"/><Relationship Id="rId7" Type="http://schemas.openxmlformats.org/officeDocument/2006/relationships/image" Target="../media/image190.png"/><Relationship Id="rId12" Type="http://schemas.openxmlformats.org/officeDocument/2006/relationships/customXml" Target="../ink/ink14.xml"/><Relationship Id="rId17" Type="http://schemas.openxmlformats.org/officeDocument/2006/relationships/image" Target="../media/image24.png"/><Relationship Id="rId2" Type="http://schemas.openxmlformats.org/officeDocument/2006/relationships/image" Target="../media/image12.png"/><Relationship Id="rId16" Type="http://schemas.openxmlformats.org/officeDocument/2006/relationships/image" Target="../media/image23.png"/><Relationship Id="rId20" Type="http://schemas.openxmlformats.org/officeDocument/2006/relationships/customXml" Target="../ink/ink17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210.png"/><Relationship Id="rId15" Type="http://schemas.openxmlformats.org/officeDocument/2006/relationships/image" Target="../media/image230.png"/><Relationship Id="rId23" Type="http://schemas.openxmlformats.org/officeDocument/2006/relationships/image" Target="../media/image29.png"/><Relationship Id="rId10" Type="http://schemas.openxmlformats.org/officeDocument/2006/relationships/customXml" Target="../ink/ink13.xml"/><Relationship Id="rId19" Type="http://schemas.openxmlformats.org/officeDocument/2006/relationships/image" Target="../media/image27.png"/><Relationship Id="rId4" Type="http://schemas.openxmlformats.org/officeDocument/2006/relationships/customXml" Target="../ink/ink11.xml"/><Relationship Id="rId9" Type="http://schemas.openxmlformats.org/officeDocument/2006/relationships/image" Target="../media/image200.png"/><Relationship Id="rId14" Type="http://schemas.openxmlformats.org/officeDocument/2006/relationships/customXml" Target="../ink/ink15.xml"/><Relationship Id="rId22" Type="http://schemas.openxmlformats.org/officeDocument/2006/relationships/customXml" Target="../ink/ink18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20.xml"/><Relationship Id="rId13" Type="http://schemas.openxmlformats.org/officeDocument/2006/relationships/image" Target="../media/image290.png"/><Relationship Id="rId18" Type="http://schemas.openxmlformats.org/officeDocument/2006/relationships/customXml" Target="../ink/ink24.xml"/><Relationship Id="rId26" Type="http://schemas.openxmlformats.org/officeDocument/2006/relationships/customXml" Target="../ink/ink27.xml"/><Relationship Id="rId3" Type="http://schemas.openxmlformats.org/officeDocument/2006/relationships/image" Target="../media/image10.png"/><Relationship Id="rId21" Type="http://schemas.openxmlformats.org/officeDocument/2006/relationships/image" Target="../media/image11.png"/><Relationship Id="rId34" Type="http://schemas.openxmlformats.org/officeDocument/2006/relationships/customXml" Target="../ink/ink31.xml"/><Relationship Id="rId7" Type="http://schemas.openxmlformats.org/officeDocument/2006/relationships/image" Target="../media/image260.png"/><Relationship Id="rId12" Type="http://schemas.openxmlformats.org/officeDocument/2006/relationships/customXml" Target="../ink/ink22.xml"/><Relationship Id="rId17" Type="http://schemas.openxmlformats.org/officeDocument/2006/relationships/image" Target="../media/image31.png"/><Relationship Id="rId25" Type="http://schemas.openxmlformats.org/officeDocument/2006/relationships/image" Target="../media/image35.png"/><Relationship Id="rId33" Type="http://schemas.openxmlformats.org/officeDocument/2006/relationships/image" Target="../media/image39.png"/><Relationship Id="rId2" Type="http://schemas.openxmlformats.org/officeDocument/2006/relationships/image" Target="../media/image25.png"/><Relationship Id="rId20" Type="http://schemas.openxmlformats.org/officeDocument/2006/relationships/image" Target="../media/image26.png"/><Relationship Id="rId29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280.png"/><Relationship Id="rId24" Type="http://schemas.openxmlformats.org/officeDocument/2006/relationships/customXml" Target="../ink/ink26.xml"/><Relationship Id="rId32" Type="http://schemas.openxmlformats.org/officeDocument/2006/relationships/customXml" Target="../ink/ink30.xml"/><Relationship Id="rId23" Type="http://schemas.openxmlformats.org/officeDocument/2006/relationships/image" Target="../media/image34.png"/><Relationship Id="rId28" Type="http://schemas.openxmlformats.org/officeDocument/2006/relationships/customXml" Target="../ink/ink28.xml"/><Relationship Id="rId10" Type="http://schemas.openxmlformats.org/officeDocument/2006/relationships/customXml" Target="../ink/ink21.xml"/><Relationship Id="rId19" Type="http://schemas.openxmlformats.org/officeDocument/2006/relationships/image" Target="../media/image32.png"/><Relationship Id="rId31" Type="http://schemas.openxmlformats.org/officeDocument/2006/relationships/image" Target="../media/image38.png"/><Relationship Id="rId4" Type="http://schemas.openxmlformats.org/officeDocument/2006/relationships/customXml" Target="../ink/ink19.xml"/><Relationship Id="rId9" Type="http://schemas.openxmlformats.org/officeDocument/2006/relationships/image" Target="../media/image270.png"/><Relationship Id="rId14" Type="http://schemas.openxmlformats.org/officeDocument/2006/relationships/customXml" Target="../ink/ink23.xml"/><Relationship Id="rId22" Type="http://schemas.openxmlformats.org/officeDocument/2006/relationships/customXml" Target="../ink/ink25.xml"/><Relationship Id="rId27" Type="http://schemas.openxmlformats.org/officeDocument/2006/relationships/image" Target="../media/image36.png"/><Relationship Id="rId30" Type="http://schemas.openxmlformats.org/officeDocument/2006/relationships/customXml" Target="../ink/ink29.xml"/><Relationship Id="rId35" Type="http://schemas.openxmlformats.org/officeDocument/2006/relationships/image" Target="../media/image4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33.xml"/><Relationship Id="rId13" Type="http://schemas.openxmlformats.org/officeDocument/2006/relationships/image" Target="../media/image370.png"/><Relationship Id="rId18" Type="http://schemas.openxmlformats.org/officeDocument/2006/relationships/image" Target="../media/image11.png"/><Relationship Id="rId26" Type="http://schemas.openxmlformats.org/officeDocument/2006/relationships/customXml" Target="../ink/ink41.xml"/><Relationship Id="rId3" Type="http://schemas.openxmlformats.org/officeDocument/2006/relationships/image" Target="../media/image10.png"/><Relationship Id="rId21" Type="http://schemas.openxmlformats.org/officeDocument/2006/relationships/image" Target="../media/image43.png"/><Relationship Id="rId7" Type="http://schemas.openxmlformats.org/officeDocument/2006/relationships/image" Target="../media/image340.png"/><Relationship Id="rId12" Type="http://schemas.openxmlformats.org/officeDocument/2006/relationships/customXml" Target="../ink/ink35.xml"/><Relationship Id="rId17" Type="http://schemas.openxmlformats.org/officeDocument/2006/relationships/image" Target="../media/image390.png"/><Relationship Id="rId25" Type="http://schemas.openxmlformats.org/officeDocument/2006/relationships/image" Target="../media/image45.png"/><Relationship Id="rId33" Type="http://schemas.openxmlformats.org/officeDocument/2006/relationships/image" Target="../media/image32.png"/><Relationship Id="rId2" Type="http://schemas.openxmlformats.org/officeDocument/2006/relationships/image" Target="../media/image30.png"/><Relationship Id="rId16" Type="http://schemas.openxmlformats.org/officeDocument/2006/relationships/customXml" Target="../ink/ink37.xml"/><Relationship Id="rId20" Type="http://schemas.openxmlformats.org/officeDocument/2006/relationships/customXml" Target="../ink/ink38.xml"/><Relationship Id="rId29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360.png"/><Relationship Id="rId24" Type="http://schemas.openxmlformats.org/officeDocument/2006/relationships/customXml" Target="../ink/ink40.xml"/><Relationship Id="rId32" Type="http://schemas.openxmlformats.org/officeDocument/2006/relationships/customXml" Target="../ink/ink44.xml"/><Relationship Id="rId15" Type="http://schemas.openxmlformats.org/officeDocument/2006/relationships/image" Target="../media/image380.png"/><Relationship Id="rId23" Type="http://schemas.openxmlformats.org/officeDocument/2006/relationships/image" Target="../media/image44.png"/><Relationship Id="rId28" Type="http://schemas.openxmlformats.org/officeDocument/2006/relationships/customXml" Target="../ink/ink42.xml"/><Relationship Id="rId10" Type="http://schemas.openxmlformats.org/officeDocument/2006/relationships/customXml" Target="../ink/ink34.xml"/><Relationship Id="rId19" Type="http://schemas.openxmlformats.org/officeDocument/2006/relationships/image" Target="../media/image33.png"/><Relationship Id="rId31" Type="http://schemas.openxmlformats.org/officeDocument/2006/relationships/image" Target="../media/image48.png"/><Relationship Id="rId4" Type="http://schemas.openxmlformats.org/officeDocument/2006/relationships/customXml" Target="../ink/ink32.xml"/><Relationship Id="rId9" Type="http://schemas.openxmlformats.org/officeDocument/2006/relationships/image" Target="../media/image350.png"/><Relationship Id="rId14" Type="http://schemas.openxmlformats.org/officeDocument/2006/relationships/customXml" Target="../ink/ink36.xml"/><Relationship Id="rId22" Type="http://schemas.openxmlformats.org/officeDocument/2006/relationships/customXml" Target="../ink/ink39.xml"/><Relationship Id="rId27" Type="http://schemas.openxmlformats.org/officeDocument/2006/relationships/image" Target="../media/image46.png"/><Relationship Id="rId30" Type="http://schemas.openxmlformats.org/officeDocument/2006/relationships/customXml" Target="../ink/ink4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50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32.png"/><Relationship Id="rId4" Type="http://schemas.openxmlformats.org/officeDocument/2006/relationships/customXml" Target="../ink/ink4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AD7EA9B-2D6C-8713-0DB6-577C2777E2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AT" sz="4800">
                <a:solidFill>
                  <a:srgbClr val="FFFFFF"/>
                </a:solidFill>
              </a:rPr>
              <a:t>Sentiment Analysis in financial Forecasting</a:t>
            </a:r>
            <a:endParaRPr lang="de-AT" sz="4800">
              <a:solidFill>
                <a:srgbClr val="FFFFFF"/>
              </a:solidFill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2C47838-C54F-61A1-7EA7-92C6432253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AT"/>
              <a:t>David Höchtl</a:t>
            </a:r>
            <a:endParaRPr lang="de-AT"/>
          </a:p>
        </p:txBody>
      </p:sp>
      <p:pic>
        <p:nvPicPr>
          <p:cNvPr id="5" name="Grafik 4" descr="Ein Bild, das Text, Schrift, Screenshot, Logo enthält.&#10;&#10;KI-generierte Inhalte können fehlerhaft sein.">
            <a:extLst>
              <a:ext uri="{FF2B5EF4-FFF2-40B4-BE49-F238E27FC236}">
                <a16:creationId xmlns:a16="http://schemas.microsoft.com/office/drawing/2014/main" id="{87A8163C-FB31-3114-AAA5-4968B49E6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4757" y="4625433"/>
            <a:ext cx="2997241" cy="1664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694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B9AAB33-55D6-314A-CA05-538001BB0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AT" sz="4000">
                <a:solidFill>
                  <a:srgbClr val="FFFFFF"/>
                </a:solidFill>
              </a:rPr>
              <a:t>Idea &amp; Research Question</a:t>
            </a:r>
            <a:endParaRPr lang="de-AT" sz="4000">
              <a:solidFill>
                <a:srgbClr val="FFFFFF"/>
              </a:solidFill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B26C18A-CC3A-7B31-A6F6-9299C9236D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AT" sz="2000"/>
              <a:t>Advances in NLP provide new opp</a:t>
            </a:r>
            <a:r>
              <a:rPr lang="en-GB" sz="2000"/>
              <a:t>o</a:t>
            </a:r>
            <a:r>
              <a:rPr lang="en-AT" sz="2000"/>
              <a:t>rtunities in understanding unstructured data like financial news headlines</a:t>
            </a:r>
          </a:p>
          <a:p>
            <a:endParaRPr lang="en-AT" sz="2000"/>
          </a:p>
          <a:p>
            <a:r>
              <a:rPr lang="en-AT" sz="2000"/>
              <a:t>Extract sentiment via transformer -&gt; [-1;1]</a:t>
            </a:r>
          </a:p>
          <a:p>
            <a:endParaRPr lang="en-AT" sz="2000"/>
          </a:p>
          <a:p>
            <a:r>
              <a:rPr lang="en-AT" sz="2000" b="1"/>
              <a:t>Can a daily aggregated sentiment score be utilized to improve predictive power in financial forecasting models for the S&amp;P500 Index?</a:t>
            </a:r>
          </a:p>
        </p:txBody>
      </p:sp>
    </p:spTree>
    <p:extLst>
      <p:ext uri="{BB962C8B-B14F-4D97-AF65-F5344CB8AC3E}">
        <p14:creationId xmlns:p14="http://schemas.microsoft.com/office/powerpoint/2010/main" val="3765874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EB8F292-C1FF-FC46-16B6-5256B1435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274714"/>
          </a:xfrm>
        </p:spPr>
        <p:txBody>
          <a:bodyPr anchor="b">
            <a:normAutofit/>
          </a:bodyPr>
          <a:lstStyle/>
          <a:p>
            <a:r>
              <a:rPr lang="en-AT" sz="4000" dirty="0"/>
              <a:t>The Debate</a:t>
            </a:r>
            <a:endParaRPr lang="de-AT" sz="400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9A478BB-54D4-6C9D-0D03-3BA389FE98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923" y="2405894"/>
            <a:ext cx="5315189" cy="3535083"/>
          </a:xfrm>
        </p:spPr>
        <p:txBody>
          <a:bodyPr anchor="t">
            <a:normAutofit/>
          </a:bodyPr>
          <a:lstStyle/>
          <a:p>
            <a:r>
              <a:rPr lang="en-AT" sz="1900" b="1" dirty="0"/>
              <a:t>Efficient Market Hypothesis</a:t>
            </a:r>
            <a:r>
              <a:rPr lang="en-AT" sz="1900" dirty="0"/>
              <a:t>: all information is already priced in</a:t>
            </a:r>
          </a:p>
          <a:p>
            <a:endParaRPr lang="en-AT" sz="1900" dirty="0"/>
          </a:p>
          <a:p>
            <a:endParaRPr lang="en-AT" sz="1900" dirty="0"/>
          </a:p>
          <a:p>
            <a:r>
              <a:rPr lang="en-AT" sz="1900" dirty="0"/>
              <a:t>Results vary for similar experiments</a:t>
            </a:r>
          </a:p>
          <a:p>
            <a:r>
              <a:rPr lang="en-AT" sz="1900" dirty="0"/>
              <a:t>Data used in the papers are often not publicly available and Hyperparameters are not disclosed</a:t>
            </a:r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Bildmotiv: Efficient Market Hypothesis three forms">
            <a:extLst>
              <a:ext uri="{FF2B5EF4-FFF2-40B4-BE49-F238E27FC236}">
                <a16:creationId xmlns:a16="http://schemas.microsoft.com/office/drawing/2014/main" id="{4F88C4E8-0617-EB12-A2EA-42FEE61B54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18321" y="1541602"/>
            <a:ext cx="4849354" cy="3879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6429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A1D0EC0-B0ED-4131-A752-518532F5D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AT" sz="4000">
                <a:solidFill>
                  <a:srgbClr val="FFFFFF"/>
                </a:solidFill>
              </a:rPr>
              <a:t>Methods</a:t>
            </a:r>
            <a:endParaRPr lang="de-AT" sz="4000">
              <a:solidFill>
                <a:srgbClr val="FFFFFF"/>
              </a:solidFill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922531E-E85B-42FB-2357-0EBE90F7B2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AT" sz="2000" dirty="0"/>
              <a:t>Matrix base = [Pt-1, volume, volatility, ...]</a:t>
            </a:r>
          </a:p>
          <a:p>
            <a:r>
              <a:rPr lang="en-AT" sz="2000" dirty="0"/>
              <a:t>Matrix sentiment = [Pt-1, </a:t>
            </a:r>
            <a:r>
              <a:rPr lang="en-AT" sz="2000" b="1" dirty="0"/>
              <a:t>sentiment</a:t>
            </a:r>
            <a:r>
              <a:rPr lang="en-AT" sz="2000" dirty="0"/>
              <a:t>, volume, volatility]</a:t>
            </a:r>
          </a:p>
          <a:p>
            <a:r>
              <a:rPr lang="en-AT" sz="2000" dirty="0"/>
              <a:t>...</a:t>
            </a:r>
          </a:p>
          <a:p>
            <a:endParaRPr lang="en-AT" sz="2000" dirty="0"/>
          </a:p>
          <a:p>
            <a:r>
              <a:rPr lang="en-AT" sz="2000" dirty="0"/>
              <a:t>Evaluate Model Performance:</a:t>
            </a:r>
          </a:p>
          <a:p>
            <a:pPr lvl="1"/>
            <a:r>
              <a:rPr lang="en-AT" sz="2000" dirty="0"/>
              <a:t>Classification: F1, Accuracy, Precision, Recall</a:t>
            </a:r>
          </a:p>
          <a:p>
            <a:pPr lvl="1"/>
            <a:r>
              <a:rPr lang="en-AT" sz="2000" dirty="0"/>
              <a:t>Regression: RMSE, MAE, AIC, BIC</a:t>
            </a:r>
          </a:p>
          <a:p>
            <a:pPr lvl="1"/>
            <a:r>
              <a:rPr lang="en-AT" sz="2000" dirty="0"/>
              <a:t>Expanding Window Validation</a:t>
            </a:r>
          </a:p>
        </p:txBody>
      </p:sp>
    </p:spTree>
    <p:extLst>
      <p:ext uri="{BB962C8B-B14F-4D97-AF65-F5344CB8AC3E}">
        <p14:creationId xmlns:p14="http://schemas.microsoft.com/office/powerpoint/2010/main" val="353459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BB3B44-198D-FBE1-E75C-0F8DEFC9E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Impact Scoring</a:t>
            </a:r>
            <a:endParaRPr lang="de-AT" dirty="0"/>
          </a:p>
        </p:txBody>
      </p:sp>
      <p:pic>
        <p:nvPicPr>
          <p:cNvPr id="5" name="Inhaltsplatzhalter 4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B1A205B2-5DC5-259D-B16C-944BCC15F6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2379738"/>
            <a:ext cx="10515600" cy="2289374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621180F3-6E45-4ACB-E5D5-53CD4C7F4E53}"/>
              </a:ext>
            </a:extLst>
          </p:cNvPr>
          <p:cNvSpPr txBox="1"/>
          <p:nvPr/>
        </p:nvSpPr>
        <p:spPr>
          <a:xfrm>
            <a:off x="3834676" y="5096372"/>
            <a:ext cx="45226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T" dirty="0"/>
              <a:t>Tested on self annotated Dataset (~70 rows)</a:t>
            </a:r>
            <a:endParaRPr lang="de-AT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1FEE17D2-42DA-0688-9650-7D7681029143}"/>
              </a:ext>
            </a:extLst>
          </p:cNvPr>
          <p:cNvSpPr txBox="1"/>
          <p:nvPr/>
        </p:nvSpPr>
        <p:spPr>
          <a:xfrm>
            <a:off x="3265770" y="5569711"/>
            <a:ext cx="56604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T" dirty="0" err="1"/>
              <a:t>weighted_sentiment</a:t>
            </a:r>
            <a:r>
              <a:rPr lang="en-AT" dirty="0"/>
              <a:t> = </a:t>
            </a:r>
            <a:r>
              <a:rPr lang="en-AT" dirty="0" err="1"/>
              <a:t>sentiment_score</a:t>
            </a:r>
            <a:r>
              <a:rPr lang="en-AT" dirty="0"/>
              <a:t> * </a:t>
            </a:r>
            <a:r>
              <a:rPr lang="en-AT" dirty="0" err="1"/>
              <a:t>impact_score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17446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A4E9EC-6695-31E4-A932-8F2E0054B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The Pipeline / Prototype</a:t>
            </a:r>
            <a:endParaRPr lang="de-AT" dirty="0"/>
          </a:p>
        </p:txBody>
      </p:sp>
      <p:sp>
        <p:nvSpPr>
          <p:cNvPr id="4" name="Zylinder 3">
            <a:extLst>
              <a:ext uri="{FF2B5EF4-FFF2-40B4-BE49-F238E27FC236}">
                <a16:creationId xmlns:a16="http://schemas.microsoft.com/office/drawing/2014/main" id="{2B853E88-E567-A345-580A-5AC55CE88A8E}"/>
              </a:ext>
            </a:extLst>
          </p:cNvPr>
          <p:cNvSpPr/>
          <p:nvPr/>
        </p:nvSpPr>
        <p:spPr>
          <a:xfrm>
            <a:off x="1193691" y="2772890"/>
            <a:ext cx="403697" cy="442609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5" name="Zylinder 4">
            <a:extLst>
              <a:ext uri="{FF2B5EF4-FFF2-40B4-BE49-F238E27FC236}">
                <a16:creationId xmlns:a16="http://schemas.microsoft.com/office/drawing/2014/main" id="{A8B4B4F9-7033-6FFD-7F83-DC44EC38C60A}"/>
              </a:ext>
            </a:extLst>
          </p:cNvPr>
          <p:cNvSpPr/>
          <p:nvPr/>
        </p:nvSpPr>
        <p:spPr>
          <a:xfrm>
            <a:off x="1193691" y="3404680"/>
            <a:ext cx="403697" cy="442609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6" name="Zylinder 5">
            <a:extLst>
              <a:ext uri="{FF2B5EF4-FFF2-40B4-BE49-F238E27FC236}">
                <a16:creationId xmlns:a16="http://schemas.microsoft.com/office/drawing/2014/main" id="{3F2FC862-9AFB-0D2F-F519-FFCAAC7855F2}"/>
              </a:ext>
            </a:extLst>
          </p:cNvPr>
          <p:cNvSpPr/>
          <p:nvPr/>
        </p:nvSpPr>
        <p:spPr>
          <a:xfrm>
            <a:off x="1193691" y="4100716"/>
            <a:ext cx="403697" cy="442609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8" name="Zylinder 7">
            <a:extLst>
              <a:ext uri="{FF2B5EF4-FFF2-40B4-BE49-F238E27FC236}">
                <a16:creationId xmlns:a16="http://schemas.microsoft.com/office/drawing/2014/main" id="{2ECB1F72-2F4E-2466-D2BE-6B5AD6D8E651}"/>
              </a:ext>
            </a:extLst>
          </p:cNvPr>
          <p:cNvSpPr/>
          <p:nvPr/>
        </p:nvSpPr>
        <p:spPr>
          <a:xfrm>
            <a:off x="3109886" y="3404679"/>
            <a:ext cx="403697" cy="442609"/>
          </a:xfrm>
          <a:prstGeom prst="can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8F560555-57C6-C5C4-F936-CE89996CA362}"/>
              </a:ext>
            </a:extLst>
          </p:cNvPr>
          <p:cNvCxnSpPr>
            <a:stCxn id="6" idx="4"/>
            <a:endCxn id="8" idx="2"/>
          </p:cNvCxnSpPr>
          <p:nvPr/>
        </p:nvCxnSpPr>
        <p:spPr>
          <a:xfrm flipV="1">
            <a:off x="1597388" y="3625984"/>
            <a:ext cx="1512498" cy="6960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6BA7E3A5-5904-B756-611F-FEE37B8808F3}"/>
              </a:ext>
            </a:extLst>
          </p:cNvPr>
          <p:cNvCxnSpPr>
            <a:cxnSpLocks/>
            <a:stCxn id="5" idx="4"/>
            <a:endCxn id="8" idx="2"/>
          </p:cNvCxnSpPr>
          <p:nvPr/>
        </p:nvCxnSpPr>
        <p:spPr>
          <a:xfrm flipV="1">
            <a:off x="1597388" y="3625984"/>
            <a:ext cx="151249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DBE084A0-083C-EFBA-BFC6-6152308FAEE3}"/>
              </a:ext>
            </a:extLst>
          </p:cNvPr>
          <p:cNvCxnSpPr>
            <a:cxnSpLocks/>
            <a:stCxn id="4" idx="4"/>
            <a:endCxn id="8" idx="2"/>
          </p:cNvCxnSpPr>
          <p:nvPr/>
        </p:nvCxnSpPr>
        <p:spPr>
          <a:xfrm>
            <a:off x="1597388" y="2994195"/>
            <a:ext cx="1512498" cy="6317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CD14E424-C043-6FA0-027C-F0D845D01408}"/>
              </a:ext>
            </a:extLst>
          </p:cNvPr>
          <p:cNvCxnSpPr>
            <a:cxnSpLocks/>
            <a:stCxn id="8" idx="4"/>
            <a:endCxn id="1032" idx="1"/>
          </p:cNvCxnSpPr>
          <p:nvPr/>
        </p:nvCxnSpPr>
        <p:spPr>
          <a:xfrm flipV="1">
            <a:off x="3513583" y="2994194"/>
            <a:ext cx="1349981" cy="6317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32" name="Picture 8" descr="LLM or large language model with neural networks line art vector icon ...">
            <a:extLst>
              <a:ext uri="{FF2B5EF4-FFF2-40B4-BE49-F238E27FC236}">
                <a16:creationId xmlns:a16="http://schemas.microsoft.com/office/drawing/2014/main" id="{7B5329B0-C8F6-A515-A2F8-FD36E91FA5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3564" y="2494560"/>
            <a:ext cx="999267" cy="999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Wolke 21">
            <a:extLst>
              <a:ext uri="{FF2B5EF4-FFF2-40B4-BE49-F238E27FC236}">
                <a16:creationId xmlns:a16="http://schemas.microsoft.com/office/drawing/2014/main" id="{80887269-D384-AD0F-6DAB-18E5E78F3DA8}"/>
              </a:ext>
            </a:extLst>
          </p:cNvPr>
          <p:cNvSpPr/>
          <p:nvPr/>
        </p:nvSpPr>
        <p:spPr>
          <a:xfrm>
            <a:off x="9466948" y="958302"/>
            <a:ext cx="2210161" cy="1126749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T" dirty="0" err="1"/>
              <a:t>Investpy</a:t>
            </a:r>
            <a:endParaRPr lang="de-AT" dirty="0"/>
          </a:p>
        </p:txBody>
      </p:sp>
      <p:pic>
        <p:nvPicPr>
          <p:cNvPr id="26" name="Picture 8" descr="LLM or large language model with neural networks line art vector icon ...">
            <a:extLst>
              <a:ext uri="{FF2B5EF4-FFF2-40B4-BE49-F238E27FC236}">
                <a16:creationId xmlns:a16="http://schemas.microsoft.com/office/drawing/2014/main" id="{71B0F3E0-738E-C652-1AE5-E324B055C7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3563" y="4100716"/>
            <a:ext cx="999267" cy="999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feld 26">
            <a:extLst>
              <a:ext uri="{FF2B5EF4-FFF2-40B4-BE49-F238E27FC236}">
                <a16:creationId xmlns:a16="http://schemas.microsoft.com/office/drawing/2014/main" id="{1EBB7219-9A14-F52D-AAA9-FE282E649E8C}"/>
              </a:ext>
            </a:extLst>
          </p:cNvPr>
          <p:cNvSpPr txBox="1"/>
          <p:nvPr/>
        </p:nvSpPr>
        <p:spPr>
          <a:xfrm>
            <a:off x="4434353" y="3422128"/>
            <a:ext cx="1857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T" dirty="0" err="1"/>
              <a:t>FinBERT</a:t>
            </a:r>
            <a:r>
              <a:rPr lang="en-AT" dirty="0"/>
              <a:t> / VADER</a:t>
            </a:r>
            <a:endParaRPr lang="de-AT" dirty="0"/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AB205A11-C800-F950-F35E-7EAD8F81454B}"/>
              </a:ext>
            </a:extLst>
          </p:cNvPr>
          <p:cNvSpPr txBox="1"/>
          <p:nvPr/>
        </p:nvSpPr>
        <p:spPr>
          <a:xfrm>
            <a:off x="4345302" y="5099983"/>
            <a:ext cx="2035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T" dirty="0"/>
              <a:t>LLAMA 3.1 Instruct</a:t>
            </a:r>
            <a:endParaRPr lang="de-AT" dirty="0"/>
          </a:p>
        </p:txBody>
      </p: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2DF1DA41-01EA-9E78-988A-3EC3B9BBACBE}"/>
              </a:ext>
            </a:extLst>
          </p:cNvPr>
          <p:cNvCxnSpPr>
            <a:cxnSpLocks/>
            <a:stCxn id="8" idx="4"/>
            <a:endCxn id="26" idx="1"/>
          </p:cNvCxnSpPr>
          <p:nvPr/>
        </p:nvCxnSpPr>
        <p:spPr>
          <a:xfrm>
            <a:off x="3513583" y="3625984"/>
            <a:ext cx="1349980" cy="9743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Zylinder 33">
            <a:extLst>
              <a:ext uri="{FF2B5EF4-FFF2-40B4-BE49-F238E27FC236}">
                <a16:creationId xmlns:a16="http://schemas.microsoft.com/office/drawing/2014/main" id="{DFEC48B4-B975-B4F8-7BAC-03F24178E697}"/>
              </a:ext>
            </a:extLst>
          </p:cNvPr>
          <p:cNvSpPr/>
          <p:nvPr/>
        </p:nvSpPr>
        <p:spPr>
          <a:xfrm>
            <a:off x="9137498" y="4998628"/>
            <a:ext cx="1079079" cy="572042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pic>
        <p:nvPicPr>
          <p:cNvPr id="1034" name="Picture 10" descr="gear engineering symbol vector 532929 Vector Art at Vecteezy">
            <a:extLst>
              <a:ext uri="{FF2B5EF4-FFF2-40B4-BE49-F238E27FC236}">
                <a16:creationId xmlns:a16="http://schemas.microsoft.com/office/drawing/2014/main" id="{BC055B73-DEA9-84B6-D3CC-7EF905BE24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3927" y="2607094"/>
            <a:ext cx="836205" cy="774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258AF342-3FB5-B5C9-133C-A211B2FBCF70}"/>
              </a:ext>
            </a:extLst>
          </p:cNvPr>
          <p:cNvCxnSpPr>
            <a:cxnSpLocks/>
            <a:stCxn id="22" idx="1"/>
            <a:endCxn id="1034" idx="0"/>
          </p:cNvCxnSpPr>
          <p:nvPr/>
        </p:nvCxnSpPr>
        <p:spPr>
          <a:xfrm>
            <a:off x="10572029" y="2083851"/>
            <a:ext cx="1" cy="5232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Verbinder: gewinkelt 51">
            <a:extLst>
              <a:ext uri="{FF2B5EF4-FFF2-40B4-BE49-F238E27FC236}">
                <a16:creationId xmlns:a16="http://schemas.microsoft.com/office/drawing/2014/main" id="{BB158C37-1444-6CFA-B90D-69C47CFB00D6}"/>
              </a:ext>
            </a:extLst>
          </p:cNvPr>
          <p:cNvCxnSpPr>
            <a:cxnSpLocks/>
          </p:cNvCxnSpPr>
          <p:nvPr/>
        </p:nvCxnSpPr>
        <p:spPr>
          <a:xfrm>
            <a:off x="5712868" y="4600349"/>
            <a:ext cx="3814208" cy="39827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Verbinder: gewinkelt 53">
            <a:extLst>
              <a:ext uri="{FF2B5EF4-FFF2-40B4-BE49-F238E27FC236}">
                <a16:creationId xmlns:a16="http://schemas.microsoft.com/office/drawing/2014/main" id="{CBA4F6F8-83BC-6485-BE71-469236412E2D}"/>
              </a:ext>
            </a:extLst>
          </p:cNvPr>
          <p:cNvCxnSpPr>
            <a:cxnSpLocks/>
          </p:cNvCxnSpPr>
          <p:nvPr/>
        </p:nvCxnSpPr>
        <p:spPr>
          <a:xfrm>
            <a:off x="5733099" y="3055144"/>
            <a:ext cx="3918733" cy="194348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7" name="Verbinder: gewinkelt 1026">
            <a:extLst>
              <a:ext uri="{FF2B5EF4-FFF2-40B4-BE49-F238E27FC236}">
                <a16:creationId xmlns:a16="http://schemas.microsoft.com/office/drawing/2014/main" id="{2DB5EDD8-56A0-E9F0-20D0-640147A48E20}"/>
              </a:ext>
            </a:extLst>
          </p:cNvPr>
          <p:cNvCxnSpPr>
            <a:stCxn id="1034" idx="1"/>
          </p:cNvCxnSpPr>
          <p:nvPr/>
        </p:nvCxnSpPr>
        <p:spPr>
          <a:xfrm rot="10800000" flipV="1">
            <a:off x="9807049" y="2994193"/>
            <a:ext cx="346878" cy="200443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9" name="Textfeld 1028">
            <a:extLst>
              <a:ext uri="{FF2B5EF4-FFF2-40B4-BE49-F238E27FC236}">
                <a16:creationId xmlns:a16="http://schemas.microsoft.com/office/drawing/2014/main" id="{8BA09F6F-3CC2-F996-CA2B-590B080E2FA0}"/>
              </a:ext>
            </a:extLst>
          </p:cNvPr>
          <p:cNvSpPr txBox="1"/>
          <p:nvPr/>
        </p:nvSpPr>
        <p:spPr>
          <a:xfrm>
            <a:off x="6779759" y="2660781"/>
            <a:ext cx="1865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T" dirty="0"/>
              <a:t>Sentiment-Score</a:t>
            </a:r>
            <a:endParaRPr lang="de-AT" dirty="0"/>
          </a:p>
        </p:txBody>
      </p:sp>
      <p:sp>
        <p:nvSpPr>
          <p:cNvPr id="1031" name="Textfeld 1030">
            <a:extLst>
              <a:ext uri="{FF2B5EF4-FFF2-40B4-BE49-F238E27FC236}">
                <a16:creationId xmlns:a16="http://schemas.microsoft.com/office/drawing/2014/main" id="{8497F8FD-6606-FB86-E61E-8A6E1F27DCCA}"/>
              </a:ext>
            </a:extLst>
          </p:cNvPr>
          <p:cNvSpPr txBox="1"/>
          <p:nvPr/>
        </p:nvSpPr>
        <p:spPr>
          <a:xfrm>
            <a:off x="6936456" y="4218502"/>
            <a:ext cx="1512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T" dirty="0"/>
              <a:t>Impact Score</a:t>
            </a:r>
            <a:endParaRPr lang="de-AT" dirty="0"/>
          </a:p>
        </p:txBody>
      </p:sp>
      <p:pic>
        <p:nvPicPr>
          <p:cNvPr id="1035" name="Grafik 1034">
            <a:extLst>
              <a:ext uri="{FF2B5EF4-FFF2-40B4-BE49-F238E27FC236}">
                <a16:creationId xmlns:a16="http://schemas.microsoft.com/office/drawing/2014/main" id="{F514A295-E5EF-3C62-E223-B5BE6B245A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935" y="6115782"/>
            <a:ext cx="11918129" cy="500182"/>
          </a:xfrm>
          <a:prstGeom prst="rect">
            <a:avLst/>
          </a:prstGeom>
        </p:spPr>
      </p:pic>
      <p:cxnSp>
        <p:nvCxnSpPr>
          <p:cNvPr id="1037" name="Gerade Verbindung mit Pfeil 1036">
            <a:extLst>
              <a:ext uri="{FF2B5EF4-FFF2-40B4-BE49-F238E27FC236}">
                <a16:creationId xmlns:a16="http://schemas.microsoft.com/office/drawing/2014/main" id="{1B76358D-AFD6-6062-86A5-7B81CCBD9BA3}"/>
              </a:ext>
            </a:extLst>
          </p:cNvPr>
          <p:cNvCxnSpPr>
            <a:cxnSpLocks/>
            <a:stCxn id="34" idx="3"/>
          </p:cNvCxnSpPr>
          <p:nvPr/>
        </p:nvCxnSpPr>
        <p:spPr>
          <a:xfrm>
            <a:off x="9677038" y="5570670"/>
            <a:ext cx="0" cy="5451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hteck 2">
            <a:extLst>
              <a:ext uri="{FF2B5EF4-FFF2-40B4-BE49-F238E27FC236}">
                <a16:creationId xmlns:a16="http://schemas.microsoft.com/office/drawing/2014/main" id="{03D56A61-2FF0-7ED3-F167-651B755E82C4}"/>
              </a:ext>
            </a:extLst>
          </p:cNvPr>
          <p:cNvSpPr/>
          <p:nvPr/>
        </p:nvSpPr>
        <p:spPr>
          <a:xfrm>
            <a:off x="1745415" y="2820536"/>
            <a:ext cx="126141" cy="4426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1662F6ED-9F01-99A7-B72B-CF57ED84EE91}"/>
              </a:ext>
            </a:extLst>
          </p:cNvPr>
          <p:cNvSpPr/>
          <p:nvPr/>
        </p:nvSpPr>
        <p:spPr>
          <a:xfrm>
            <a:off x="1754354" y="3404679"/>
            <a:ext cx="126141" cy="4426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C2CB2C71-C9B3-0F19-FD0B-D039E55A72CA}"/>
              </a:ext>
            </a:extLst>
          </p:cNvPr>
          <p:cNvSpPr/>
          <p:nvPr/>
        </p:nvSpPr>
        <p:spPr>
          <a:xfrm>
            <a:off x="1752605" y="4008726"/>
            <a:ext cx="126141" cy="4426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F6ED49B5-4A2B-ABE7-1AE3-126A97F65F01}"/>
              </a:ext>
            </a:extLst>
          </p:cNvPr>
          <p:cNvSpPr txBox="1"/>
          <p:nvPr/>
        </p:nvSpPr>
        <p:spPr>
          <a:xfrm>
            <a:off x="7388872" y="3956622"/>
            <a:ext cx="631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T" dirty="0"/>
              <a:t>[0;1]</a:t>
            </a:r>
            <a:endParaRPr lang="de-AT" dirty="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56EB0795-87DA-7F1C-4B01-F0C8FF149E7C}"/>
              </a:ext>
            </a:extLst>
          </p:cNvPr>
          <p:cNvSpPr txBox="1"/>
          <p:nvPr/>
        </p:nvSpPr>
        <p:spPr>
          <a:xfrm>
            <a:off x="7337590" y="2398901"/>
            <a:ext cx="6930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T" dirty="0"/>
              <a:t>[-1;1]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257443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696D53-8C8B-4178-DD79-F51EB93B5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Correlations</a:t>
            </a:r>
            <a:endParaRPr lang="de-AT" dirty="0"/>
          </a:p>
        </p:txBody>
      </p:sp>
      <p:pic>
        <p:nvPicPr>
          <p:cNvPr id="5" name="Inhaltsplatzhalter 4" descr="Ein Bild, das Text, Screenshot, Reihe, Diagramm enthält.&#10;&#10;KI-generierte Inhalte können fehlerhaft sein.">
            <a:extLst>
              <a:ext uri="{FF2B5EF4-FFF2-40B4-BE49-F238E27FC236}">
                <a16:creationId xmlns:a16="http://schemas.microsoft.com/office/drawing/2014/main" id="{FFDC43F6-62AE-21DF-7D54-1541042ACC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46847" y="2157328"/>
            <a:ext cx="5442040" cy="3337740"/>
          </a:xfrm>
          <a:prstGeom prst="rect">
            <a:avLst/>
          </a:prstGeom>
        </p:spPr>
      </p:pic>
      <p:pic>
        <p:nvPicPr>
          <p:cNvPr id="9" name="Grafik 8" descr="Ein Bild, das Text, Reihe, Diagramm, Screenshot enthält.&#10;&#10;KI-generierte Inhalte können fehlerhaft sein.">
            <a:extLst>
              <a:ext uri="{FF2B5EF4-FFF2-40B4-BE49-F238E27FC236}">
                <a16:creationId xmlns:a16="http://schemas.microsoft.com/office/drawing/2014/main" id="{F5D862B2-F572-F1A4-6AA4-A413DA36D3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9068" y="3213219"/>
            <a:ext cx="4966514" cy="3644781"/>
          </a:xfrm>
          <a:prstGeom prst="rect">
            <a:avLst/>
          </a:prstGeom>
        </p:spPr>
      </p:pic>
      <p:pic>
        <p:nvPicPr>
          <p:cNvPr id="11" name="Grafik 10" descr="Ein Bild, das Text, Screenshot, Zahl, Diagramm enthält.&#10;&#10;KI-generierte Inhalte können fehlerhaft sein.">
            <a:extLst>
              <a:ext uri="{FF2B5EF4-FFF2-40B4-BE49-F238E27FC236}">
                <a16:creationId xmlns:a16="http://schemas.microsoft.com/office/drawing/2014/main" id="{7BC6DC53-9398-28FA-B663-ECDD8D69A0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4219" y="89196"/>
            <a:ext cx="3862356" cy="3124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6855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E110522-3FF9-FB3B-CA5D-2D24B30E7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AT" sz="4000">
                <a:solidFill>
                  <a:srgbClr val="FFFFFF"/>
                </a:solidFill>
              </a:rPr>
              <a:t>Experiment setup</a:t>
            </a:r>
            <a:endParaRPr lang="de-AT" sz="4000">
              <a:solidFill>
                <a:srgbClr val="FFFFFF"/>
              </a:solidFill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9D1E93D-71F7-7FB3-8F3B-9A11747053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AT" sz="2000" dirty="0"/>
              <a:t>Start: 17.12.2017</a:t>
            </a:r>
          </a:p>
          <a:p>
            <a:r>
              <a:rPr lang="en-AT" sz="2000" dirty="0"/>
              <a:t>End: 06.11.2020</a:t>
            </a:r>
          </a:p>
          <a:p>
            <a:r>
              <a:rPr lang="en-AT" sz="2000" dirty="0"/>
              <a:t>Datapoints: 623</a:t>
            </a:r>
          </a:p>
          <a:p>
            <a:r>
              <a:rPr lang="en-AT" sz="2000" dirty="0"/>
              <a:t>Sentiment model: </a:t>
            </a:r>
            <a:r>
              <a:rPr lang="en-AT" sz="2000" dirty="0" err="1"/>
              <a:t>FinBERT</a:t>
            </a:r>
            <a:endParaRPr lang="en-AT" sz="2000" dirty="0"/>
          </a:p>
          <a:p>
            <a:r>
              <a:rPr lang="en-AT" sz="2000" dirty="0"/>
              <a:t>Impact model:  </a:t>
            </a:r>
            <a:r>
              <a:rPr lang="en-GB" sz="2000" dirty="0"/>
              <a:t>LLAMA_3_1_Instruct</a:t>
            </a:r>
            <a:endParaRPr lang="en-AT" sz="2000" dirty="0"/>
          </a:p>
          <a:p>
            <a:endParaRPr lang="en-AT" sz="2000" dirty="0"/>
          </a:p>
          <a:p>
            <a:r>
              <a:rPr lang="en-AT" sz="2000" dirty="0"/>
              <a:t>Eval-Models: ARIMA, LSTM, GRU, MLR, </a:t>
            </a:r>
            <a:r>
              <a:rPr lang="en-AT" sz="2000" dirty="0" err="1"/>
              <a:t>XGBoost</a:t>
            </a:r>
            <a:r>
              <a:rPr lang="en-AT" sz="2000" dirty="0"/>
              <a:t>, </a:t>
            </a:r>
            <a:r>
              <a:rPr lang="en-AT" sz="2000" dirty="0" err="1"/>
              <a:t>MLogR</a:t>
            </a:r>
            <a:endParaRPr lang="en-GB" sz="2000" dirty="0"/>
          </a:p>
          <a:p>
            <a:endParaRPr lang="de-AT" sz="2000" dirty="0"/>
          </a:p>
        </p:txBody>
      </p:sp>
    </p:spTree>
    <p:extLst>
      <p:ext uri="{BB962C8B-B14F-4D97-AF65-F5344CB8AC3E}">
        <p14:creationId xmlns:p14="http://schemas.microsoft.com/office/powerpoint/2010/main" val="3533069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974968-654C-919B-D6EA-7D26C27A4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T" sz="4000" dirty="0"/>
              <a:t>Evaluation (sentiment vs mean baseline)</a:t>
            </a:r>
            <a:endParaRPr lang="de-AT" sz="4000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0AE1A352-BAB2-3F75-D029-99B8900649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102" y="2665537"/>
            <a:ext cx="3162383" cy="23404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Freihand 6">
                <a:extLst>
                  <a:ext uri="{FF2B5EF4-FFF2-40B4-BE49-F238E27FC236}">
                    <a16:creationId xmlns:a16="http://schemas.microsoft.com/office/drawing/2014/main" id="{404711A7-EB8B-8BDB-909E-C648E664B14F}"/>
                  </a:ext>
                </a:extLst>
              </p14:cNvPr>
              <p14:cNvContentPartPr/>
              <p14:nvPr/>
            </p14:nvContentPartPr>
            <p14:xfrm>
              <a:off x="2975832" y="4654681"/>
              <a:ext cx="1482120" cy="11160"/>
            </p14:xfrm>
          </p:contentPart>
        </mc:Choice>
        <mc:Fallback xmlns="">
          <p:pic>
            <p:nvPicPr>
              <p:cNvPr id="7" name="Freihand 6">
                <a:extLst>
                  <a:ext uri="{FF2B5EF4-FFF2-40B4-BE49-F238E27FC236}">
                    <a16:creationId xmlns:a16="http://schemas.microsoft.com/office/drawing/2014/main" id="{404711A7-EB8B-8BDB-909E-C648E664B14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21832" y="4546681"/>
                <a:ext cx="1589760" cy="22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4" name="Freihand 13">
                <a:extLst>
                  <a:ext uri="{FF2B5EF4-FFF2-40B4-BE49-F238E27FC236}">
                    <a16:creationId xmlns:a16="http://schemas.microsoft.com/office/drawing/2014/main" id="{3064EA78-1822-2444-8C78-2ACC995BDF45}"/>
                  </a:ext>
                </a:extLst>
              </p14:cNvPr>
              <p14:cNvContentPartPr/>
              <p14:nvPr/>
            </p14:nvContentPartPr>
            <p14:xfrm>
              <a:off x="5788870" y="3918404"/>
              <a:ext cx="1737720" cy="56880"/>
            </p14:xfrm>
          </p:contentPart>
        </mc:Choice>
        <mc:Fallback xmlns="">
          <p:pic>
            <p:nvPicPr>
              <p:cNvPr id="14" name="Freihand 13">
                <a:extLst>
                  <a:ext uri="{FF2B5EF4-FFF2-40B4-BE49-F238E27FC236}">
                    <a16:creationId xmlns:a16="http://schemas.microsoft.com/office/drawing/2014/main" id="{3064EA78-1822-2444-8C78-2ACC995BDF4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734870" y="3810404"/>
                <a:ext cx="1845360" cy="27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5" name="Freihand 14">
                <a:extLst>
                  <a:ext uri="{FF2B5EF4-FFF2-40B4-BE49-F238E27FC236}">
                    <a16:creationId xmlns:a16="http://schemas.microsoft.com/office/drawing/2014/main" id="{662EA4EE-1091-66B4-194F-9F17A786DBF2}"/>
                  </a:ext>
                </a:extLst>
              </p14:cNvPr>
              <p14:cNvContentPartPr/>
              <p14:nvPr/>
            </p14:nvContentPartPr>
            <p14:xfrm>
              <a:off x="6296110" y="4186604"/>
              <a:ext cx="1733040" cy="70200"/>
            </p14:xfrm>
          </p:contentPart>
        </mc:Choice>
        <mc:Fallback xmlns="">
          <p:pic>
            <p:nvPicPr>
              <p:cNvPr id="15" name="Freihand 14">
                <a:extLst>
                  <a:ext uri="{FF2B5EF4-FFF2-40B4-BE49-F238E27FC236}">
                    <a16:creationId xmlns:a16="http://schemas.microsoft.com/office/drawing/2014/main" id="{662EA4EE-1091-66B4-194F-9F17A786DBF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242121" y="4078604"/>
                <a:ext cx="1840658" cy="28584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feld 2">
            <a:extLst>
              <a:ext uri="{FF2B5EF4-FFF2-40B4-BE49-F238E27FC236}">
                <a16:creationId xmlns:a16="http://schemas.microsoft.com/office/drawing/2014/main" id="{4AB49DE9-6EC5-860E-D0B7-B941B00D1C6A}"/>
              </a:ext>
            </a:extLst>
          </p:cNvPr>
          <p:cNvSpPr txBox="1"/>
          <p:nvPr/>
        </p:nvSpPr>
        <p:spPr>
          <a:xfrm>
            <a:off x="6588034" y="1217007"/>
            <a:ext cx="2147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Y</a:t>
            </a:r>
            <a:r>
              <a:rPr lang="en-AT" sz="2400" dirty="0"/>
              <a:t> = mean(</a:t>
            </a:r>
            <a:r>
              <a:rPr lang="en-AT" sz="2400" dirty="0" err="1"/>
              <a:t>Y</a:t>
            </a:r>
            <a:r>
              <a:rPr lang="en-AT" sz="1600" dirty="0" err="1"/>
              <a:t>train</a:t>
            </a:r>
            <a:r>
              <a:rPr lang="en-AT" sz="2400" dirty="0"/>
              <a:t>)</a:t>
            </a:r>
            <a:endParaRPr lang="de-AT" sz="2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Freihand 7">
                <a:extLst>
                  <a:ext uri="{FF2B5EF4-FFF2-40B4-BE49-F238E27FC236}">
                    <a16:creationId xmlns:a16="http://schemas.microsoft.com/office/drawing/2014/main" id="{74AB0C62-88A5-FB80-154E-52A33F4A3B0A}"/>
                  </a:ext>
                </a:extLst>
              </p14:cNvPr>
              <p14:cNvContentPartPr/>
              <p14:nvPr/>
            </p14:nvContentPartPr>
            <p14:xfrm>
              <a:off x="2978332" y="4554632"/>
              <a:ext cx="1380960" cy="53280"/>
            </p14:xfrm>
          </p:contentPart>
        </mc:Choice>
        <mc:Fallback xmlns="">
          <p:pic>
            <p:nvPicPr>
              <p:cNvPr id="8" name="Freihand 7">
                <a:extLst>
                  <a:ext uri="{FF2B5EF4-FFF2-40B4-BE49-F238E27FC236}">
                    <a16:creationId xmlns:a16="http://schemas.microsoft.com/office/drawing/2014/main" id="{74AB0C62-88A5-FB80-154E-52A33F4A3B0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924332" y="4446992"/>
                <a:ext cx="1488600" cy="26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" name="Freihand 9">
                <a:extLst>
                  <a:ext uri="{FF2B5EF4-FFF2-40B4-BE49-F238E27FC236}">
                    <a16:creationId xmlns:a16="http://schemas.microsoft.com/office/drawing/2014/main" id="{7A6C96E0-14B1-AF4E-51FB-5A0267ED1589}"/>
                  </a:ext>
                </a:extLst>
              </p14:cNvPr>
              <p14:cNvContentPartPr/>
              <p14:nvPr/>
            </p14:nvContentPartPr>
            <p14:xfrm>
              <a:off x="5856532" y="3874592"/>
              <a:ext cx="1654560" cy="14400"/>
            </p14:xfrm>
          </p:contentPart>
        </mc:Choice>
        <mc:Fallback xmlns="">
          <p:pic>
            <p:nvPicPr>
              <p:cNvPr id="10" name="Freihand 9">
                <a:extLst>
                  <a:ext uri="{FF2B5EF4-FFF2-40B4-BE49-F238E27FC236}">
                    <a16:creationId xmlns:a16="http://schemas.microsoft.com/office/drawing/2014/main" id="{7A6C96E0-14B1-AF4E-51FB-5A0267ED158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802532" y="3766592"/>
                <a:ext cx="1762200" cy="23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1" name="Freihand 10">
                <a:extLst>
                  <a:ext uri="{FF2B5EF4-FFF2-40B4-BE49-F238E27FC236}">
                    <a16:creationId xmlns:a16="http://schemas.microsoft.com/office/drawing/2014/main" id="{01832ABE-BDEB-4A7E-8895-F373C64CEBFF}"/>
                  </a:ext>
                </a:extLst>
              </p14:cNvPr>
              <p14:cNvContentPartPr/>
              <p14:nvPr/>
            </p14:nvContentPartPr>
            <p14:xfrm>
              <a:off x="6100252" y="4110032"/>
              <a:ext cx="2325240" cy="22680"/>
            </p14:xfrm>
          </p:contentPart>
        </mc:Choice>
        <mc:Fallback xmlns="">
          <p:pic>
            <p:nvPicPr>
              <p:cNvPr id="11" name="Freihand 10">
                <a:extLst>
                  <a:ext uri="{FF2B5EF4-FFF2-40B4-BE49-F238E27FC236}">
                    <a16:creationId xmlns:a16="http://schemas.microsoft.com/office/drawing/2014/main" id="{01832ABE-BDEB-4A7E-8895-F373C64CEBF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046252" y="4002032"/>
                <a:ext cx="2432880" cy="238320"/>
              </a:xfrm>
              <a:prstGeom prst="rect">
                <a:avLst/>
              </a:prstGeom>
            </p:spPr>
          </p:pic>
        </mc:Fallback>
      </mc:AlternateContent>
      <p:pic>
        <p:nvPicPr>
          <p:cNvPr id="23" name="Grafik 22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2B140335-1EBD-2B36-F14F-89A9BDDE710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496102" y="2877294"/>
            <a:ext cx="8295131" cy="213909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4" name="Freihand 23">
                <a:extLst>
                  <a:ext uri="{FF2B5EF4-FFF2-40B4-BE49-F238E27FC236}">
                    <a16:creationId xmlns:a16="http://schemas.microsoft.com/office/drawing/2014/main" id="{D29B76DC-CF79-A66D-1FC1-189E7ED9AA94}"/>
                  </a:ext>
                </a:extLst>
              </p14:cNvPr>
              <p14:cNvContentPartPr/>
              <p14:nvPr/>
            </p14:nvContentPartPr>
            <p14:xfrm>
              <a:off x="2964926" y="4588337"/>
              <a:ext cx="1411200" cy="44640"/>
            </p14:xfrm>
          </p:contentPart>
        </mc:Choice>
        <mc:Fallback xmlns="">
          <p:pic>
            <p:nvPicPr>
              <p:cNvPr id="24" name="Freihand 23">
                <a:extLst>
                  <a:ext uri="{FF2B5EF4-FFF2-40B4-BE49-F238E27FC236}">
                    <a16:creationId xmlns:a16="http://schemas.microsoft.com/office/drawing/2014/main" id="{D29B76DC-CF79-A66D-1FC1-189E7ED9AA9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911286" y="4480337"/>
                <a:ext cx="1518840" cy="26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5" name="Freihand 24">
                <a:extLst>
                  <a:ext uri="{FF2B5EF4-FFF2-40B4-BE49-F238E27FC236}">
                    <a16:creationId xmlns:a16="http://schemas.microsoft.com/office/drawing/2014/main" id="{1ACF7312-2DB4-44C5-1C88-4EDCF36BDCA4}"/>
                  </a:ext>
                </a:extLst>
              </p14:cNvPr>
              <p14:cNvContentPartPr/>
              <p14:nvPr/>
            </p14:nvContentPartPr>
            <p14:xfrm>
              <a:off x="4793726" y="3923777"/>
              <a:ext cx="636480" cy="51840"/>
            </p14:xfrm>
          </p:contentPart>
        </mc:Choice>
        <mc:Fallback xmlns="">
          <p:pic>
            <p:nvPicPr>
              <p:cNvPr id="25" name="Freihand 24">
                <a:extLst>
                  <a:ext uri="{FF2B5EF4-FFF2-40B4-BE49-F238E27FC236}">
                    <a16:creationId xmlns:a16="http://schemas.microsoft.com/office/drawing/2014/main" id="{1ACF7312-2DB4-44C5-1C88-4EDCF36BDCA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740086" y="3816137"/>
                <a:ext cx="744120" cy="26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6" name="Freihand 25">
                <a:extLst>
                  <a:ext uri="{FF2B5EF4-FFF2-40B4-BE49-F238E27FC236}">
                    <a16:creationId xmlns:a16="http://schemas.microsoft.com/office/drawing/2014/main" id="{26F33447-1E15-A06E-ACD6-F61F87B09120}"/>
                  </a:ext>
                </a:extLst>
              </p14:cNvPr>
              <p14:cNvContentPartPr/>
              <p14:nvPr/>
            </p14:nvContentPartPr>
            <p14:xfrm>
              <a:off x="5014766" y="4062377"/>
              <a:ext cx="10440" cy="2160"/>
            </p14:xfrm>
          </p:contentPart>
        </mc:Choice>
        <mc:Fallback xmlns="">
          <p:pic>
            <p:nvPicPr>
              <p:cNvPr id="26" name="Freihand 25">
                <a:extLst>
                  <a:ext uri="{FF2B5EF4-FFF2-40B4-BE49-F238E27FC236}">
                    <a16:creationId xmlns:a16="http://schemas.microsoft.com/office/drawing/2014/main" id="{26F33447-1E15-A06E-ACD6-F61F87B09120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960766" y="3954737"/>
                <a:ext cx="118080" cy="21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7" name="Freihand 26">
                <a:extLst>
                  <a:ext uri="{FF2B5EF4-FFF2-40B4-BE49-F238E27FC236}">
                    <a16:creationId xmlns:a16="http://schemas.microsoft.com/office/drawing/2014/main" id="{15E3EEF6-49A5-8FAA-6489-65535E1EBF7E}"/>
                  </a:ext>
                </a:extLst>
              </p14:cNvPr>
              <p14:cNvContentPartPr/>
              <p14:nvPr/>
            </p14:nvContentPartPr>
            <p14:xfrm>
              <a:off x="4959326" y="4096937"/>
              <a:ext cx="661320" cy="48600"/>
            </p14:xfrm>
          </p:contentPart>
        </mc:Choice>
        <mc:Fallback xmlns="">
          <p:pic>
            <p:nvPicPr>
              <p:cNvPr id="27" name="Freihand 26">
                <a:extLst>
                  <a:ext uri="{FF2B5EF4-FFF2-40B4-BE49-F238E27FC236}">
                    <a16:creationId xmlns:a16="http://schemas.microsoft.com/office/drawing/2014/main" id="{15E3EEF6-49A5-8FAA-6489-65535E1EBF7E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905686" y="3989297"/>
                <a:ext cx="768960" cy="264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28690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1474D3-10DD-B534-44D9-153E16B99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Evaluation (</a:t>
            </a:r>
            <a:r>
              <a:rPr lang="en-AT" dirty="0" err="1"/>
              <a:t>sentiment+tech</a:t>
            </a:r>
            <a:r>
              <a:rPr lang="en-AT" dirty="0"/>
              <a:t> vs tech)</a:t>
            </a:r>
            <a:endParaRPr lang="de-AT" dirty="0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2B9049CD-0048-90E3-F477-06ACDE050A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260" y="1629859"/>
            <a:ext cx="7331720" cy="304808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0F5728F2-117A-4FA0-F4D1-DF730195FF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260" y="4032639"/>
            <a:ext cx="5628062" cy="32113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8" name="Freihand 17">
                <a:extLst>
                  <a:ext uri="{FF2B5EF4-FFF2-40B4-BE49-F238E27FC236}">
                    <a16:creationId xmlns:a16="http://schemas.microsoft.com/office/drawing/2014/main" id="{5BC3D8AF-349F-21AD-743D-A3347241625D}"/>
                  </a:ext>
                </a:extLst>
              </p14:cNvPr>
              <p14:cNvContentPartPr/>
              <p14:nvPr/>
            </p14:nvContentPartPr>
            <p14:xfrm>
              <a:off x="2178980" y="3462243"/>
              <a:ext cx="2198160" cy="20520"/>
            </p14:xfrm>
          </p:contentPart>
        </mc:Choice>
        <mc:Fallback xmlns="">
          <p:pic>
            <p:nvPicPr>
              <p:cNvPr id="18" name="Freihand 17">
                <a:extLst>
                  <a:ext uri="{FF2B5EF4-FFF2-40B4-BE49-F238E27FC236}">
                    <a16:creationId xmlns:a16="http://schemas.microsoft.com/office/drawing/2014/main" id="{5BC3D8AF-349F-21AD-743D-A3347241625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124980" y="3354603"/>
                <a:ext cx="2305800" cy="23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" name="Freihand 18">
                <a:extLst>
                  <a:ext uri="{FF2B5EF4-FFF2-40B4-BE49-F238E27FC236}">
                    <a16:creationId xmlns:a16="http://schemas.microsoft.com/office/drawing/2014/main" id="{6569F918-512C-F367-9092-6D965B3AF3AA}"/>
                  </a:ext>
                </a:extLst>
              </p14:cNvPr>
              <p14:cNvContentPartPr/>
              <p14:nvPr/>
            </p14:nvContentPartPr>
            <p14:xfrm>
              <a:off x="4779978" y="4597246"/>
              <a:ext cx="2049480" cy="87480"/>
            </p14:xfrm>
          </p:contentPart>
        </mc:Choice>
        <mc:Fallback xmlns="">
          <p:pic>
            <p:nvPicPr>
              <p:cNvPr id="19" name="Freihand 18">
                <a:extLst>
                  <a:ext uri="{FF2B5EF4-FFF2-40B4-BE49-F238E27FC236}">
                    <a16:creationId xmlns:a16="http://schemas.microsoft.com/office/drawing/2014/main" id="{6569F918-512C-F367-9092-6D965B3AF3A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725978" y="4489606"/>
                <a:ext cx="2157120" cy="30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0" name="Freihand 19">
                <a:extLst>
                  <a:ext uri="{FF2B5EF4-FFF2-40B4-BE49-F238E27FC236}">
                    <a16:creationId xmlns:a16="http://schemas.microsoft.com/office/drawing/2014/main" id="{DD9C357D-91BD-5BD3-52EE-FDDDF3E9E437}"/>
                  </a:ext>
                </a:extLst>
              </p14:cNvPr>
              <p14:cNvContentPartPr/>
              <p14:nvPr/>
            </p14:nvContentPartPr>
            <p14:xfrm>
              <a:off x="4693218" y="4883446"/>
              <a:ext cx="2288160" cy="31320"/>
            </p14:xfrm>
          </p:contentPart>
        </mc:Choice>
        <mc:Fallback xmlns="">
          <p:pic>
            <p:nvPicPr>
              <p:cNvPr id="20" name="Freihand 19">
                <a:extLst>
                  <a:ext uri="{FF2B5EF4-FFF2-40B4-BE49-F238E27FC236}">
                    <a16:creationId xmlns:a16="http://schemas.microsoft.com/office/drawing/2014/main" id="{DD9C357D-91BD-5BD3-52EE-FDDDF3E9E43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639218" y="4775446"/>
                <a:ext cx="2395800" cy="24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1" name="Freihand 20">
                <a:extLst>
                  <a:ext uri="{FF2B5EF4-FFF2-40B4-BE49-F238E27FC236}">
                    <a16:creationId xmlns:a16="http://schemas.microsoft.com/office/drawing/2014/main" id="{A341E74D-8633-BABC-7589-C0B2A5D80C48}"/>
                  </a:ext>
                </a:extLst>
              </p14:cNvPr>
              <p14:cNvContentPartPr/>
              <p14:nvPr/>
            </p14:nvContentPartPr>
            <p14:xfrm>
              <a:off x="4788618" y="5099806"/>
              <a:ext cx="2312640" cy="39960"/>
            </p14:xfrm>
          </p:contentPart>
        </mc:Choice>
        <mc:Fallback xmlns="">
          <p:pic>
            <p:nvPicPr>
              <p:cNvPr id="21" name="Freihand 20">
                <a:extLst>
                  <a:ext uri="{FF2B5EF4-FFF2-40B4-BE49-F238E27FC236}">
                    <a16:creationId xmlns:a16="http://schemas.microsoft.com/office/drawing/2014/main" id="{A341E74D-8633-BABC-7589-C0B2A5D80C4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734618" y="4992166"/>
                <a:ext cx="2420280" cy="25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2" name="Freihand 21">
                <a:extLst>
                  <a:ext uri="{FF2B5EF4-FFF2-40B4-BE49-F238E27FC236}">
                    <a16:creationId xmlns:a16="http://schemas.microsoft.com/office/drawing/2014/main" id="{88AB04F3-97E6-901A-13AC-19CE73E29819}"/>
                  </a:ext>
                </a:extLst>
              </p14:cNvPr>
              <p14:cNvContentPartPr/>
              <p14:nvPr/>
            </p14:nvContentPartPr>
            <p14:xfrm>
              <a:off x="4732098" y="5386366"/>
              <a:ext cx="2184120" cy="48600"/>
            </p14:xfrm>
          </p:contentPart>
        </mc:Choice>
        <mc:Fallback xmlns="">
          <p:pic>
            <p:nvPicPr>
              <p:cNvPr id="22" name="Freihand 21">
                <a:extLst>
                  <a:ext uri="{FF2B5EF4-FFF2-40B4-BE49-F238E27FC236}">
                    <a16:creationId xmlns:a16="http://schemas.microsoft.com/office/drawing/2014/main" id="{88AB04F3-97E6-901A-13AC-19CE73E2981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678098" y="5278726"/>
                <a:ext cx="2291760" cy="26424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Grafik 3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BDE3C5C6-1AFA-83FC-B932-7FC95FEA495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4260" y="1907644"/>
            <a:ext cx="8197157" cy="2095555"/>
          </a:xfrm>
          <a:prstGeom prst="rect">
            <a:avLst/>
          </a:prstGeom>
        </p:spPr>
      </p:pic>
      <p:pic>
        <p:nvPicPr>
          <p:cNvPr id="6" name="Grafik 5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16E15E10-76DD-5D3A-48C2-141C3811679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14260" y="4353776"/>
            <a:ext cx="8398548" cy="209555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7" name="Freihand 6">
                <a:extLst>
                  <a:ext uri="{FF2B5EF4-FFF2-40B4-BE49-F238E27FC236}">
                    <a16:creationId xmlns:a16="http://schemas.microsoft.com/office/drawing/2014/main" id="{B8492754-EB03-0B12-9B5B-B408D640BEAA}"/>
                  </a:ext>
                </a:extLst>
              </p14:cNvPr>
              <p14:cNvContentPartPr/>
              <p14:nvPr/>
            </p14:nvContentPartPr>
            <p14:xfrm>
              <a:off x="2229360" y="3565234"/>
              <a:ext cx="1406880" cy="57960"/>
            </p14:xfrm>
          </p:contentPart>
        </mc:Choice>
        <mc:Fallback xmlns="">
          <p:pic>
            <p:nvPicPr>
              <p:cNvPr id="7" name="Freihand 6">
                <a:extLst>
                  <a:ext uri="{FF2B5EF4-FFF2-40B4-BE49-F238E27FC236}">
                    <a16:creationId xmlns:a16="http://schemas.microsoft.com/office/drawing/2014/main" id="{B8492754-EB03-0B12-9B5B-B408D640BEA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175360" y="3457594"/>
                <a:ext cx="1514520" cy="27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8" name="Freihand 7">
                <a:extLst>
                  <a:ext uri="{FF2B5EF4-FFF2-40B4-BE49-F238E27FC236}">
                    <a16:creationId xmlns:a16="http://schemas.microsoft.com/office/drawing/2014/main" id="{23F8DDEB-7D86-31D1-707A-7CCA5DC5A834}"/>
                  </a:ext>
                </a:extLst>
              </p14:cNvPr>
              <p14:cNvContentPartPr/>
              <p14:nvPr/>
            </p14:nvContentPartPr>
            <p14:xfrm>
              <a:off x="4053840" y="5350474"/>
              <a:ext cx="670680" cy="23040"/>
            </p14:xfrm>
          </p:contentPart>
        </mc:Choice>
        <mc:Fallback xmlns="">
          <p:pic>
            <p:nvPicPr>
              <p:cNvPr id="8" name="Freihand 7">
                <a:extLst>
                  <a:ext uri="{FF2B5EF4-FFF2-40B4-BE49-F238E27FC236}">
                    <a16:creationId xmlns:a16="http://schemas.microsoft.com/office/drawing/2014/main" id="{23F8DDEB-7D86-31D1-707A-7CCA5DC5A83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999840" y="5242834"/>
                <a:ext cx="778320" cy="23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9" name="Freihand 8">
                <a:extLst>
                  <a:ext uri="{FF2B5EF4-FFF2-40B4-BE49-F238E27FC236}">
                    <a16:creationId xmlns:a16="http://schemas.microsoft.com/office/drawing/2014/main" id="{456AAE48-1982-DA21-C1B2-83B704E3A2DF}"/>
                  </a:ext>
                </a:extLst>
              </p14:cNvPr>
              <p14:cNvContentPartPr/>
              <p14:nvPr/>
            </p14:nvContentPartPr>
            <p14:xfrm>
              <a:off x="4254000" y="4663594"/>
              <a:ext cx="828000" cy="30240"/>
            </p14:xfrm>
          </p:contentPart>
        </mc:Choice>
        <mc:Fallback xmlns="">
          <p:pic>
            <p:nvPicPr>
              <p:cNvPr id="9" name="Freihand 8">
                <a:extLst>
                  <a:ext uri="{FF2B5EF4-FFF2-40B4-BE49-F238E27FC236}">
                    <a16:creationId xmlns:a16="http://schemas.microsoft.com/office/drawing/2014/main" id="{456AAE48-1982-DA21-C1B2-83B704E3A2D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200000" y="4555954"/>
                <a:ext cx="935640" cy="245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115653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58FA83-3A7F-EC16-EBCD-C47703EF1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Evaluation (rolling sentiment vs sentiment)</a:t>
            </a:r>
            <a:endParaRPr lang="de-AT" dirty="0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F86DBA0B-F926-58FA-FC39-D61175DF8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810" y="1690688"/>
            <a:ext cx="4104022" cy="304808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EB4C26E8-AE86-1EA0-B2F0-F58257590F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10" y="4229640"/>
            <a:ext cx="3162383" cy="23404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Freihand 15">
                <a:extLst>
                  <a:ext uri="{FF2B5EF4-FFF2-40B4-BE49-F238E27FC236}">
                    <a16:creationId xmlns:a16="http://schemas.microsoft.com/office/drawing/2014/main" id="{5F12B92C-E1A2-142F-E28B-5C804772A422}"/>
                  </a:ext>
                </a:extLst>
              </p14:cNvPr>
              <p14:cNvContentPartPr/>
              <p14:nvPr/>
            </p14:nvContentPartPr>
            <p14:xfrm>
              <a:off x="4450220" y="2280363"/>
              <a:ext cx="2237040" cy="34920"/>
            </p14:xfrm>
          </p:contentPart>
        </mc:Choice>
        <mc:Fallback xmlns="">
          <p:pic>
            <p:nvPicPr>
              <p:cNvPr id="16" name="Freihand 15">
                <a:extLst>
                  <a:ext uri="{FF2B5EF4-FFF2-40B4-BE49-F238E27FC236}">
                    <a16:creationId xmlns:a16="http://schemas.microsoft.com/office/drawing/2014/main" id="{5F12B92C-E1A2-142F-E28B-5C804772A42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396580" y="2172723"/>
                <a:ext cx="2344680" cy="25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7" name="Freihand 16">
                <a:extLst>
                  <a:ext uri="{FF2B5EF4-FFF2-40B4-BE49-F238E27FC236}">
                    <a16:creationId xmlns:a16="http://schemas.microsoft.com/office/drawing/2014/main" id="{58067878-C3D0-8220-71E7-5AFC3DAD272B}"/>
                  </a:ext>
                </a:extLst>
              </p14:cNvPr>
              <p14:cNvContentPartPr/>
              <p14:nvPr/>
            </p14:nvContentPartPr>
            <p14:xfrm>
              <a:off x="4396580" y="2445963"/>
              <a:ext cx="2101320" cy="35280"/>
            </p14:xfrm>
          </p:contentPart>
        </mc:Choice>
        <mc:Fallback xmlns="">
          <p:pic>
            <p:nvPicPr>
              <p:cNvPr id="17" name="Freihand 16">
                <a:extLst>
                  <a:ext uri="{FF2B5EF4-FFF2-40B4-BE49-F238E27FC236}">
                    <a16:creationId xmlns:a16="http://schemas.microsoft.com/office/drawing/2014/main" id="{58067878-C3D0-8220-71E7-5AFC3DAD272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342940" y="2337963"/>
                <a:ext cx="2208960" cy="25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8" name="Freihand 17">
                <a:extLst>
                  <a:ext uri="{FF2B5EF4-FFF2-40B4-BE49-F238E27FC236}">
                    <a16:creationId xmlns:a16="http://schemas.microsoft.com/office/drawing/2014/main" id="{B2B359F6-57AA-912E-8E30-EFCE998A0E7E}"/>
                  </a:ext>
                </a:extLst>
              </p14:cNvPr>
              <p14:cNvContentPartPr/>
              <p14:nvPr/>
            </p14:nvContentPartPr>
            <p14:xfrm>
              <a:off x="4274900" y="2705883"/>
              <a:ext cx="2315160" cy="72000"/>
            </p14:xfrm>
          </p:contentPart>
        </mc:Choice>
        <mc:Fallback xmlns="">
          <p:pic>
            <p:nvPicPr>
              <p:cNvPr id="18" name="Freihand 17">
                <a:extLst>
                  <a:ext uri="{FF2B5EF4-FFF2-40B4-BE49-F238E27FC236}">
                    <a16:creationId xmlns:a16="http://schemas.microsoft.com/office/drawing/2014/main" id="{B2B359F6-57AA-912E-8E30-EFCE998A0E7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221260" y="2598243"/>
                <a:ext cx="2422800" cy="28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9" name="Freihand 18">
                <a:extLst>
                  <a:ext uri="{FF2B5EF4-FFF2-40B4-BE49-F238E27FC236}">
                    <a16:creationId xmlns:a16="http://schemas.microsoft.com/office/drawing/2014/main" id="{D4373645-0A45-3241-A60A-F3AA61190974}"/>
                  </a:ext>
                </a:extLst>
              </p14:cNvPr>
              <p14:cNvContentPartPr/>
              <p14:nvPr/>
            </p14:nvContentPartPr>
            <p14:xfrm>
              <a:off x="4309100" y="2947083"/>
              <a:ext cx="2228040" cy="59400"/>
            </p14:xfrm>
          </p:contentPart>
        </mc:Choice>
        <mc:Fallback xmlns="">
          <p:pic>
            <p:nvPicPr>
              <p:cNvPr id="19" name="Freihand 18">
                <a:extLst>
                  <a:ext uri="{FF2B5EF4-FFF2-40B4-BE49-F238E27FC236}">
                    <a16:creationId xmlns:a16="http://schemas.microsoft.com/office/drawing/2014/main" id="{D4373645-0A45-3241-A60A-F3AA6119097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255460" y="2839443"/>
                <a:ext cx="2335680" cy="27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1" name="Freihand 20">
                <a:extLst>
                  <a:ext uri="{FF2B5EF4-FFF2-40B4-BE49-F238E27FC236}">
                    <a16:creationId xmlns:a16="http://schemas.microsoft.com/office/drawing/2014/main" id="{AC1A8859-1C1F-FB5C-CDC3-D129F9DEBE86}"/>
                  </a:ext>
                </a:extLst>
              </p14:cNvPr>
              <p14:cNvContentPartPr/>
              <p14:nvPr/>
            </p14:nvContentPartPr>
            <p14:xfrm>
              <a:off x="2175378" y="6172966"/>
              <a:ext cx="1438920" cy="54720"/>
            </p14:xfrm>
          </p:contentPart>
        </mc:Choice>
        <mc:Fallback xmlns="">
          <p:pic>
            <p:nvPicPr>
              <p:cNvPr id="21" name="Freihand 20">
                <a:extLst>
                  <a:ext uri="{FF2B5EF4-FFF2-40B4-BE49-F238E27FC236}">
                    <a16:creationId xmlns:a16="http://schemas.microsoft.com/office/drawing/2014/main" id="{AC1A8859-1C1F-FB5C-CDC3-D129F9DEBE8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121378" y="6065326"/>
                <a:ext cx="1546560" cy="27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" name="Freihand 2">
                <a:extLst>
                  <a:ext uri="{FF2B5EF4-FFF2-40B4-BE49-F238E27FC236}">
                    <a16:creationId xmlns:a16="http://schemas.microsoft.com/office/drawing/2014/main" id="{6D8DD1A2-7288-75C5-21C1-88B940B105CE}"/>
                  </a:ext>
                </a:extLst>
              </p14:cNvPr>
              <p14:cNvContentPartPr/>
              <p14:nvPr/>
            </p14:nvContentPartPr>
            <p14:xfrm>
              <a:off x="3552720" y="2790874"/>
              <a:ext cx="360" cy="360"/>
            </p14:xfrm>
          </p:contentPart>
        </mc:Choice>
        <mc:Fallback xmlns="">
          <p:pic>
            <p:nvPicPr>
              <p:cNvPr id="3" name="Freihand 2">
                <a:extLst>
                  <a:ext uri="{FF2B5EF4-FFF2-40B4-BE49-F238E27FC236}">
                    <a16:creationId xmlns:a16="http://schemas.microsoft.com/office/drawing/2014/main" id="{6D8DD1A2-7288-75C5-21C1-88B940B105C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499080" y="2682874"/>
                <a:ext cx="108000" cy="216000"/>
              </a:xfrm>
              <a:prstGeom prst="rect">
                <a:avLst/>
              </a:prstGeom>
            </p:spPr>
          </p:pic>
        </mc:Fallback>
      </mc:AlternateContent>
      <p:pic>
        <p:nvPicPr>
          <p:cNvPr id="12" name="Grafik 11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A05752F5-11BF-008C-0298-A4B32AF053E1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42810" y="1991310"/>
            <a:ext cx="8371333" cy="1866949"/>
          </a:xfrm>
          <a:prstGeom prst="rect">
            <a:avLst/>
          </a:prstGeom>
        </p:spPr>
      </p:pic>
      <p:pic>
        <p:nvPicPr>
          <p:cNvPr id="22" name="Inhaltsplatzhalter 21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C90C6590-BA89-D3CE-375B-9D851EB038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1"/>
          <a:stretch>
            <a:fillRect/>
          </a:stretch>
        </p:blipFill>
        <p:spPr>
          <a:xfrm>
            <a:off x="742810" y="4463689"/>
            <a:ext cx="8295131" cy="213909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3" name="Freihand 22">
                <a:extLst>
                  <a:ext uri="{FF2B5EF4-FFF2-40B4-BE49-F238E27FC236}">
                    <a16:creationId xmlns:a16="http://schemas.microsoft.com/office/drawing/2014/main" id="{95749834-7AEB-5C28-9001-BF3D108BCA75}"/>
                  </a:ext>
                </a:extLst>
              </p14:cNvPr>
              <p14:cNvContentPartPr/>
              <p14:nvPr/>
            </p14:nvContentPartPr>
            <p14:xfrm>
              <a:off x="2124600" y="3740194"/>
              <a:ext cx="1406520" cy="14040"/>
            </p14:xfrm>
          </p:contentPart>
        </mc:Choice>
        <mc:Fallback xmlns="">
          <p:pic>
            <p:nvPicPr>
              <p:cNvPr id="23" name="Freihand 22">
                <a:extLst>
                  <a:ext uri="{FF2B5EF4-FFF2-40B4-BE49-F238E27FC236}">
                    <a16:creationId xmlns:a16="http://schemas.microsoft.com/office/drawing/2014/main" id="{95749834-7AEB-5C28-9001-BF3D108BCA7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070960" y="3632194"/>
                <a:ext cx="1514160" cy="22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4" name="Freihand 23">
                <a:extLst>
                  <a:ext uri="{FF2B5EF4-FFF2-40B4-BE49-F238E27FC236}">
                    <a16:creationId xmlns:a16="http://schemas.microsoft.com/office/drawing/2014/main" id="{B59BD6B9-61C1-9FD0-2F30-84AEEA22FE0F}"/>
                  </a:ext>
                </a:extLst>
              </p14:cNvPr>
              <p14:cNvContentPartPr/>
              <p14:nvPr/>
            </p14:nvContentPartPr>
            <p14:xfrm>
              <a:off x="2190120" y="6138874"/>
              <a:ext cx="1375560" cy="65880"/>
            </p14:xfrm>
          </p:contentPart>
        </mc:Choice>
        <mc:Fallback xmlns="">
          <p:pic>
            <p:nvPicPr>
              <p:cNvPr id="24" name="Freihand 23">
                <a:extLst>
                  <a:ext uri="{FF2B5EF4-FFF2-40B4-BE49-F238E27FC236}">
                    <a16:creationId xmlns:a16="http://schemas.microsoft.com/office/drawing/2014/main" id="{B59BD6B9-61C1-9FD0-2F30-84AEEA22FE0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136120" y="6031234"/>
                <a:ext cx="1483200" cy="28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5" name="Freihand 24">
                <a:extLst>
                  <a:ext uri="{FF2B5EF4-FFF2-40B4-BE49-F238E27FC236}">
                    <a16:creationId xmlns:a16="http://schemas.microsoft.com/office/drawing/2014/main" id="{17A57FE7-E9AD-8112-9025-49AFAD2105FD}"/>
                  </a:ext>
                </a:extLst>
              </p14:cNvPr>
              <p14:cNvContentPartPr/>
              <p14:nvPr/>
            </p14:nvContentPartPr>
            <p14:xfrm>
              <a:off x="3626880" y="2112634"/>
              <a:ext cx="1053360" cy="73440"/>
            </p14:xfrm>
          </p:contentPart>
        </mc:Choice>
        <mc:Fallback xmlns="">
          <p:pic>
            <p:nvPicPr>
              <p:cNvPr id="25" name="Freihand 24">
                <a:extLst>
                  <a:ext uri="{FF2B5EF4-FFF2-40B4-BE49-F238E27FC236}">
                    <a16:creationId xmlns:a16="http://schemas.microsoft.com/office/drawing/2014/main" id="{17A57FE7-E9AD-8112-9025-49AFAD2105FD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573240" y="2004994"/>
                <a:ext cx="1161000" cy="28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6" name="Freihand 25">
                <a:extLst>
                  <a:ext uri="{FF2B5EF4-FFF2-40B4-BE49-F238E27FC236}">
                    <a16:creationId xmlns:a16="http://schemas.microsoft.com/office/drawing/2014/main" id="{4BA3272E-3257-E061-1E5C-0523D791860D}"/>
                  </a:ext>
                </a:extLst>
              </p14:cNvPr>
              <p14:cNvContentPartPr/>
              <p14:nvPr/>
            </p14:nvContentPartPr>
            <p14:xfrm>
              <a:off x="3574680" y="2294434"/>
              <a:ext cx="1276560" cy="31320"/>
            </p14:xfrm>
          </p:contentPart>
        </mc:Choice>
        <mc:Fallback xmlns="">
          <p:pic>
            <p:nvPicPr>
              <p:cNvPr id="26" name="Freihand 25">
                <a:extLst>
                  <a:ext uri="{FF2B5EF4-FFF2-40B4-BE49-F238E27FC236}">
                    <a16:creationId xmlns:a16="http://schemas.microsoft.com/office/drawing/2014/main" id="{4BA3272E-3257-E061-1E5C-0523D791860D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521040" y="2186794"/>
                <a:ext cx="1384200" cy="24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7" name="Freihand 26">
                <a:extLst>
                  <a:ext uri="{FF2B5EF4-FFF2-40B4-BE49-F238E27FC236}">
                    <a16:creationId xmlns:a16="http://schemas.microsoft.com/office/drawing/2014/main" id="{5F912F60-586C-C8AF-14D7-6FBA65C62102}"/>
                  </a:ext>
                </a:extLst>
              </p14:cNvPr>
              <p14:cNvContentPartPr/>
              <p14:nvPr/>
            </p14:nvContentPartPr>
            <p14:xfrm>
              <a:off x="3513840" y="2538514"/>
              <a:ext cx="1494000" cy="78840"/>
            </p14:xfrm>
          </p:contentPart>
        </mc:Choice>
        <mc:Fallback xmlns="">
          <p:pic>
            <p:nvPicPr>
              <p:cNvPr id="27" name="Freihand 26">
                <a:extLst>
                  <a:ext uri="{FF2B5EF4-FFF2-40B4-BE49-F238E27FC236}">
                    <a16:creationId xmlns:a16="http://schemas.microsoft.com/office/drawing/2014/main" id="{5F912F60-586C-C8AF-14D7-6FBA65C62102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459840" y="2430514"/>
                <a:ext cx="1601640" cy="29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8" name="Freihand 27">
                <a:extLst>
                  <a:ext uri="{FF2B5EF4-FFF2-40B4-BE49-F238E27FC236}">
                    <a16:creationId xmlns:a16="http://schemas.microsoft.com/office/drawing/2014/main" id="{41A5C53C-1FD2-0716-2B19-024D8446DAD2}"/>
                  </a:ext>
                </a:extLst>
              </p14:cNvPr>
              <p14:cNvContentPartPr/>
              <p14:nvPr/>
            </p14:nvContentPartPr>
            <p14:xfrm>
              <a:off x="3444000" y="2799874"/>
              <a:ext cx="770400" cy="51840"/>
            </p14:xfrm>
          </p:contentPart>
        </mc:Choice>
        <mc:Fallback xmlns="">
          <p:pic>
            <p:nvPicPr>
              <p:cNvPr id="28" name="Freihand 27">
                <a:extLst>
                  <a:ext uri="{FF2B5EF4-FFF2-40B4-BE49-F238E27FC236}">
                    <a16:creationId xmlns:a16="http://schemas.microsoft.com/office/drawing/2014/main" id="{41A5C53C-1FD2-0716-2B19-024D8446DAD2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390360" y="2691874"/>
                <a:ext cx="878040" cy="26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9" name="Freihand 28">
                <a:extLst>
                  <a:ext uri="{FF2B5EF4-FFF2-40B4-BE49-F238E27FC236}">
                    <a16:creationId xmlns:a16="http://schemas.microsoft.com/office/drawing/2014/main" id="{6566A4D0-DDAB-9F38-D64E-5ACA1D06E06C}"/>
                  </a:ext>
                </a:extLst>
              </p14:cNvPr>
              <p14:cNvContentPartPr/>
              <p14:nvPr/>
            </p14:nvContentPartPr>
            <p14:xfrm>
              <a:off x="3971040" y="2747314"/>
              <a:ext cx="745920" cy="70200"/>
            </p14:xfrm>
          </p:contentPart>
        </mc:Choice>
        <mc:Fallback xmlns="">
          <p:pic>
            <p:nvPicPr>
              <p:cNvPr id="29" name="Freihand 28">
                <a:extLst>
                  <a:ext uri="{FF2B5EF4-FFF2-40B4-BE49-F238E27FC236}">
                    <a16:creationId xmlns:a16="http://schemas.microsoft.com/office/drawing/2014/main" id="{6566A4D0-DDAB-9F38-D64E-5ACA1D06E06C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917400" y="2639314"/>
                <a:ext cx="853560" cy="285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211510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6B4A6C-5C10-8FA3-1C9E-670ECA789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Evaluation (weighted sentiment vs sentiment)</a:t>
            </a:r>
            <a:endParaRPr lang="de-AT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11CF8709-C5C7-B9EC-DC99-525BC2287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132808"/>
            <a:ext cx="2329604" cy="234049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708A9552-19E0-0304-44D8-C0705C1693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651" y="1651810"/>
            <a:ext cx="3162383" cy="23404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Freihand 10">
                <a:extLst>
                  <a:ext uri="{FF2B5EF4-FFF2-40B4-BE49-F238E27FC236}">
                    <a16:creationId xmlns:a16="http://schemas.microsoft.com/office/drawing/2014/main" id="{368BF097-5422-374C-A53A-455E5409CAC5}"/>
                  </a:ext>
                </a:extLst>
              </p14:cNvPr>
              <p14:cNvContentPartPr/>
              <p14:nvPr/>
            </p14:nvContentPartPr>
            <p14:xfrm>
              <a:off x="2334500" y="3633243"/>
              <a:ext cx="1332360" cy="44280"/>
            </p14:xfrm>
          </p:contentPart>
        </mc:Choice>
        <mc:Fallback xmlns="">
          <p:pic>
            <p:nvPicPr>
              <p:cNvPr id="11" name="Freihand 10">
                <a:extLst>
                  <a:ext uri="{FF2B5EF4-FFF2-40B4-BE49-F238E27FC236}">
                    <a16:creationId xmlns:a16="http://schemas.microsoft.com/office/drawing/2014/main" id="{368BF097-5422-374C-A53A-455E5409CAC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280860" y="3525243"/>
                <a:ext cx="1440000" cy="25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3" name="Freihand 12">
                <a:extLst>
                  <a:ext uri="{FF2B5EF4-FFF2-40B4-BE49-F238E27FC236}">
                    <a16:creationId xmlns:a16="http://schemas.microsoft.com/office/drawing/2014/main" id="{2AC26CF6-4C9B-1CE2-804F-BACF59531AA1}"/>
                  </a:ext>
                </a:extLst>
              </p14:cNvPr>
              <p14:cNvContentPartPr/>
              <p14:nvPr/>
            </p14:nvContentPartPr>
            <p14:xfrm>
              <a:off x="5311340" y="2460723"/>
              <a:ext cx="1600200" cy="9720"/>
            </p14:xfrm>
          </p:contentPart>
        </mc:Choice>
        <mc:Fallback xmlns="">
          <p:pic>
            <p:nvPicPr>
              <p:cNvPr id="13" name="Freihand 12">
                <a:extLst>
                  <a:ext uri="{FF2B5EF4-FFF2-40B4-BE49-F238E27FC236}">
                    <a16:creationId xmlns:a16="http://schemas.microsoft.com/office/drawing/2014/main" id="{2AC26CF6-4C9B-1CE2-804F-BACF59531AA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257340" y="2353083"/>
                <a:ext cx="1707840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7" name="Freihand 16">
                <a:extLst>
                  <a:ext uri="{FF2B5EF4-FFF2-40B4-BE49-F238E27FC236}">
                    <a16:creationId xmlns:a16="http://schemas.microsoft.com/office/drawing/2014/main" id="{87DEE348-A5C7-EA9C-3B5D-73FED591D73C}"/>
                  </a:ext>
                </a:extLst>
              </p14:cNvPr>
              <p14:cNvContentPartPr/>
              <p14:nvPr/>
            </p14:nvContentPartPr>
            <p14:xfrm>
              <a:off x="4259778" y="4645126"/>
              <a:ext cx="2045520" cy="26640"/>
            </p14:xfrm>
          </p:contentPart>
        </mc:Choice>
        <mc:Fallback xmlns="">
          <p:pic>
            <p:nvPicPr>
              <p:cNvPr id="17" name="Freihand 16">
                <a:extLst>
                  <a:ext uri="{FF2B5EF4-FFF2-40B4-BE49-F238E27FC236}">
                    <a16:creationId xmlns:a16="http://schemas.microsoft.com/office/drawing/2014/main" id="{87DEE348-A5C7-EA9C-3B5D-73FED591D73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205778" y="4537486"/>
                <a:ext cx="2153160" cy="24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8" name="Freihand 17">
                <a:extLst>
                  <a:ext uri="{FF2B5EF4-FFF2-40B4-BE49-F238E27FC236}">
                    <a16:creationId xmlns:a16="http://schemas.microsoft.com/office/drawing/2014/main" id="{29EAE0C6-9D9B-8AA8-FCD3-FA86E5395405}"/>
                  </a:ext>
                </a:extLst>
              </p14:cNvPr>
              <p14:cNvContentPartPr/>
              <p14:nvPr/>
            </p14:nvContentPartPr>
            <p14:xfrm>
              <a:off x="4190298" y="5044006"/>
              <a:ext cx="1963080" cy="22320"/>
            </p14:xfrm>
          </p:contentPart>
        </mc:Choice>
        <mc:Fallback xmlns="">
          <p:pic>
            <p:nvPicPr>
              <p:cNvPr id="18" name="Freihand 17">
                <a:extLst>
                  <a:ext uri="{FF2B5EF4-FFF2-40B4-BE49-F238E27FC236}">
                    <a16:creationId xmlns:a16="http://schemas.microsoft.com/office/drawing/2014/main" id="{29EAE0C6-9D9B-8AA8-FCD3-FA86E539540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136658" y="4936006"/>
                <a:ext cx="2070720" cy="23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9" name="Freihand 18">
                <a:extLst>
                  <a:ext uri="{FF2B5EF4-FFF2-40B4-BE49-F238E27FC236}">
                    <a16:creationId xmlns:a16="http://schemas.microsoft.com/office/drawing/2014/main" id="{DF5CCBA8-3891-8E31-0CF8-AFE6686DC70E}"/>
                  </a:ext>
                </a:extLst>
              </p14:cNvPr>
              <p14:cNvContentPartPr/>
              <p14:nvPr/>
            </p14:nvContentPartPr>
            <p14:xfrm>
              <a:off x="4181658" y="5222926"/>
              <a:ext cx="2228400" cy="38880"/>
            </p14:xfrm>
          </p:contentPart>
        </mc:Choice>
        <mc:Fallback xmlns="">
          <p:pic>
            <p:nvPicPr>
              <p:cNvPr id="19" name="Freihand 18">
                <a:extLst>
                  <a:ext uri="{FF2B5EF4-FFF2-40B4-BE49-F238E27FC236}">
                    <a16:creationId xmlns:a16="http://schemas.microsoft.com/office/drawing/2014/main" id="{DF5CCBA8-3891-8E31-0CF8-AFE6686DC70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128018" y="5114926"/>
                <a:ext cx="2336040" cy="25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0" name="Freihand 19">
                <a:extLst>
                  <a:ext uri="{FF2B5EF4-FFF2-40B4-BE49-F238E27FC236}">
                    <a16:creationId xmlns:a16="http://schemas.microsoft.com/office/drawing/2014/main" id="{4676C0A9-243E-AF0C-AD2E-F86C4DA0083F}"/>
                  </a:ext>
                </a:extLst>
              </p14:cNvPr>
              <p14:cNvContentPartPr/>
              <p14:nvPr/>
            </p14:nvContentPartPr>
            <p14:xfrm>
              <a:off x="2058378" y="6031846"/>
              <a:ext cx="1174320" cy="61560"/>
            </p14:xfrm>
          </p:contentPart>
        </mc:Choice>
        <mc:Fallback xmlns="">
          <p:pic>
            <p:nvPicPr>
              <p:cNvPr id="20" name="Freihand 19">
                <a:extLst>
                  <a:ext uri="{FF2B5EF4-FFF2-40B4-BE49-F238E27FC236}">
                    <a16:creationId xmlns:a16="http://schemas.microsoft.com/office/drawing/2014/main" id="{4676C0A9-243E-AF0C-AD2E-F86C4DA0083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004378" y="5923846"/>
                <a:ext cx="1281960" cy="27720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Inhaltsplatzhalter 21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5C1F59E2-975C-4C9A-6716-7239CB47BA42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8200" y="1876684"/>
            <a:ext cx="8295131" cy="2139099"/>
          </a:xfrm>
          <a:prstGeom prst="rect">
            <a:avLst/>
          </a:prstGeom>
        </p:spPr>
      </p:pic>
      <p:pic>
        <p:nvPicPr>
          <p:cNvPr id="12" name="Grafik 11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A965EF44-9C9E-43B6-2399-1DF7B5388A8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38200" y="4366857"/>
            <a:ext cx="8371333" cy="210099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4" name="Freihand 13">
                <a:extLst>
                  <a:ext uri="{FF2B5EF4-FFF2-40B4-BE49-F238E27FC236}">
                    <a16:creationId xmlns:a16="http://schemas.microsoft.com/office/drawing/2014/main" id="{36C2D5CB-7E7A-788B-ABEF-2BF317511D78}"/>
                  </a:ext>
                </a:extLst>
              </p14:cNvPr>
              <p14:cNvContentPartPr/>
              <p14:nvPr/>
            </p14:nvContentPartPr>
            <p14:xfrm>
              <a:off x="2368680" y="3531754"/>
              <a:ext cx="1362600" cy="39240"/>
            </p14:xfrm>
          </p:contentPart>
        </mc:Choice>
        <mc:Fallback xmlns="">
          <p:pic>
            <p:nvPicPr>
              <p:cNvPr id="14" name="Freihand 13">
                <a:extLst>
                  <a:ext uri="{FF2B5EF4-FFF2-40B4-BE49-F238E27FC236}">
                    <a16:creationId xmlns:a16="http://schemas.microsoft.com/office/drawing/2014/main" id="{36C2D5CB-7E7A-788B-ABEF-2BF317511D7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314680" y="3423754"/>
                <a:ext cx="1470240" cy="25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5" name="Freihand 14">
                <a:extLst>
                  <a:ext uri="{FF2B5EF4-FFF2-40B4-BE49-F238E27FC236}">
                    <a16:creationId xmlns:a16="http://schemas.microsoft.com/office/drawing/2014/main" id="{BF4E0685-3408-D2E1-A91C-9148CF67E21E}"/>
                  </a:ext>
                </a:extLst>
              </p14:cNvPr>
              <p14:cNvContentPartPr/>
              <p14:nvPr/>
            </p14:nvContentPartPr>
            <p14:xfrm>
              <a:off x="2128920" y="6265234"/>
              <a:ext cx="1371240" cy="88200"/>
            </p14:xfrm>
          </p:contentPart>
        </mc:Choice>
        <mc:Fallback xmlns="">
          <p:pic>
            <p:nvPicPr>
              <p:cNvPr id="15" name="Freihand 14">
                <a:extLst>
                  <a:ext uri="{FF2B5EF4-FFF2-40B4-BE49-F238E27FC236}">
                    <a16:creationId xmlns:a16="http://schemas.microsoft.com/office/drawing/2014/main" id="{BF4E0685-3408-D2E1-A91C-9148CF67E21E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075280" y="6157594"/>
                <a:ext cx="1478880" cy="30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6" name="Freihand 15">
                <a:extLst>
                  <a:ext uri="{FF2B5EF4-FFF2-40B4-BE49-F238E27FC236}">
                    <a16:creationId xmlns:a16="http://schemas.microsoft.com/office/drawing/2014/main" id="{C0AAE434-E702-E6DE-D89C-3CB360AC28E9}"/>
                  </a:ext>
                </a:extLst>
              </p14:cNvPr>
              <p14:cNvContentPartPr/>
              <p14:nvPr/>
            </p14:nvContentPartPr>
            <p14:xfrm>
              <a:off x="3666120" y="4587994"/>
              <a:ext cx="1045800" cy="84240"/>
            </p14:xfrm>
          </p:contentPart>
        </mc:Choice>
        <mc:Fallback xmlns="">
          <p:pic>
            <p:nvPicPr>
              <p:cNvPr id="16" name="Freihand 15">
                <a:extLst>
                  <a:ext uri="{FF2B5EF4-FFF2-40B4-BE49-F238E27FC236}">
                    <a16:creationId xmlns:a16="http://schemas.microsoft.com/office/drawing/2014/main" id="{C0AAE434-E702-E6DE-D89C-3CB360AC28E9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612120" y="4480354"/>
                <a:ext cx="1153440" cy="29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1" name="Freihand 20">
                <a:extLst>
                  <a:ext uri="{FF2B5EF4-FFF2-40B4-BE49-F238E27FC236}">
                    <a16:creationId xmlns:a16="http://schemas.microsoft.com/office/drawing/2014/main" id="{C6122D9C-32CE-7E33-E69A-9C922F876397}"/>
                  </a:ext>
                </a:extLst>
              </p14:cNvPr>
              <p14:cNvContentPartPr/>
              <p14:nvPr/>
            </p14:nvContentPartPr>
            <p14:xfrm>
              <a:off x="3544080" y="4924594"/>
              <a:ext cx="1149840" cy="65880"/>
            </p14:xfrm>
          </p:contentPart>
        </mc:Choice>
        <mc:Fallback xmlns="">
          <p:pic>
            <p:nvPicPr>
              <p:cNvPr id="21" name="Freihand 20">
                <a:extLst>
                  <a:ext uri="{FF2B5EF4-FFF2-40B4-BE49-F238E27FC236}">
                    <a16:creationId xmlns:a16="http://schemas.microsoft.com/office/drawing/2014/main" id="{C6122D9C-32CE-7E33-E69A-9C922F87639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490440" y="4816594"/>
                <a:ext cx="1257480" cy="28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2" name="Freihand 21">
                <a:extLst>
                  <a:ext uri="{FF2B5EF4-FFF2-40B4-BE49-F238E27FC236}">
                    <a16:creationId xmlns:a16="http://schemas.microsoft.com/office/drawing/2014/main" id="{46A3A0D0-4BE9-503A-DB96-720B34146709}"/>
                  </a:ext>
                </a:extLst>
              </p14:cNvPr>
              <p14:cNvContentPartPr/>
              <p14:nvPr/>
            </p14:nvContentPartPr>
            <p14:xfrm>
              <a:off x="3435360" y="5133394"/>
              <a:ext cx="1184040" cy="80280"/>
            </p14:xfrm>
          </p:contentPart>
        </mc:Choice>
        <mc:Fallback xmlns="">
          <p:pic>
            <p:nvPicPr>
              <p:cNvPr id="22" name="Freihand 21">
                <a:extLst>
                  <a:ext uri="{FF2B5EF4-FFF2-40B4-BE49-F238E27FC236}">
                    <a16:creationId xmlns:a16="http://schemas.microsoft.com/office/drawing/2014/main" id="{46A3A0D0-4BE9-503A-DB96-720B34146709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381720" y="5025394"/>
                <a:ext cx="1291680" cy="29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3" name="Freihand 22">
                <a:extLst>
                  <a:ext uri="{FF2B5EF4-FFF2-40B4-BE49-F238E27FC236}">
                    <a16:creationId xmlns:a16="http://schemas.microsoft.com/office/drawing/2014/main" id="{EB176664-B5F9-B338-9B22-70CECEF453B2}"/>
                  </a:ext>
                </a:extLst>
              </p14:cNvPr>
              <p14:cNvContentPartPr/>
              <p14:nvPr/>
            </p14:nvContentPartPr>
            <p14:xfrm>
              <a:off x="3657480" y="5340034"/>
              <a:ext cx="1002960" cy="99360"/>
            </p14:xfrm>
          </p:contentPart>
        </mc:Choice>
        <mc:Fallback xmlns="">
          <p:pic>
            <p:nvPicPr>
              <p:cNvPr id="23" name="Freihand 22">
                <a:extLst>
                  <a:ext uri="{FF2B5EF4-FFF2-40B4-BE49-F238E27FC236}">
                    <a16:creationId xmlns:a16="http://schemas.microsoft.com/office/drawing/2014/main" id="{EB176664-B5F9-B338-9B22-70CECEF453B2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603480" y="5232034"/>
                <a:ext cx="1110600" cy="31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4" name="Freihand 23">
                <a:extLst>
                  <a:ext uri="{FF2B5EF4-FFF2-40B4-BE49-F238E27FC236}">
                    <a16:creationId xmlns:a16="http://schemas.microsoft.com/office/drawing/2014/main" id="{ADD638D9-AED1-7F31-6872-F89E3626E5B2}"/>
                  </a:ext>
                </a:extLst>
              </p14:cNvPr>
              <p14:cNvContentPartPr/>
              <p14:nvPr/>
            </p14:nvContentPartPr>
            <p14:xfrm>
              <a:off x="3574680" y="5355874"/>
              <a:ext cx="360" cy="360"/>
            </p14:xfrm>
          </p:contentPart>
        </mc:Choice>
        <mc:Fallback xmlns="">
          <p:pic>
            <p:nvPicPr>
              <p:cNvPr id="24" name="Freihand 23">
                <a:extLst>
                  <a:ext uri="{FF2B5EF4-FFF2-40B4-BE49-F238E27FC236}">
                    <a16:creationId xmlns:a16="http://schemas.microsoft.com/office/drawing/2014/main" id="{ADD638D9-AED1-7F31-6872-F89E3626E5B2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521040" y="5247874"/>
                <a:ext cx="108000" cy="21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441887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6EAF1D-2BF5-4481-3DC8-28F8E17E5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Sanity checks</a:t>
            </a:r>
            <a:endParaRPr lang="de-AT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7F595BD-2AC6-1117-14C9-42CBDE185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078" y="3912338"/>
            <a:ext cx="2781373" cy="234049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8629E87B-D80A-4530-A793-7A25C28FBC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078" y="1522824"/>
            <a:ext cx="3075295" cy="25582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Freihand 2">
                <a:extLst>
                  <a:ext uri="{FF2B5EF4-FFF2-40B4-BE49-F238E27FC236}">
                    <a16:creationId xmlns:a16="http://schemas.microsoft.com/office/drawing/2014/main" id="{C43E07F0-E898-E773-827E-A6C3A2501EA2}"/>
                  </a:ext>
                </a:extLst>
              </p14:cNvPr>
              <p14:cNvContentPartPr/>
              <p14:nvPr/>
            </p14:nvContentPartPr>
            <p14:xfrm>
              <a:off x="3674760" y="2987074"/>
              <a:ext cx="360" cy="360"/>
            </p14:xfrm>
          </p:contentPart>
        </mc:Choice>
        <mc:Fallback xmlns="">
          <p:pic>
            <p:nvPicPr>
              <p:cNvPr id="3" name="Freihand 2">
                <a:extLst>
                  <a:ext uri="{FF2B5EF4-FFF2-40B4-BE49-F238E27FC236}">
                    <a16:creationId xmlns:a16="http://schemas.microsoft.com/office/drawing/2014/main" id="{C43E07F0-E898-E773-827E-A6C3A2501EA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20760" y="2879074"/>
                <a:ext cx="108000" cy="216000"/>
              </a:xfrm>
              <a:prstGeom prst="rect">
                <a:avLst/>
              </a:prstGeom>
            </p:spPr>
          </p:pic>
        </mc:Fallback>
      </mc:AlternateContent>
      <p:pic>
        <p:nvPicPr>
          <p:cNvPr id="10" name="Grafik 9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92576179-ACE2-8999-675A-1F57C8423B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078" y="1778645"/>
            <a:ext cx="8463864" cy="2122770"/>
          </a:xfrm>
          <a:prstGeom prst="rect">
            <a:avLst/>
          </a:prstGeom>
        </p:spPr>
      </p:pic>
      <p:pic>
        <p:nvPicPr>
          <p:cNvPr id="16" name="Grafik 15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5188C480-7EDF-1AFB-7F75-F7631505C8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5078" y="4146387"/>
            <a:ext cx="7952222" cy="2100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5999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B2273D6-66C4-A5BE-5174-3FAAA28E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AT" sz="4000">
                <a:solidFill>
                  <a:srgbClr val="FFFFFF"/>
                </a:solidFill>
              </a:rPr>
              <a:t>Conclusion/Discussion</a:t>
            </a:r>
            <a:endParaRPr lang="de-AT" sz="4000">
              <a:solidFill>
                <a:srgbClr val="FFFFFF"/>
              </a:solidFill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5FB7873-410F-150F-8D24-496C392CC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AT" sz="2000" b="1" dirty="0"/>
              <a:t>Effective market hypothesis holds for the performed experiments</a:t>
            </a:r>
          </a:p>
          <a:p>
            <a:pPr marL="0" indent="0">
              <a:buNone/>
            </a:pPr>
            <a:endParaRPr lang="en-AT" sz="2000" b="1" dirty="0"/>
          </a:p>
          <a:p>
            <a:pPr marL="0" indent="0">
              <a:buNone/>
            </a:pPr>
            <a:endParaRPr lang="en-AT" sz="2000" dirty="0"/>
          </a:p>
          <a:p>
            <a:r>
              <a:rPr lang="en-AT" sz="2000" dirty="0"/>
              <a:t>Intra day sentiment may give better signals</a:t>
            </a:r>
          </a:p>
          <a:p>
            <a:r>
              <a:rPr lang="en-AT" sz="2000" dirty="0"/>
              <a:t>Full article instead of only headlines</a:t>
            </a:r>
          </a:p>
          <a:p>
            <a:r>
              <a:rPr lang="en-AT" sz="2000" dirty="0"/>
              <a:t>More datapoints for Deep Learning</a:t>
            </a:r>
            <a:endParaRPr lang="de-AT" sz="2000" dirty="0"/>
          </a:p>
        </p:txBody>
      </p:sp>
    </p:spTree>
    <p:extLst>
      <p:ext uri="{BB962C8B-B14F-4D97-AF65-F5344CB8AC3E}">
        <p14:creationId xmlns:p14="http://schemas.microsoft.com/office/powerpoint/2010/main" val="35986838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D0C161C2-DE3C-B66A-724F-33540B43E5B1}"/>
              </a:ext>
            </a:extLst>
          </p:cNvPr>
          <p:cNvSpPr txBox="1"/>
          <p:nvPr/>
        </p:nvSpPr>
        <p:spPr>
          <a:xfrm>
            <a:off x="3319862" y="3167390"/>
            <a:ext cx="55522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T" sz="3200" dirty="0"/>
              <a:t>Thank You for Your Attention</a:t>
            </a:r>
            <a:endParaRPr lang="de-AT" sz="3200" dirty="0"/>
          </a:p>
        </p:txBody>
      </p:sp>
    </p:spTree>
    <p:extLst>
      <p:ext uri="{BB962C8B-B14F-4D97-AF65-F5344CB8AC3E}">
        <p14:creationId xmlns:p14="http://schemas.microsoft.com/office/powerpoint/2010/main" val="31280942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419</Words>
  <Application>Microsoft Office PowerPoint</Application>
  <PresentationFormat>Breitbild</PresentationFormat>
  <Paragraphs>79</Paragraphs>
  <Slides>15</Slides>
  <Notes>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</vt:lpstr>
      <vt:lpstr>Sentiment Analysis in financial Forecasting</vt:lpstr>
      <vt:lpstr>Idea &amp; Research Question</vt:lpstr>
      <vt:lpstr>The Debate</vt:lpstr>
      <vt:lpstr>Methods</vt:lpstr>
      <vt:lpstr>Impact Scoring</vt:lpstr>
      <vt:lpstr>The Pipeline / Prototype</vt:lpstr>
      <vt:lpstr>Correlations</vt:lpstr>
      <vt:lpstr>Experiment setup</vt:lpstr>
      <vt:lpstr>Evaluation (sentiment vs mean baseline)</vt:lpstr>
      <vt:lpstr>Evaluation (sentiment+tech vs tech)</vt:lpstr>
      <vt:lpstr>Evaluation (rolling sentiment vs sentiment)</vt:lpstr>
      <vt:lpstr>Evaluation (weighted sentiment vs sentiment)</vt:lpstr>
      <vt:lpstr>Sanity checks</vt:lpstr>
      <vt:lpstr>Conclusion/Discussion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Höchtl</dc:creator>
  <cp:lastModifiedBy>David Höchtl</cp:lastModifiedBy>
  <cp:revision>7</cp:revision>
  <dcterms:created xsi:type="dcterms:W3CDTF">2026-01-15T13:17:11Z</dcterms:created>
  <dcterms:modified xsi:type="dcterms:W3CDTF">2026-01-21T15:23:17Z</dcterms:modified>
</cp:coreProperties>
</file>