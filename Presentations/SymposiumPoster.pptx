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30240288" cy="42840275"/>
  <p:notesSz cx="6858000" cy="9144000"/>
  <p:defaultTextStyle>
    <a:defPPr>
      <a:defRPr lang="de-DE"/>
    </a:defPPr>
    <a:lvl1pPr marL="0" algn="l" defTabSz="3505524" rtl="0" eaLnBrk="1" latinLnBrk="0" hangingPunct="1">
      <a:defRPr sz="6896" kern="1200">
        <a:solidFill>
          <a:schemeClr val="tx1"/>
        </a:solidFill>
        <a:latin typeface="+mn-lt"/>
        <a:ea typeface="+mn-ea"/>
        <a:cs typeface="+mn-cs"/>
      </a:defRPr>
    </a:lvl1pPr>
    <a:lvl2pPr marL="1752765" algn="l" defTabSz="3505524" rtl="0" eaLnBrk="1" latinLnBrk="0" hangingPunct="1">
      <a:defRPr sz="6896" kern="1200">
        <a:solidFill>
          <a:schemeClr val="tx1"/>
        </a:solidFill>
        <a:latin typeface="+mn-lt"/>
        <a:ea typeface="+mn-ea"/>
        <a:cs typeface="+mn-cs"/>
      </a:defRPr>
    </a:lvl2pPr>
    <a:lvl3pPr marL="3505524" algn="l" defTabSz="3505524" rtl="0" eaLnBrk="1" latinLnBrk="0" hangingPunct="1">
      <a:defRPr sz="6896" kern="1200">
        <a:solidFill>
          <a:schemeClr val="tx1"/>
        </a:solidFill>
        <a:latin typeface="+mn-lt"/>
        <a:ea typeface="+mn-ea"/>
        <a:cs typeface="+mn-cs"/>
      </a:defRPr>
    </a:lvl3pPr>
    <a:lvl4pPr marL="5258293" algn="l" defTabSz="3505524" rtl="0" eaLnBrk="1" latinLnBrk="0" hangingPunct="1">
      <a:defRPr sz="6896" kern="1200">
        <a:solidFill>
          <a:schemeClr val="tx1"/>
        </a:solidFill>
        <a:latin typeface="+mn-lt"/>
        <a:ea typeface="+mn-ea"/>
        <a:cs typeface="+mn-cs"/>
      </a:defRPr>
    </a:lvl4pPr>
    <a:lvl5pPr marL="7011052" algn="l" defTabSz="3505524" rtl="0" eaLnBrk="1" latinLnBrk="0" hangingPunct="1">
      <a:defRPr sz="6896" kern="1200">
        <a:solidFill>
          <a:schemeClr val="tx1"/>
        </a:solidFill>
        <a:latin typeface="+mn-lt"/>
        <a:ea typeface="+mn-ea"/>
        <a:cs typeface="+mn-cs"/>
      </a:defRPr>
    </a:lvl5pPr>
    <a:lvl6pPr marL="8763811" algn="l" defTabSz="3505524" rtl="0" eaLnBrk="1" latinLnBrk="0" hangingPunct="1">
      <a:defRPr sz="6896" kern="1200">
        <a:solidFill>
          <a:schemeClr val="tx1"/>
        </a:solidFill>
        <a:latin typeface="+mn-lt"/>
        <a:ea typeface="+mn-ea"/>
        <a:cs typeface="+mn-cs"/>
      </a:defRPr>
    </a:lvl6pPr>
    <a:lvl7pPr marL="10516577" algn="l" defTabSz="3505524" rtl="0" eaLnBrk="1" latinLnBrk="0" hangingPunct="1">
      <a:defRPr sz="6896" kern="1200">
        <a:solidFill>
          <a:schemeClr val="tx1"/>
        </a:solidFill>
        <a:latin typeface="+mn-lt"/>
        <a:ea typeface="+mn-ea"/>
        <a:cs typeface="+mn-cs"/>
      </a:defRPr>
    </a:lvl7pPr>
    <a:lvl8pPr marL="12269339" algn="l" defTabSz="3505524" rtl="0" eaLnBrk="1" latinLnBrk="0" hangingPunct="1">
      <a:defRPr sz="6896" kern="1200">
        <a:solidFill>
          <a:schemeClr val="tx1"/>
        </a:solidFill>
        <a:latin typeface="+mn-lt"/>
        <a:ea typeface="+mn-ea"/>
        <a:cs typeface="+mn-cs"/>
      </a:defRPr>
    </a:lvl8pPr>
    <a:lvl9pPr marL="14022104" algn="l" defTabSz="3505524" rtl="0" eaLnBrk="1" latinLnBrk="0" hangingPunct="1">
      <a:defRPr sz="689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94" userDrawn="1">
          <p15:clr>
            <a:srgbClr val="A4A3A4"/>
          </p15:clr>
        </p15:guide>
        <p15:guide id="2" pos="95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 showGuides="1">
      <p:cViewPr varScale="1">
        <p:scale>
          <a:sx n="21" d="100"/>
          <a:sy n="21" d="100"/>
        </p:scale>
        <p:origin x="3552" y="137"/>
      </p:cViewPr>
      <p:guideLst>
        <p:guide orient="horz" pos="13494"/>
        <p:guide pos="952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0" d="100"/>
          <a:sy n="70" d="100"/>
        </p:scale>
        <p:origin x="231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18A84-A489-4C9B-B420-2A77C4B50547}" type="datetimeFigureOut">
              <a:rPr lang="de-AT" smtClean="0"/>
              <a:t>08.06.2026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339975" y="1143000"/>
            <a:ext cx="2178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004FA-9EBD-4581-A657-2BC9CFA6596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0369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C38CD4-3C37-4E45-81BA-065B159420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0200" y="1520825"/>
            <a:ext cx="22769946" cy="2053648"/>
          </a:xfrm>
          <a:prstGeom prst="rect">
            <a:avLst/>
          </a:prstGeom>
        </p:spPr>
        <p:txBody>
          <a:bodyPr anchor="ctr"/>
          <a:lstStyle>
            <a:lvl1pPr algn="ctr">
              <a:defRPr sz="8000">
                <a:solidFill>
                  <a:schemeClr val="accent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AT" dirty="0" err="1"/>
              <a:t>Postertitel</a:t>
            </a:r>
            <a:endParaRPr lang="de-AT" dirty="0"/>
          </a:p>
        </p:txBody>
      </p:sp>
      <p:sp>
        <p:nvSpPr>
          <p:cNvPr id="7" name="Inhaltsplatzhalter 3"/>
          <p:cNvSpPr>
            <a:spLocks noGrp="1"/>
          </p:cNvSpPr>
          <p:nvPr>
            <p:ph sz="quarter" idx="10" hasCustomPrompt="1"/>
          </p:nvPr>
        </p:nvSpPr>
        <p:spPr>
          <a:xfrm>
            <a:off x="2078182" y="4610100"/>
            <a:ext cx="26101963" cy="3612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1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POSTER A0 hoch</a:t>
            </a:r>
            <a:br>
              <a:rPr lang="de-DE" dirty="0"/>
            </a:br>
            <a:br>
              <a:rPr lang="de-DE" dirty="0"/>
            </a:br>
            <a:r>
              <a:rPr lang="de-DE" dirty="0"/>
              <a:t>Bitte die Schriftart Arial </a:t>
            </a:r>
            <a:br>
              <a:rPr lang="de-DE" dirty="0"/>
            </a:br>
            <a:r>
              <a:rPr lang="de-DE" dirty="0"/>
              <a:t>und FH Technikum Farben verwenden.</a:t>
            </a:r>
            <a:br>
              <a:rPr lang="de-DE" dirty="0"/>
            </a:br>
            <a:br>
              <a:rPr lang="de-DE" dirty="0"/>
            </a:br>
            <a:r>
              <a:rPr lang="de-DE" dirty="0"/>
              <a:t>Danke!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2402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3DBB2172-A59F-44CA-99F3-B16A78B07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522255" y="1279153"/>
            <a:ext cx="27322909" cy="40450738"/>
          </a:xfrm>
          <a:prstGeom prst="rect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372" tIns="3686" rIns="7372" bIns="3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de-AT" sz="556"/>
          </a:p>
        </p:txBody>
      </p:sp>
      <p:pic>
        <p:nvPicPr>
          <p:cNvPr id="4" name="Grafik 3" descr="University of Applied Sciences Technikum Wien">
            <a:extLst>
              <a:ext uri="{FF2B5EF4-FFF2-40B4-BE49-F238E27FC236}">
                <a16:creationId xmlns:a16="http://schemas.microsoft.com/office/drawing/2014/main" id="{EDB008F6-3BBC-4710-88D9-4AF77CB5A2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2255" y="1279153"/>
            <a:ext cx="4123505" cy="259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477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244068" rtl="0" eaLnBrk="1" latinLnBrk="0" hangingPunct="1">
        <a:lnSpc>
          <a:spcPct val="90000"/>
        </a:lnSpc>
        <a:spcBef>
          <a:spcPct val="0"/>
        </a:spcBef>
        <a:buNone/>
        <a:defRPr sz="11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1017" indent="-61017" algn="l" defTabSz="244068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747" kern="1200">
          <a:solidFill>
            <a:schemeClr val="tx1"/>
          </a:solidFill>
          <a:latin typeface="+mn-lt"/>
          <a:ea typeface="+mn-ea"/>
          <a:cs typeface="+mn-cs"/>
        </a:defRPr>
      </a:lvl1pPr>
      <a:lvl2pPr marL="183051" indent="-61017" algn="l" defTabSz="244068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sz="641" kern="1200">
          <a:solidFill>
            <a:schemeClr val="tx1"/>
          </a:solidFill>
          <a:latin typeface="+mn-lt"/>
          <a:ea typeface="+mn-ea"/>
          <a:cs typeface="+mn-cs"/>
        </a:defRPr>
      </a:lvl2pPr>
      <a:lvl3pPr marL="305086" indent="-61017" algn="l" defTabSz="244068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sz="533" kern="1200">
          <a:solidFill>
            <a:schemeClr val="tx1"/>
          </a:solidFill>
          <a:latin typeface="+mn-lt"/>
          <a:ea typeface="+mn-ea"/>
          <a:cs typeface="+mn-cs"/>
        </a:defRPr>
      </a:lvl3pPr>
      <a:lvl4pPr marL="427120" indent="-61017" algn="l" defTabSz="244068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4pPr>
      <a:lvl5pPr marL="549154" indent="-61017" algn="l" defTabSz="244068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5pPr>
      <a:lvl6pPr marL="671189" indent="-61017" algn="l" defTabSz="244068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93223" indent="-61017" algn="l" defTabSz="244068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915257" indent="-61017" algn="l" defTabSz="244068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1037291" indent="-61017" algn="l" defTabSz="244068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4068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1pPr>
      <a:lvl2pPr marL="122035" algn="l" defTabSz="244068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2pPr>
      <a:lvl3pPr marL="244068" algn="l" defTabSz="244068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3pPr>
      <a:lvl4pPr marL="366104" algn="l" defTabSz="244068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4pPr>
      <a:lvl5pPr marL="488138" algn="l" defTabSz="244068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5pPr>
      <a:lvl6pPr marL="610172" algn="l" defTabSz="244068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32206" algn="l" defTabSz="244068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854240" algn="l" defTabSz="244068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976275" algn="l" defTabSz="244068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CA439B87-A59F-8BC4-AA20-C25C31F04DAC}"/>
              </a:ext>
            </a:extLst>
          </p:cNvPr>
          <p:cNvSpPr txBox="1"/>
          <p:nvPr/>
        </p:nvSpPr>
        <p:spPr>
          <a:xfrm>
            <a:off x="6310502" y="1863881"/>
            <a:ext cx="236511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sz="8800" dirty="0">
                <a:solidFill>
                  <a:schemeClr val="accent1"/>
                </a:solidFill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Stock market prediction with LLMs</a:t>
            </a:r>
            <a:endParaRPr lang="de-AT" sz="8800" dirty="0">
              <a:solidFill>
                <a:schemeClr val="accent1"/>
              </a:solidFill>
              <a:latin typeface="Arial Black" panose="020B0A040201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0E7E290-59D5-8775-83C0-AA345E2F1B77}"/>
              </a:ext>
            </a:extLst>
          </p:cNvPr>
          <p:cNvSpPr txBox="1"/>
          <p:nvPr/>
        </p:nvSpPr>
        <p:spPr>
          <a:xfrm>
            <a:off x="2486865" y="11211373"/>
            <a:ext cx="19346322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sz="6000" b="1" u="sng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Methods: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AT" sz="4800" b="1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Combine multiple headline datasets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AT" sz="4800" b="1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Use LLMs (e.g. </a:t>
            </a:r>
            <a:r>
              <a:rPr lang="en-AT" sz="4800" b="1" dirty="0" err="1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FinBERT</a:t>
            </a:r>
            <a:r>
              <a:rPr lang="en-AT" sz="4800" b="1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) to extract investor mood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AT" sz="4800" b="1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Perform denoising via an impact score model (L</a:t>
            </a:r>
            <a:r>
              <a:rPr lang="en-GB" sz="4800" b="1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l</a:t>
            </a:r>
            <a:r>
              <a:rPr lang="en-AT" sz="4800" b="1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ama 3.1 Instruct (8B))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AT" sz="4800" b="1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Use this feature in classification and regression tasks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AT" sz="4800" b="1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Cross validate on multiple evaluation models and experiment variations</a:t>
            </a:r>
            <a:endParaRPr lang="de-AT" sz="4800" b="1" dirty="0">
              <a:solidFill>
                <a:schemeClr val="accent1"/>
              </a:solidFill>
              <a:ea typeface="+mj-ea"/>
              <a:cs typeface="Arial" panose="020B0604020202020204" pitchFamily="34" charset="0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86D2774-4A0C-729A-768D-076CEAC0D3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4794" y="10039617"/>
            <a:ext cx="6157332" cy="386194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862040BC-47E6-6A27-C962-2887FC012E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367" y="16596143"/>
            <a:ext cx="25265188" cy="7582519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13E5F995-7FFD-7AE3-2F0F-7C84AB0DDA0A}"/>
              </a:ext>
            </a:extLst>
          </p:cNvPr>
          <p:cNvSpPr txBox="1"/>
          <p:nvPr/>
        </p:nvSpPr>
        <p:spPr>
          <a:xfrm>
            <a:off x="2498367" y="24479217"/>
            <a:ext cx="2408230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T" sz="6000" b="1" u="sng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Results:</a:t>
            </a:r>
            <a:br>
              <a:rPr lang="en-AT" sz="4800" b="1" u="sng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</a:br>
            <a:r>
              <a:rPr lang="en-AT" sz="4800" b="1" dirty="0">
                <a:solidFill>
                  <a:schemeClr val="accent1"/>
                </a:solidFill>
                <a:cs typeface="Arial" panose="020B0604020202020204" pitchFamily="34" charset="0"/>
              </a:rPr>
              <a:t>(performance compared to predictions using only yesterday’s price changes)</a:t>
            </a:r>
            <a:endParaRPr lang="en-AT" sz="4800" b="1" dirty="0">
              <a:solidFill>
                <a:schemeClr val="accent1"/>
              </a:solidFill>
              <a:ea typeface="+mj-ea"/>
              <a:cs typeface="Arial" panose="020B0604020202020204" pitchFamily="34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FD1871D8-8D6C-47BE-256C-59FFAA4F68CA}"/>
              </a:ext>
            </a:extLst>
          </p:cNvPr>
          <p:cNvSpPr txBox="1"/>
          <p:nvPr/>
        </p:nvSpPr>
        <p:spPr>
          <a:xfrm>
            <a:off x="2460740" y="5338419"/>
            <a:ext cx="21095946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sz="6000" b="1" u="sng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Introduction: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AT" sz="4800" b="1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Rapid advances in Natural Language Processing (NLP) [1] have created new opportunities for understanding the stock market movements.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AT" sz="4800" b="1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Efficient Market Hypothesis (EMH) states that all information is priced in [2]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AT" sz="4800" b="1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Mixed results in literature [3] </a:t>
            </a:r>
            <a:r>
              <a:rPr lang="en-AT" sz="4800" b="1" dirty="0">
                <a:solidFill>
                  <a:schemeClr val="accent1"/>
                </a:solidFill>
                <a:cs typeface="Arial" panose="020B0604020202020204" pitchFamily="34" charset="0"/>
              </a:rPr>
              <a:t>[4] [5] </a:t>
            </a:r>
            <a:endParaRPr lang="en-AT" sz="4800" b="1" dirty="0">
              <a:solidFill>
                <a:schemeClr val="accent1"/>
              </a:solidFill>
              <a:ea typeface="+mj-ea"/>
              <a:cs typeface="Arial" panose="020B0604020202020204" pitchFamily="34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AT" sz="4800" b="1" u="sng" dirty="0">
                <a:solidFill>
                  <a:schemeClr val="accent1"/>
                </a:solidFill>
                <a:cs typeface="Arial" panose="020B0604020202020204" pitchFamily="34" charset="0"/>
              </a:rPr>
              <a:t>Research Question: </a:t>
            </a:r>
            <a:r>
              <a:rPr lang="en-AT" sz="4800" b="1" dirty="0">
                <a:solidFill>
                  <a:schemeClr val="accent1"/>
                </a:solidFill>
                <a:cs typeface="Arial" panose="020B0604020202020204" pitchFamily="34" charset="0"/>
              </a:rPr>
              <a:t>Can daily aggregated sentiment extracted from news headlines improve prediction accuracy for S&amp;P 500 stock prices?</a:t>
            </a:r>
            <a:endParaRPr lang="de-AT" sz="4800" b="1" dirty="0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68F1F34A-E55A-BA42-2E15-230E9E2684A6}"/>
              </a:ext>
            </a:extLst>
          </p:cNvPr>
          <p:cNvSpPr txBox="1"/>
          <p:nvPr/>
        </p:nvSpPr>
        <p:spPr>
          <a:xfrm>
            <a:off x="11150055" y="3480304"/>
            <a:ext cx="1729207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T" sz="4800" b="1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Author: David Höchtl BSc.</a:t>
            </a:r>
          </a:p>
          <a:p>
            <a:pPr algn="r"/>
            <a:r>
              <a:rPr lang="en-AT" sz="4800" b="1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Supervisor: Dr. </a:t>
            </a:r>
            <a:r>
              <a:rPr lang="en-AT" sz="4800" b="1" dirty="0" err="1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rer</a:t>
            </a:r>
            <a:r>
              <a:rPr lang="en-AT" sz="4800" b="1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. nat. Sharwin </a:t>
            </a:r>
            <a:r>
              <a:rPr lang="en-AT" sz="4800" b="1" dirty="0" err="1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Rezagholi</a:t>
            </a:r>
            <a:r>
              <a:rPr lang="en-AT" sz="4800" b="1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, MSc.</a:t>
            </a:r>
          </a:p>
          <a:p>
            <a:pPr algn="r"/>
            <a:r>
              <a:rPr lang="en-AT" sz="4800" b="1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Year: 2026</a:t>
            </a:r>
          </a:p>
          <a:p>
            <a:pPr algn="r"/>
            <a:endParaRPr lang="de-AT" sz="4400" b="1" dirty="0">
              <a:solidFill>
                <a:schemeClr val="accent1"/>
              </a:solidFill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663F039F-405F-CAA3-D1EA-46B0C0DAA6BE}"/>
              </a:ext>
            </a:extLst>
          </p:cNvPr>
          <p:cNvSpPr txBox="1"/>
          <p:nvPr/>
        </p:nvSpPr>
        <p:spPr>
          <a:xfrm>
            <a:off x="3147368" y="36072176"/>
            <a:ext cx="259552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sz="4800" b="1" dirty="0">
                <a:solidFill>
                  <a:srgbClr val="FF0000"/>
                </a:solidFill>
                <a:ea typeface="+mj-ea"/>
                <a:cs typeface="Arial" panose="020B0604020202020204" pitchFamily="34" charset="0"/>
              </a:rPr>
              <a:t>In a fair, non-lookahead setup, there is no consistent benefit in using the engineered sentiment feature, suggesting that the EMH holds for the performed experiments.</a:t>
            </a:r>
            <a:endParaRPr lang="de-AT" sz="4800" b="1" dirty="0">
              <a:solidFill>
                <a:srgbClr val="FF0000"/>
              </a:solidFill>
              <a:ea typeface="+mj-ea"/>
              <a:cs typeface="Arial" panose="020B0604020202020204" pitchFamily="34" charset="0"/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17B7E304-7F0C-82E3-CFEB-7A1C0B83036B}"/>
              </a:ext>
            </a:extLst>
          </p:cNvPr>
          <p:cNvSpPr txBox="1"/>
          <p:nvPr/>
        </p:nvSpPr>
        <p:spPr>
          <a:xfrm>
            <a:off x="2498368" y="38061025"/>
            <a:ext cx="2564641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T" sz="5400" b="1" u="sng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References</a:t>
            </a:r>
            <a:r>
              <a:rPr lang="en-AT" sz="6600" b="1" u="sng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:</a:t>
            </a:r>
            <a:br>
              <a:rPr lang="en-AT" sz="7200" b="1" u="sng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</a:br>
            <a:r>
              <a:rPr lang="en-AT" sz="4000" b="1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[1] Araci (2019) "</a:t>
            </a:r>
            <a:r>
              <a:rPr lang="en-AT" sz="4000" b="1" dirty="0" err="1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Finbert</a:t>
            </a:r>
            <a:r>
              <a:rPr lang="en-AT" sz="4000" b="1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: Financial sentiment analysis..."; [2] Malkiel &amp; Fama (1970) "EFFICIENT CAPITAL MARKETS..."; [3] Davidovic &amp; McCleary (2025) "News Sentiment and Stock Market Dynamics..."; [4] Zhang et al. (2018) "A novel data-driven stock price..."; [5] </a:t>
            </a:r>
            <a:r>
              <a:rPr lang="en-AT" sz="4000" b="1" dirty="0" err="1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Farimani</a:t>
            </a:r>
            <a:r>
              <a:rPr lang="en-AT" sz="4000" b="1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 et al. (2022) "Investigating the informativeness..."</a:t>
            </a:r>
            <a:endParaRPr lang="en-AT" sz="4400" b="1" dirty="0">
              <a:solidFill>
                <a:schemeClr val="accent1"/>
              </a:solidFill>
              <a:ea typeface="+mj-ea"/>
              <a:cs typeface="Arial" panose="020B0604020202020204" pitchFamily="34" charset="0"/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7D9ED020-60DF-D945-F151-32DAAC0A2F78}"/>
              </a:ext>
            </a:extLst>
          </p:cNvPr>
          <p:cNvSpPr txBox="1"/>
          <p:nvPr/>
        </p:nvSpPr>
        <p:spPr>
          <a:xfrm>
            <a:off x="15470749" y="34096438"/>
            <a:ext cx="1262177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T" sz="4400" b="1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Figure 2: Performance delta with denoised sentiment as the sole predictor</a:t>
            </a:r>
            <a:endParaRPr lang="de-AT" sz="4400" b="1" dirty="0">
              <a:solidFill>
                <a:schemeClr val="accent1"/>
              </a:solidFill>
              <a:ea typeface="+mj-ea"/>
              <a:cs typeface="Arial" panose="020B0604020202020204" pitchFamily="34" charset="0"/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ED4B30DA-795D-8CCD-CDF5-9B39A2DBE3D4}"/>
              </a:ext>
            </a:extLst>
          </p:cNvPr>
          <p:cNvSpPr txBox="1"/>
          <p:nvPr/>
        </p:nvSpPr>
        <p:spPr>
          <a:xfrm>
            <a:off x="2605745" y="34258690"/>
            <a:ext cx="1262177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T" sz="4400" b="1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Figure 1: Performance delta with sentiment as the sole predictor</a:t>
            </a:r>
            <a:endParaRPr lang="de-AT" sz="4400" b="1" dirty="0">
              <a:solidFill>
                <a:schemeClr val="accent1"/>
              </a:solidFill>
              <a:ea typeface="+mj-ea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4E53AB8-F840-E013-E319-1A2E1BD8C6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2211" y="26785697"/>
            <a:ext cx="12721791" cy="713856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03CFC7E-B739-3700-A545-831D45EC96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535" y="26984994"/>
            <a:ext cx="532490" cy="51651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81DA283-5BB3-19C7-5C3F-9C6EC36E7D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86147" y="26698651"/>
            <a:ext cx="12784608" cy="721388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1B232B16-3C29-0693-D9E8-42EE80E239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53949" y="26933267"/>
            <a:ext cx="694886" cy="629943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0948A63-7C3F-FC11-2CE7-E5C12A8140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26452" y="26984147"/>
            <a:ext cx="532490" cy="516515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E751CF94-E755-B3BF-5D7B-7E0085401FE8}"/>
              </a:ext>
            </a:extLst>
          </p:cNvPr>
          <p:cNvSpPr txBox="1"/>
          <p:nvPr/>
        </p:nvSpPr>
        <p:spPr>
          <a:xfrm>
            <a:off x="26515417" y="26743029"/>
            <a:ext cx="6114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sz="5400" b="1" dirty="0">
                <a:solidFill>
                  <a:schemeClr val="accent1"/>
                </a:solidFill>
                <a:cs typeface="Arial" panose="020B0604020202020204" pitchFamily="34" charset="0"/>
              </a:rPr>
              <a:t>+</a:t>
            </a:r>
            <a:endParaRPr lang="de-AT" sz="5400" b="1" dirty="0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3DE70F0-855C-6044-BF16-412D65DADE2D}"/>
              </a:ext>
            </a:extLst>
          </p:cNvPr>
          <p:cNvSpPr txBox="1"/>
          <p:nvPr/>
        </p:nvSpPr>
        <p:spPr>
          <a:xfrm>
            <a:off x="6310502" y="3021734"/>
            <a:ext cx="7660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A</a:t>
            </a:r>
            <a:r>
              <a:rPr lang="en-AT" sz="3600" b="1" dirty="0">
                <a:solidFill>
                  <a:schemeClr val="accent1"/>
                </a:solidFill>
                <a:ea typeface="+mj-ea"/>
                <a:cs typeface="Arial" panose="020B0604020202020204" pitchFamily="34" charset="0"/>
              </a:rPr>
              <a:t>ka. Getting Rich by doing nothing</a:t>
            </a:r>
            <a:endParaRPr lang="de-AT" sz="3600" b="1" dirty="0">
              <a:solidFill>
                <a:schemeClr val="accent1"/>
              </a:solidFill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665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FHTW2021">
      <a:dk1>
        <a:sysClr val="windowText" lastClr="000000"/>
      </a:dk1>
      <a:lt1>
        <a:sysClr val="window" lastClr="FFFFFF"/>
      </a:lt1>
      <a:dk2>
        <a:srgbClr val="72777A"/>
      </a:dk2>
      <a:lt2>
        <a:srgbClr val="E7E6E6"/>
      </a:lt2>
      <a:accent1>
        <a:srgbClr val="00649C"/>
      </a:accent1>
      <a:accent2>
        <a:srgbClr val="8BB31D"/>
      </a:accent2>
      <a:accent3>
        <a:srgbClr val="72777A"/>
      </a:accent3>
      <a:accent4>
        <a:srgbClr val="00649C"/>
      </a:accent4>
      <a:accent5>
        <a:srgbClr val="8BB31D"/>
      </a:accent5>
      <a:accent6>
        <a:srgbClr val="72777A"/>
      </a:accent6>
      <a:hlink>
        <a:srgbClr val="00649C"/>
      </a:hlink>
      <a:folHlink>
        <a:srgbClr val="8BB31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B19388E0-EE8A-4017-AE31-3A7F743A0F6C}" vid="{682269ED-0FA8-4992-80CD-E1EF5E9FFBE0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FHTW Poster A0 hoch 20211206</Template>
  <TotalTime>0</TotalTime>
  <Words>310</Words>
  <Application>Microsoft Office PowerPoint</Application>
  <PresentationFormat>Benutzerdefiniert</PresentationFormat>
  <Paragraphs>22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Arial Black</vt:lpstr>
      <vt:lpstr>Calibri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Martin Deinhofer</dc:creator>
  <cp:lastModifiedBy>David Höchtl</cp:lastModifiedBy>
  <cp:revision>18</cp:revision>
  <dcterms:created xsi:type="dcterms:W3CDTF">2021-12-09T11:58:10Z</dcterms:created>
  <dcterms:modified xsi:type="dcterms:W3CDTF">2026-06-08T19:01:30Z</dcterms:modified>
</cp:coreProperties>
</file>