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8" autoAdjust="0"/>
    <p:restoredTop sz="94660"/>
  </p:normalViewPr>
  <p:slideViewPr>
    <p:cSldViewPr snapToGrid="0">
      <p:cViewPr>
        <p:scale>
          <a:sx n="125" d="100"/>
          <a:sy n="125" d="100"/>
        </p:scale>
        <p:origin x="734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B69947-C9FA-27D5-A6F8-4A128AA8C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0F332D9-B630-A22D-F0E4-D5A282E46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E61A74-A353-DB52-D0A6-3F35D6CCC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3CE73C-74F9-3596-710B-7D4055455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378FBE-A17F-F2F6-CDF2-CBCC02E2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66198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A5FEAB-9AB8-C32C-1495-4DE11961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A65E53-B15F-355B-ED0F-E7FD0D465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9D83DF-D028-50FA-34E2-544BBE2B4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641BF60-3342-982C-0DC1-256F29069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5AC5CB-0B06-2BC2-5821-7079B0875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61474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319BA6-3778-06DA-CEFF-874E0D715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5403FCC-E8BB-144D-F89D-92F16736C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B81F096-E0F1-B994-6E0A-86C0E70E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85497C-ECF0-C922-2025-32F24695E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CA4938-A018-F593-49D3-C88B25C7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74317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303C8F-3F82-2325-9E07-EDDD45012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98ECB5-9AAD-8FFF-AFE8-01BFE9C57A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318871A-C893-8DFD-F07B-2953CB2AD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48950BF-02FD-60B0-63D5-1C68C6144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145CAA-8716-1AAB-C012-44A316A2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FDAB411-7F37-30BE-396D-9F3D2B367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9458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B197B6-A4E5-9F7F-0B5D-F97F0481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78EF7A6-6100-6422-8F1C-0C79DA796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490C711-9852-1846-2994-417C19D27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95D9EF-7D45-FB5B-225A-9808E16C13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787AC53-4C7D-803B-7C75-7EF66F549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90E4AC0-E4E5-5629-AFD1-A8825986E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F06B41-9675-6426-C32D-376B1500E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047CBEE-0F5D-739E-A168-D15A9F59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37092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ADF60F-3786-79C9-9EF8-F8A9F8A1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70A2273-5662-E289-8AA8-19358258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934ADEC-9DCF-45DB-04DD-FEEA2805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BE74E0-D572-1A41-29E7-6EE7CEE08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04895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B605E99-13DA-13B9-D714-2EBF7868B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691FF97-99FC-033A-F6EE-3220C0ABF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7F80E5A-0F80-5910-F212-ECD492ED5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538044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93A3AF-21B5-766A-55B5-798CCF4F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111518-CF19-78C6-20F8-58BEE1E1E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A4F4CE-4DA3-A962-FC80-900205101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9885071-7A0E-A6E8-FBAB-831ECBE3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AB99B06-61CC-E282-23DC-99D3B0CD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7826141-58A9-C35C-EE1B-38492079D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06988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E88D89-41DD-9A4C-536E-7A47144DA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7E25F89-A499-F717-9733-7D48989969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56EC6-8BAE-9D62-DE43-3E8229DD9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0B12DDD-2F87-6F46-20E9-56D3C5A98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CBC369-63B1-D170-87C1-1C70E471B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482B405-DACC-C2DD-CF8E-624A45F64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38569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C6CEBA-F44E-C48D-EACD-A26599B39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19307A-CBE6-91EA-8C05-B380ED4F9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771618-E77F-6D41-FF29-B9FE0A02F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050A56-E102-44BD-FF5D-9C2C6E97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A3BDA9D-7824-4E79-9791-F376BF62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14244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5E59DE9-2481-73FE-B1AD-A1DF1F566D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1E8953-618B-F5A2-A91B-09119A3BB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5BC67A-42C4-66E9-702F-A0414B6C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C54DEF-8A44-843F-2AA4-7A20063C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68D89D-B294-86F3-6447-8685D0717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51292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B76E789-7C23-2D16-45E7-014D9C725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82FDCC6-0231-1C52-184C-0EEED32C1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388C10-48A5-CA91-A3C8-C45076C6F3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C55D7-1B5C-4978-95A3-98C67B371C55}" type="datetimeFigureOut">
              <a:rPr lang="de-AT" smtClean="0"/>
              <a:t>18.12.2025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356179-6866-057F-4309-FE390338E8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D0996A-F52A-366F-FCEC-CF41849AB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DB1D9-C2DE-4928-B477-D5B04F08D32F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7778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E97B73-A701-6A95-0EEC-471278FC04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T" dirty="0" err="1"/>
              <a:t>Masterarbeits</a:t>
            </a:r>
            <a:r>
              <a:rPr lang="en-AT" dirty="0"/>
              <a:t>-Update</a:t>
            </a:r>
            <a:endParaRPr lang="de-AT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64B7D1E-05D1-5B7E-37BD-044316DA17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T" dirty="0"/>
              <a:t>David Höchtl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66823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5F5682-A495-EC1D-65BB-C1432BFD1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Was hat </a:t>
            </a:r>
            <a:r>
              <a:rPr lang="en-AT" dirty="0" err="1"/>
              <a:t>sich</a:t>
            </a:r>
            <a:r>
              <a:rPr lang="en-AT" dirty="0"/>
              <a:t> </a:t>
            </a:r>
            <a:r>
              <a:rPr lang="en-AT" dirty="0" err="1"/>
              <a:t>getan</a:t>
            </a:r>
            <a:r>
              <a:rPr lang="en-AT" dirty="0"/>
              <a:t>?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BC92E4-9553-8C2A-010F-C095C3A5F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Prompt </a:t>
            </a:r>
            <a:r>
              <a:rPr lang="en-AT" dirty="0" err="1"/>
              <a:t>validierung</a:t>
            </a:r>
            <a:r>
              <a:rPr lang="en-AT" dirty="0"/>
              <a:t> auf </a:t>
            </a:r>
            <a:r>
              <a:rPr lang="en-AT" dirty="0" err="1"/>
              <a:t>selbst</a:t>
            </a:r>
            <a:r>
              <a:rPr lang="en-AT" dirty="0"/>
              <a:t> </a:t>
            </a:r>
            <a:r>
              <a:rPr lang="en-AT" dirty="0" err="1"/>
              <a:t>annotiertem</a:t>
            </a:r>
            <a:r>
              <a:rPr lang="en-AT" dirty="0"/>
              <a:t> </a:t>
            </a:r>
            <a:r>
              <a:rPr lang="en-AT" dirty="0" err="1"/>
              <a:t>Datenset</a:t>
            </a:r>
            <a:r>
              <a:rPr lang="en-AT" dirty="0"/>
              <a:t> (~64 rows)</a:t>
            </a:r>
          </a:p>
          <a:p>
            <a:endParaRPr lang="en-AT" dirty="0"/>
          </a:p>
          <a:p>
            <a:r>
              <a:rPr lang="en-AT" dirty="0"/>
              <a:t>Rolling Sentiment vs Rolling Targets</a:t>
            </a:r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088207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26D4DA-850C-FF66-6498-F5F37EA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/>
              <a:t>Impact Scoring: neue Prompt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DF900D-D618-92CF-50C3-FE264A6E1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S</a:t>
            </a:r>
            <a:r>
              <a:rPr lang="en-AT"/>
              <a:t>iehe Excel sheet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7BEA14E-6AAD-4243-BB98-172D3B17C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057556"/>
            <a:ext cx="11130505" cy="1254344"/>
          </a:xfrm>
          <a:prstGeom prst="rect">
            <a:avLst/>
          </a:prstGeom>
        </p:spPr>
      </p:pic>
      <p:pic>
        <p:nvPicPr>
          <p:cNvPr id="7" name="Grafik 6" descr="Ein Bild, das Text, Schrift, Reihe, Zahl enthält.&#10;&#10;KI-generierte Inhalte können fehlerhaft sein.">
            <a:extLst>
              <a:ext uri="{FF2B5EF4-FFF2-40B4-BE49-F238E27FC236}">
                <a16:creationId xmlns:a16="http://schemas.microsoft.com/office/drawing/2014/main" id="{E950B6FA-5D3F-F9CA-747E-A8BA27CC3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31" y="2765726"/>
            <a:ext cx="11091375" cy="194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953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7085148C-BD71-4F81-B12D-C646C398D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776" y="541423"/>
            <a:ext cx="5055718" cy="2577731"/>
          </a:xfrm>
          <a:prstGeom prst="rect">
            <a:avLst/>
          </a:prstGeom>
        </p:spPr>
      </p:pic>
      <p:pic>
        <p:nvPicPr>
          <p:cNvPr id="7" name="Grafik 6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5CAB3770-B8C9-01A7-7E6E-542BD0479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433" y="3595881"/>
            <a:ext cx="5170061" cy="2611520"/>
          </a:xfrm>
          <a:prstGeom prst="rect">
            <a:avLst/>
          </a:prstGeom>
        </p:spPr>
      </p:pic>
      <p:pic>
        <p:nvPicPr>
          <p:cNvPr id="9" name="Grafik 8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6161F8CD-0112-0179-A944-DB42FA68C0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25099"/>
            <a:ext cx="5944417" cy="3142853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B8669A18-BCB1-0DD9-D03C-82B6C7E863B9}"/>
              </a:ext>
            </a:extLst>
          </p:cNvPr>
          <p:cNvSpPr txBox="1"/>
          <p:nvPr/>
        </p:nvSpPr>
        <p:spPr>
          <a:xfrm flipH="1">
            <a:off x="1023807" y="220640"/>
            <a:ext cx="271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Neue Prompt</a:t>
            </a:r>
            <a:endParaRPr lang="de-AT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B474668-5458-D6A1-5CF0-B1F133D83B80}"/>
              </a:ext>
            </a:extLst>
          </p:cNvPr>
          <p:cNvSpPr txBox="1"/>
          <p:nvPr/>
        </p:nvSpPr>
        <p:spPr>
          <a:xfrm flipH="1">
            <a:off x="7299503" y="1842448"/>
            <a:ext cx="271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 err="1"/>
              <a:t>Ohne</a:t>
            </a:r>
            <a:r>
              <a:rPr lang="en-AT" dirty="0"/>
              <a:t> Impact Score</a:t>
            </a:r>
            <a:endParaRPr lang="de-AT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2030A3A-788D-E560-9AFC-919E8ABD9B10}"/>
              </a:ext>
            </a:extLst>
          </p:cNvPr>
          <p:cNvSpPr txBox="1"/>
          <p:nvPr/>
        </p:nvSpPr>
        <p:spPr>
          <a:xfrm flipH="1">
            <a:off x="1023806" y="3244334"/>
            <a:ext cx="271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Alte Prompt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0568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77FF3B-6A7B-1A05-1EC1-A17F78BD8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Rolling Sentiment vs Rolling Target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04D8DA-03E9-1C63-51A0-FF7533AA49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In </a:t>
            </a:r>
            <a:r>
              <a:rPr lang="en-AT" dirty="0" err="1"/>
              <a:t>einer</a:t>
            </a:r>
            <a:r>
              <a:rPr lang="en-AT" dirty="0"/>
              <a:t> For Loop von </a:t>
            </a:r>
            <a:r>
              <a:rPr lang="en-AT" dirty="0" err="1"/>
              <a:t>i</a:t>
            </a:r>
            <a:r>
              <a:rPr lang="en-AT" dirty="0"/>
              <a:t>=[1,100]</a:t>
            </a:r>
          </a:p>
          <a:p>
            <a:r>
              <a:rPr lang="en-AT" dirty="0" err="1"/>
              <a:t>Vergleiche</a:t>
            </a:r>
            <a:r>
              <a:rPr lang="en-AT" dirty="0"/>
              <a:t> die </a:t>
            </a:r>
            <a:r>
              <a:rPr lang="en-AT" dirty="0" err="1"/>
              <a:t>letzten</a:t>
            </a:r>
            <a:r>
              <a:rPr lang="en-AT" dirty="0"/>
              <a:t> 1-30 Tage rolling sentiment </a:t>
            </a:r>
            <a:r>
              <a:rPr lang="en-GB" dirty="0"/>
              <a:t>G</a:t>
            </a:r>
            <a:r>
              <a:rPr lang="en-AT" dirty="0" err="1"/>
              <a:t>egen</a:t>
            </a:r>
            <a:r>
              <a:rPr lang="en-AT" dirty="0"/>
              <a:t> </a:t>
            </a:r>
            <a:r>
              <a:rPr lang="en-AT" dirty="0" err="1"/>
              <a:t>i</a:t>
            </a:r>
            <a:r>
              <a:rPr lang="en-AT" dirty="0"/>
              <a:t> Tage pct return</a:t>
            </a:r>
          </a:p>
          <a:p>
            <a:r>
              <a:rPr lang="en-AT" dirty="0" err="1"/>
              <a:t>Nimm</a:t>
            </a:r>
            <a:r>
              <a:rPr lang="en-AT" dirty="0"/>
              <a:t> die </a:t>
            </a:r>
            <a:r>
              <a:rPr lang="en-AT" dirty="0" err="1"/>
              <a:t>beste</a:t>
            </a:r>
            <a:r>
              <a:rPr lang="en-AT" dirty="0"/>
              <a:t> spearman correlation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70286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398ED9B2-0418-2BF1-369F-4935F2DFB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0378"/>
            <a:ext cx="6589271" cy="3362607"/>
          </a:xfrm>
          <a:prstGeom prst="rect">
            <a:avLst/>
          </a:prstGeom>
        </p:spPr>
      </p:pic>
      <p:pic>
        <p:nvPicPr>
          <p:cNvPr id="11" name="Grafik 10" descr="Ein Bild, das Text, Reihe, Diagramm, Screenshot enthält.&#10;&#10;KI-generierte Inhalte können fehlerhaft sein.">
            <a:extLst>
              <a:ext uri="{FF2B5EF4-FFF2-40B4-BE49-F238E27FC236}">
                <a16:creationId xmlns:a16="http://schemas.microsoft.com/office/drawing/2014/main" id="{A22452BC-CD89-F47F-8D1C-259415E79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74893"/>
            <a:ext cx="6023203" cy="313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299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Reihe, Diagramm, Text enthält.&#10;&#10;KI-generierte Inhalte können fehlerhaft sein.">
            <a:extLst>
              <a:ext uri="{FF2B5EF4-FFF2-40B4-BE49-F238E27FC236}">
                <a16:creationId xmlns:a16="http://schemas.microsoft.com/office/drawing/2014/main" id="{24200ADC-6886-33F6-E7BC-E3A92B507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75498"/>
            <a:ext cx="6086947" cy="31248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5DA8402F-DD99-4EA4-24C3-6758426D002E}"/>
              </a:ext>
            </a:extLst>
          </p:cNvPr>
          <p:cNvSpPr txBox="1"/>
          <p:nvPr/>
        </p:nvSpPr>
        <p:spPr>
          <a:xfrm flipH="1">
            <a:off x="6670908" y="2370161"/>
            <a:ext cx="4044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 err="1"/>
              <a:t>Ohne</a:t>
            </a:r>
            <a:r>
              <a:rPr lang="en-AT" dirty="0"/>
              <a:t> I</a:t>
            </a:r>
            <a:r>
              <a:rPr lang="en-GB" dirty="0"/>
              <a:t>m</a:t>
            </a:r>
            <a:r>
              <a:rPr lang="en-AT" dirty="0"/>
              <a:t>pact Score</a:t>
            </a:r>
            <a:endParaRPr lang="de-AT" dirty="0"/>
          </a:p>
        </p:txBody>
      </p:sp>
      <p:pic>
        <p:nvPicPr>
          <p:cNvPr id="8" name="Grafik 7" descr="Ein Bild, das Text, Reihe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BD31A597-61A1-015E-FF7F-6F24CF4BB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08" y="2588920"/>
            <a:ext cx="6086947" cy="3211378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24BC1222-68A2-337D-D383-BC531786FA77}"/>
              </a:ext>
            </a:extLst>
          </p:cNvPr>
          <p:cNvSpPr txBox="1"/>
          <p:nvPr/>
        </p:nvSpPr>
        <p:spPr>
          <a:xfrm>
            <a:off x="568657" y="2301922"/>
            <a:ext cx="1250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2018-2020</a:t>
            </a:r>
            <a:endParaRPr lang="de-AT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FAB4322-E6E0-7B72-590E-023A0AD1B9B8}"/>
              </a:ext>
            </a:extLst>
          </p:cNvPr>
          <p:cNvSpPr txBox="1"/>
          <p:nvPr/>
        </p:nvSpPr>
        <p:spPr>
          <a:xfrm>
            <a:off x="1969827" y="1282890"/>
            <a:ext cx="5533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T" dirty="0"/>
              <a:t>Signal </a:t>
            </a:r>
            <a:r>
              <a:rPr lang="en-AT" dirty="0" err="1"/>
              <a:t>bleibt</a:t>
            </a:r>
            <a:r>
              <a:rPr lang="en-AT" dirty="0"/>
              <a:t> </a:t>
            </a:r>
            <a:r>
              <a:rPr lang="en-AT" dirty="0" err="1"/>
              <a:t>über</a:t>
            </a:r>
            <a:r>
              <a:rPr lang="en-AT" dirty="0"/>
              <a:t> </a:t>
            </a:r>
            <a:r>
              <a:rPr lang="en-AT" dirty="0" err="1"/>
              <a:t>eine</a:t>
            </a:r>
            <a:r>
              <a:rPr lang="en-AT" dirty="0"/>
              <a:t> </a:t>
            </a:r>
            <a:r>
              <a:rPr lang="en-AT" dirty="0" err="1"/>
              <a:t>reihe</a:t>
            </a:r>
            <a:r>
              <a:rPr lang="en-AT" dirty="0"/>
              <a:t> von </a:t>
            </a:r>
            <a:r>
              <a:rPr lang="en-AT" dirty="0" err="1"/>
              <a:t>experimenten</a:t>
            </a:r>
            <a:r>
              <a:rPr lang="en-AT" dirty="0"/>
              <a:t> </a:t>
            </a:r>
            <a:r>
              <a:rPr lang="en-AT" dirty="0" err="1"/>
              <a:t>ähnlich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466288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A0B784-8FE5-A6E8-D5C9-5BABB1B7F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 err="1"/>
              <a:t>Sentimen</a:t>
            </a:r>
            <a:r>
              <a:rPr lang="en-AT" dirty="0"/>
              <a:t> Feature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914CF6-4FA3-45BE-6CA0-582CB7505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/>
              <a:t>Feature Engineering </a:t>
            </a:r>
            <a:r>
              <a:rPr lang="en-AT" dirty="0" err="1"/>
              <a:t>abgeschlossen</a:t>
            </a:r>
            <a:endParaRPr lang="en-AT" dirty="0"/>
          </a:p>
          <a:p>
            <a:r>
              <a:rPr lang="en-AT" dirty="0"/>
              <a:t>Finale Sentiment Feature:</a:t>
            </a:r>
          </a:p>
          <a:p>
            <a:pPr lvl="1"/>
            <a:r>
              <a:rPr lang="en-GB" dirty="0"/>
              <a:t>R</a:t>
            </a:r>
            <a:r>
              <a:rPr lang="en-AT" dirty="0" err="1"/>
              <a:t>olling</a:t>
            </a:r>
            <a:r>
              <a:rPr lang="en-AT" dirty="0"/>
              <a:t> sentiment (1-30 Tage)</a:t>
            </a:r>
          </a:p>
          <a:p>
            <a:pPr lvl="1"/>
            <a:r>
              <a:rPr lang="en-AT" dirty="0"/>
              <a:t>Rolling weighted sentiment (1-30 Tage)</a:t>
            </a:r>
          </a:p>
          <a:p>
            <a:endParaRPr lang="en-AT" dirty="0"/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683311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BB0155-D449-20DA-9932-9041F3DB8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 err="1"/>
              <a:t>Gedanke</a:t>
            </a:r>
            <a:r>
              <a:rPr lang="en-AT" dirty="0"/>
              <a:t> </a:t>
            </a:r>
            <a:r>
              <a:rPr lang="en-AT" dirty="0" err="1"/>
              <a:t>zu</a:t>
            </a:r>
            <a:r>
              <a:rPr lang="en-AT" dirty="0"/>
              <a:t> Cross </a:t>
            </a:r>
            <a:r>
              <a:rPr lang="en-AT" dirty="0" err="1"/>
              <a:t>Validierung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5F72FA-5B0E-3962-4748-BF117FAD0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 err="1"/>
              <a:t>Timerseries</a:t>
            </a:r>
            <a:r>
              <a:rPr lang="en-AT" dirty="0"/>
              <a:t> split &gt; random sampling</a:t>
            </a:r>
          </a:p>
          <a:p>
            <a:endParaRPr lang="en-AT" dirty="0"/>
          </a:p>
          <a:p>
            <a:r>
              <a:rPr lang="en-AT" dirty="0"/>
              <a:t>600 Datapoints (target next_7d_returns)</a:t>
            </a:r>
          </a:p>
          <a:p>
            <a:pPr lvl="1"/>
            <a:r>
              <a:rPr lang="en-AT" dirty="0"/>
              <a:t>0-493 -&gt; train (</a:t>
            </a:r>
            <a:r>
              <a:rPr lang="en-AT" dirty="0" err="1"/>
              <a:t>Letzten</a:t>
            </a:r>
            <a:r>
              <a:rPr lang="en-AT" dirty="0"/>
              <a:t> 7 Tage </a:t>
            </a:r>
            <a:r>
              <a:rPr lang="en-AT" dirty="0" err="1"/>
              <a:t>müssen</a:t>
            </a:r>
            <a:r>
              <a:rPr lang="en-AT" dirty="0"/>
              <a:t> </a:t>
            </a:r>
            <a:r>
              <a:rPr lang="en-AT" dirty="0" err="1"/>
              <a:t>entfernt</a:t>
            </a:r>
            <a:r>
              <a:rPr lang="en-AT" dirty="0"/>
              <a:t> </a:t>
            </a:r>
            <a:r>
              <a:rPr lang="en-AT" dirty="0" err="1"/>
              <a:t>werden</a:t>
            </a:r>
            <a:r>
              <a:rPr lang="en-AT" dirty="0"/>
              <a:t>, da </a:t>
            </a:r>
            <a:r>
              <a:rPr lang="en-AT" dirty="0" err="1"/>
              <a:t>sonst</a:t>
            </a:r>
            <a:r>
              <a:rPr lang="en-AT" dirty="0"/>
              <a:t> test data </a:t>
            </a:r>
            <a:r>
              <a:rPr lang="en-AT" dirty="0" err="1"/>
              <a:t>geleaked</a:t>
            </a:r>
            <a:r>
              <a:rPr lang="en-AT" dirty="0"/>
              <a:t> </a:t>
            </a:r>
            <a:r>
              <a:rPr lang="en-AT" dirty="0" err="1"/>
              <a:t>werden</a:t>
            </a:r>
            <a:r>
              <a:rPr lang="en-AT" dirty="0"/>
              <a:t>)</a:t>
            </a:r>
          </a:p>
          <a:p>
            <a:pPr lvl="1"/>
            <a:r>
              <a:rPr lang="en-AT" dirty="0"/>
              <a:t>500-600 -&gt; test</a:t>
            </a:r>
          </a:p>
          <a:p>
            <a:endParaRPr lang="en-AT" dirty="0"/>
          </a:p>
          <a:p>
            <a:r>
              <a:rPr lang="en-GB" dirty="0"/>
              <a:t>Walk-Forward Validation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1889298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55C372-0F1F-8A30-6654-6771A489E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T" dirty="0"/>
              <a:t>Next Step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99F09B-95BA-1A01-A77B-038C5B56E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T" dirty="0" err="1"/>
              <a:t>Evaluierung</a:t>
            </a:r>
            <a:r>
              <a:rPr lang="en-AT" dirty="0"/>
              <a:t> auf ARIMA, </a:t>
            </a:r>
            <a:r>
              <a:rPr lang="en-AT" dirty="0" err="1"/>
              <a:t>XGBoost</a:t>
            </a:r>
            <a:r>
              <a:rPr lang="en-AT" dirty="0"/>
              <a:t>, LSTM, </a:t>
            </a:r>
            <a:r>
              <a:rPr lang="en-AT" i="1" dirty="0"/>
              <a:t>Transformer</a:t>
            </a:r>
          </a:p>
          <a:p>
            <a:r>
              <a:rPr lang="en-AT" dirty="0"/>
              <a:t>XAI auf die Features der </a:t>
            </a:r>
            <a:r>
              <a:rPr lang="en-AT" dirty="0" err="1"/>
              <a:t>einzelnen</a:t>
            </a:r>
            <a:r>
              <a:rPr lang="en-AT" dirty="0"/>
              <a:t> Modelle</a:t>
            </a:r>
          </a:p>
          <a:p>
            <a:pPr lvl="1"/>
            <a:r>
              <a:rPr lang="en-AT" dirty="0"/>
              <a:t>Shapley und Lime</a:t>
            </a:r>
          </a:p>
          <a:p>
            <a:r>
              <a:rPr lang="en-AT" dirty="0" err="1"/>
              <a:t>Beantworten</a:t>
            </a:r>
            <a:r>
              <a:rPr lang="en-AT" dirty="0"/>
              <a:t> der </a:t>
            </a:r>
            <a:r>
              <a:rPr lang="en-AT" dirty="0" err="1"/>
              <a:t>Forschungsfragen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291915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</Words>
  <Application>Microsoft Office PowerPoint</Application>
  <PresentationFormat>Breitbild</PresentationFormat>
  <Paragraphs>36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Masterarbeits-Update</vt:lpstr>
      <vt:lpstr>Was hat sich getan?</vt:lpstr>
      <vt:lpstr>Impact Scoring: neue Prompt</vt:lpstr>
      <vt:lpstr>PowerPoint-Präsentation</vt:lpstr>
      <vt:lpstr>Rolling Sentiment vs Rolling Target</vt:lpstr>
      <vt:lpstr>PowerPoint-Präsentation</vt:lpstr>
      <vt:lpstr>PowerPoint-Präsentation</vt:lpstr>
      <vt:lpstr>Sentimen Feature</vt:lpstr>
      <vt:lpstr>Gedanke zu Cross Validierung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Höchtl</dc:creator>
  <cp:lastModifiedBy>David Höchtl</cp:lastModifiedBy>
  <cp:revision>2</cp:revision>
  <dcterms:created xsi:type="dcterms:W3CDTF">2025-12-18T09:07:13Z</dcterms:created>
  <dcterms:modified xsi:type="dcterms:W3CDTF">2025-12-18T14:02:07Z</dcterms:modified>
</cp:coreProperties>
</file>