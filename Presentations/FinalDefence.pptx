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1" r:id="rId3"/>
    <p:sldId id="272" r:id="rId4"/>
    <p:sldId id="259" r:id="rId5"/>
    <p:sldId id="273" r:id="rId6"/>
    <p:sldId id="262" r:id="rId7"/>
    <p:sldId id="263" r:id="rId8"/>
    <p:sldId id="274" r:id="rId9"/>
    <p:sldId id="264" r:id="rId10"/>
    <p:sldId id="265" r:id="rId11"/>
    <p:sldId id="266" r:id="rId12"/>
    <p:sldId id="267" r:id="rId13"/>
    <p:sldId id="270" r:id="rId14"/>
    <p:sldId id="268" r:id="rId15"/>
    <p:sldId id="280" r:id="rId16"/>
    <p:sldId id="275" r:id="rId17"/>
    <p:sldId id="276" r:id="rId18"/>
    <p:sldId id="278" r:id="rId19"/>
    <p:sldId id="277" r:id="rId2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9" y="27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3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24575,'0'5'0,"2"1"0,-1 0 0,0-1 0,1 0 0,0 1 0,1-1 0,5 10 0,-3-4 0,182 344-3195,-178-339 2866,72 133-3020,286 543-752,-173-333 2191,-63-121 1204,-90-163 235,479 855-1451,-394-722 2046,312 492 538,57-28 1616,-330-489-1816,23 29 563,-6-16 476,7 8 2413,-159-167-2416,-18-25-5170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3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4030 24575,'-1'-21'0,"-5"-25"0,0-9 0,5 18-353,1 0 0,1 0 1,3 0-1,1 0 0,1 1 0,15-48 0,4 17-429,2 1-1,4 2 1,2 1-1,64-93 1,194-215-1329,338-300-1702,55 57 94,-86 122 3361,162-102 592,-564 442 376,36-19 558,-117 89 1076,-61 42 1692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4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24575,'0'2'0,"0"0"0,1 0 0,-1 0 0,1 0 0,-1 0 0,1 0 0,0 0 0,0 0 0,0 0 0,0 0 0,0 0 0,2 2 0,21 21 0,-16-17 0,195 203-1119,-28-22-858,-22-22-168,292 347 876,-310-350 1325,78 104 728,-99-105-104,167 231 1875,-61-124-3555,-194-243-3756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07:53:44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1859 24575,'15'-9'0,"-1"0"0,18-15 0,1 0 0,290-168-6591,17 30 1752,681-259-162,25 45 5049,-654 241 34,813-271 1201,-893 306 5544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428BA-6879-4997-B6A9-078AA46C56A5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8671D-51CF-4AFC-A53E-098AD487C92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9221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1AA31-150B-EDCF-B694-1579C5AB4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CB173B-13AC-2E8E-F74F-C1FD827E4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3AF65C-619D-01B1-7B45-90E452C7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BADA73-C97C-AB6A-1568-A7020F9E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8BE0D3-6CDF-8006-A346-C16332E8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222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A438A-CC72-D57A-8BF9-A1B62E30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C0A4AB-CC39-CE8D-413D-33406EB61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1E0CB-E8DC-8A4D-0F73-2224EFAB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3E1518-7703-86B5-6B92-90E337F64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1B949-42EB-BF32-73F6-D403ED26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297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C7AE2-391E-77B2-EAA2-14729A03E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D1F80D-2E77-02A4-BC3D-3D4F763E1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C79238-CEB2-6F85-0D04-B9D2B9EA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8E8DA9-0149-7C65-A8C9-9BB4AA45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8DE741-0522-1762-CEB3-AAFA391C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215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10A95-88B0-4723-5E85-D2AEB8DC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6EFCF9-F357-BFEB-7A3C-809590A75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3F399D-88C6-6571-410B-331BE62D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DCFF5C-3574-252F-93CA-6995C06D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DC6622-C2CA-2EC8-DF51-1A69C14A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59C244-ED0B-E6A8-388C-7343E9D2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966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34582-44A3-4367-2075-AC36A7E3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629349-A2CC-02DD-BB20-CA2E019A3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9B4A1E-E0FE-10C2-8A33-5DD9692B5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69124A-F5DB-5159-4930-354B436B2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DEA869-6E93-9AA9-FD5E-07809D4C6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64CD570-1A2D-94EB-4264-5775BBFF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9109D49-DE55-A687-548E-63061A3D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79B0D0-9604-C7F9-B25F-63EFB891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357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AADCC-50A0-C0E1-143B-D8D96CC6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A42449-3058-27C1-9EA3-5D8156E2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79D183-11A9-C429-18D7-F0902C4F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7CB696-D7CA-CA9A-E811-656C92CF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046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5FD504-657C-A021-9BDC-63E82C0B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CD96D0-C8E0-98D5-A73D-79253B30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F9D13A-354C-E34D-D9C2-EC096AC4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328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27744-F716-3E86-F992-4614E066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85A386-98F1-F471-255D-153D2DE8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0D8B07-FB95-08F8-B41C-A45FA51EA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7F2893-34F5-336A-9D2B-3A23A9B1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AC3A88-D05C-ECA0-BD12-949BBC43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23C02D-CAF0-56BD-E81F-96294703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936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63E47-366F-D380-E436-CADF4B76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364A19-D225-E505-C434-2AC5394C1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771BEB-AC3A-A66D-12F6-17BF10F3D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31230F-8818-22A3-7803-3F6574B1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6F941D-C571-CCC7-A1D5-3A17CBED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4DBEFA-A8D0-9A7B-B339-F84C1253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0347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126FD8-B3DE-C101-A6CA-A89D2C5E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95ED7F-5DB4-83F5-0DDE-8F9A63B5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4E225E-8CA0-CFB3-049C-E05995A91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E91A0B-FB7C-0F6A-41BF-E8D36950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43922D-F7CB-36DC-EA96-A3162269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822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1673E5-FD2F-D88B-9AE4-2E7BEEFB1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8FBE31-2152-2DFA-FA00-8009D7E47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4DAAE5-D3D3-6C9E-6ECB-251F740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EBE69C-4F54-2CF4-50ED-50325DD7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1A84A0-BF59-8CCE-9D1C-C5ACDF0F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73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4472824-A58E-A0D7-4083-92069736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7318B4-949D-C49F-9A21-8E562228F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41536A-0941-256C-B5F4-26617CFB9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CDE0E-720D-4A0E-A549-820D5B25CA4B}" type="datetimeFigureOut">
              <a:rPr lang="de-AT" smtClean="0"/>
              <a:t>20.06.2026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D015F3-AF85-ACF8-E80C-6BA929C3C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0D314F-BB8F-BD28-0CCC-8525372CD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CED4C4-7E9D-4125-8DB3-43CA3FB5CB6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78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customXml" Target="../ink/ink2.xml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FEB0B-31E9-37D8-99F1-F933C1425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239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E</a:t>
            </a:r>
            <a:r>
              <a:rPr lang="en-AT" dirty="0" err="1"/>
              <a:t>nhancing</a:t>
            </a:r>
            <a:r>
              <a:rPr lang="en-AT" dirty="0"/>
              <a:t> financial </a:t>
            </a:r>
            <a:r>
              <a:rPr lang="en-AT" dirty="0" err="1"/>
              <a:t>forcasting</a:t>
            </a:r>
            <a:r>
              <a:rPr lang="en-AT" dirty="0"/>
              <a:t> with sentiment analysis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8967F9-F965-C75B-DCCD-C0CE7AD7D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2073"/>
            <a:ext cx="9144000" cy="423922"/>
          </a:xfrm>
        </p:spPr>
        <p:txBody>
          <a:bodyPr/>
          <a:lstStyle/>
          <a:p>
            <a:r>
              <a:rPr lang="en-GB"/>
              <a:t>E</a:t>
            </a:r>
            <a:r>
              <a:rPr lang="en-AT"/>
              <a:t>nhancing financial forcasting with sentiment analysis</a:t>
            </a:r>
            <a:endParaRPr lang="de-AT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AB1D1AD-8D1F-CFA8-58EA-040EA34BE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18147" cy="1662398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52371BF-4A43-47E7-1D9D-43013C576BE0}"/>
              </a:ext>
            </a:extLst>
          </p:cNvPr>
          <p:cNvSpPr txBox="1"/>
          <p:nvPr/>
        </p:nvSpPr>
        <p:spPr>
          <a:xfrm>
            <a:off x="236023" y="5947218"/>
            <a:ext cx="2473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1600" dirty="0"/>
              <a:t>Author: David Höchtl BSc.</a:t>
            </a:r>
            <a:endParaRPr lang="de-AT" sz="16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422FDD7-2532-2751-552C-AF23C8120168}"/>
              </a:ext>
            </a:extLst>
          </p:cNvPr>
          <p:cNvSpPr txBox="1"/>
          <p:nvPr/>
        </p:nvSpPr>
        <p:spPr>
          <a:xfrm>
            <a:off x="236023" y="6278549"/>
            <a:ext cx="4350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1600" dirty="0"/>
              <a:t>Supervisor: Dr. </a:t>
            </a:r>
            <a:r>
              <a:rPr lang="en-AT" sz="1600" dirty="0" err="1"/>
              <a:t>rer</a:t>
            </a:r>
            <a:r>
              <a:rPr lang="en-AT" sz="1600" dirty="0"/>
              <a:t>. nat. Sharwin </a:t>
            </a:r>
            <a:r>
              <a:rPr lang="en-AT" sz="1600" dirty="0" err="1"/>
              <a:t>Rezagholi</a:t>
            </a:r>
            <a:r>
              <a:rPr lang="en-AT" sz="1600" dirty="0"/>
              <a:t>, MSc</a:t>
            </a:r>
            <a:endParaRPr lang="de-AT" sz="1600" dirty="0"/>
          </a:p>
        </p:txBody>
      </p:sp>
    </p:spTree>
    <p:extLst>
      <p:ext uri="{BB962C8B-B14F-4D97-AF65-F5344CB8AC3E}">
        <p14:creationId xmlns:p14="http://schemas.microsoft.com/office/powerpoint/2010/main" val="166738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065C4-F442-DECE-B56C-49113A4C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Idea &amp; Research Question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128368-57D9-155A-290F-336714A12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Advances in NLP provide new </a:t>
            </a:r>
            <a:r>
              <a:rPr lang="en-AT" dirty="0" err="1"/>
              <a:t>opp</a:t>
            </a:r>
            <a:r>
              <a:rPr lang="en-GB" dirty="0"/>
              <a:t>o</a:t>
            </a:r>
            <a:r>
              <a:rPr lang="en-AT" dirty="0" err="1"/>
              <a:t>rtunities</a:t>
            </a:r>
            <a:r>
              <a:rPr lang="en-AT" dirty="0"/>
              <a:t> in understanding unstructured data like financial news</a:t>
            </a:r>
          </a:p>
          <a:p>
            <a:endParaRPr lang="en-AT" dirty="0"/>
          </a:p>
          <a:p>
            <a:r>
              <a:rPr lang="en-AT" dirty="0"/>
              <a:t>Can daily aggregated sentiment extracted from news headlines improve prediction accuracy for S&amp;P 500 stock prices?</a:t>
            </a:r>
          </a:p>
        </p:txBody>
      </p:sp>
    </p:spTree>
    <p:extLst>
      <p:ext uri="{BB962C8B-B14F-4D97-AF65-F5344CB8AC3E}">
        <p14:creationId xmlns:p14="http://schemas.microsoft.com/office/powerpoint/2010/main" val="369278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457DB-E5B2-F455-EE92-3A103C44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Efficient Market Hypothesis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6F8A8-BB87-787F-38E2-45E65B04F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1123" cy="4351338"/>
          </a:xfrm>
        </p:spPr>
        <p:txBody>
          <a:bodyPr/>
          <a:lstStyle/>
          <a:p>
            <a:r>
              <a:rPr lang="en-AT" b="1" dirty="0"/>
              <a:t>Efficient Markets: </a:t>
            </a:r>
            <a:r>
              <a:rPr lang="en-AT" dirty="0"/>
              <a:t>information is reflected by the price itself</a:t>
            </a:r>
          </a:p>
          <a:p>
            <a:endParaRPr lang="en-AT" dirty="0"/>
          </a:p>
          <a:p>
            <a:endParaRPr lang="en-AT" dirty="0"/>
          </a:p>
          <a:p>
            <a:r>
              <a:rPr lang="en-GB" dirty="0"/>
              <a:t>I</a:t>
            </a:r>
            <a:r>
              <a:rPr lang="en-AT" dirty="0"/>
              <a:t>n context of this work the weak and semi-strong form are challenged</a:t>
            </a:r>
          </a:p>
          <a:p>
            <a:endParaRPr lang="de-AT" dirty="0"/>
          </a:p>
        </p:txBody>
      </p:sp>
      <p:pic>
        <p:nvPicPr>
          <p:cNvPr id="4" name="Picture 2" descr="Bildmotiv: Efficient Market Hypothesis three forms">
            <a:extLst>
              <a:ext uri="{FF2B5EF4-FFF2-40B4-BE49-F238E27FC236}">
                <a16:creationId xmlns:a16="http://schemas.microsoft.com/office/drawing/2014/main" id="{6C65E6D6-4549-B4F9-F55B-DBD216E4D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043" y="1559105"/>
            <a:ext cx="5189170" cy="415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58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C3FCA-B434-0F33-FE51-B2963535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AT" dirty="0"/>
              <a:t>he engineering of the sentiment feature</a:t>
            </a:r>
            <a:endParaRPr lang="de-AT" dirty="0"/>
          </a:p>
        </p:txBody>
      </p:sp>
      <p:sp>
        <p:nvSpPr>
          <p:cNvPr id="4" name="Flussdiagramm: Magnetplattenspeicher 3">
            <a:extLst>
              <a:ext uri="{FF2B5EF4-FFF2-40B4-BE49-F238E27FC236}">
                <a16:creationId xmlns:a16="http://schemas.microsoft.com/office/drawing/2014/main" id="{CA29094F-A5E8-1C2F-0CAD-756BEE606C87}"/>
              </a:ext>
            </a:extLst>
          </p:cNvPr>
          <p:cNvSpPr/>
          <p:nvPr/>
        </p:nvSpPr>
        <p:spPr>
          <a:xfrm>
            <a:off x="1735024" y="2404576"/>
            <a:ext cx="1240023" cy="84630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Dataset 1</a:t>
            </a:r>
            <a:endParaRPr lang="de-AT" dirty="0"/>
          </a:p>
        </p:txBody>
      </p:sp>
      <p:sp>
        <p:nvSpPr>
          <p:cNvPr id="5" name="Flussdiagramm: Magnetplattenspeicher 4">
            <a:extLst>
              <a:ext uri="{FF2B5EF4-FFF2-40B4-BE49-F238E27FC236}">
                <a16:creationId xmlns:a16="http://schemas.microsoft.com/office/drawing/2014/main" id="{2125DB02-7BFC-9335-0CE3-2413682F3680}"/>
              </a:ext>
            </a:extLst>
          </p:cNvPr>
          <p:cNvSpPr/>
          <p:nvPr/>
        </p:nvSpPr>
        <p:spPr>
          <a:xfrm>
            <a:off x="1735024" y="3640388"/>
            <a:ext cx="1240023" cy="846307"/>
          </a:xfrm>
          <a:prstGeom prst="flowChartMagneticDisk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Dataset 2</a:t>
            </a:r>
            <a:endParaRPr lang="de-AT" dirty="0"/>
          </a:p>
        </p:txBody>
      </p:sp>
      <p:sp>
        <p:nvSpPr>
          <p:cNvPr id="6" name="Flussdiagramm: Magnetplattenspeicher 5">
            <a:extLst>
              <a:ext uri="{FF2B5EF4-FFF2-40B4-BE49-F238E27FC236}">
                <a16:creationId xmlns:a16="http://schemas.microsoft.com/office/drawing/2014/main" id="{EF9568FB-754F-698A-BD6D-3F772162CC59}"/>
              </a:ext>
            </a:extLst>
          </p:cNvPr>
          <p:cNvSpPr/>
          <p:nvPr/>
        </p:nvSpPr>
        <p:spPr>
          <a:xfrm>
            <a:off x="1735024" y="4876200"/>
            <a:ext cx="1279026" cy="846307"/>
          </a:xfrm>
          <a:prstGeom prst="flowChartMagneticDisk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...</a:t>
            </a:r>
            <a:endParaRPr lang="de-AT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E83B0B-0541-4B16-8400-CD88D00924E0}"/>
              </a:ext>
            </a:extLst>
          </p:cNvPr>
          <p:cNvSpPr/>
          <p:nvPr/>
        </p:nvSpPr>
        <p:spPr>
          <a:xfrm>
            <a:off x="3503752" y="2058482"/>
            <a:ext cx="277354" cy="4112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adapters</a:t>
            </a:r>
            <a:endParaRPr lang="de-AT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5FC6698-2895-B73C-0846-07678B8090A4}"/>
              </a:ext>
            </a:extLst>
          </p:cNvPr>
          <p:cNvSpPr/>
          <p:nvPr/>
        </p:nvSpPr>
        <p:spPr>
          <a:xfrm>
            <a:off x="4270809" y="3710709"/>
            <a:ext cx="1317430" cy="70566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preprocess</a:t>
            </a:r>
            <a:endParaRPr lang="de-AT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F91C7D-6E09-5742-5A4E-0B989F06146D}"/>
              </a:ext>
            </a:extLst>
          </p:cNvPr>
          <p:cNvSpPr/>
          <p:nvPr/>
        </p:nvSpPr>
        <p:spPr>
          <a:xfrm>
            <a:off x="6096000" y="3710709"/>
            <a:ext cx="1317430" cy="705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 err="1"/>
              <a:t>FinBERT</a:t>
            </a:r>
            <a:endParaRPr lang="de-AT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0CBB48E-272E-5136-7F37-D4B5945D746C}"/>
              </a:ext>
            </a:extLst>
          </p:cNvPr>
          <p:cNvCxnSpPr/>
          <p:nvPr/>
        </p:nvCxnSpPr>
        <p:spPr>
          <a:xfrm flipV="1">
            <a:off x="3096389" y="4602335"/>
            <a:ext cx="368361" cy="875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7F8D1D8-8319-7187-2783-82D173657764}"/>
              </a:ext>
            </a:extLst>
          </p:cNvPr>
          <p:cNvCxnSpPr>
            <a:cxnSpLocks/>
          </p:cNvCxnSpPr>
          <p:nvPr/>
        </p:nvCxnSpPr>
        <p:spPr>
          <a:xfrm>
            <a:off x="305305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72EA02D-722B-EA5D-EFB7-046797757193}"/>
              </a:ext>
            </a:extLst>
          </p:cNvPr>
          <p:cNvCxnSpPr>
            <a:cxnSpLocks/>
          </p:cNvCxnSpPr>
          <p:nvPr/>
        </p:nvCxnSpPr>
        <p:spPr>
          <a:xfrm>
            <a:off x="3014050" y="2977216"/>
            <a:ext cx="407363" cy="795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BC0119F-7F42-1D90-EF98-E6DA0954DD62}"/>
              </a:ext>
            </a:extLst>
          </p:cNvPr>
          <p:cNvCxnSpPr>
            <a:cxnSpLocks/>
          </p:cNvCxnSpPr>
          <p:nvPr/>
        </p:nvCxnSpPr>
        <p:spPr>
          <a:xfrm>
            <a:off x="384683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B8E4376-60E8-7B49-EBBD-E6D2C54C0E01}"/>
              </a:ext>
            </a:extLst>
          </p:cNvPr>
          <p:cNvCxnSpPr>
            <a:cxnSpLocks/>
          </p:cNvCxnSpPr>
          <p:nvPr/>
        </p:nvCxnSpPr>
        <p:spPr>
          <a:xfrm>
            <a:off x="5650352" y="4095298"/>
            <a:ext cx="368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DD09230F-59C8-EE1A-A5D4-039C7556E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778" y="2293508"/>
            <a:ext cx="1694408" cy="3428999"/>
          </a:xfrm>
          <a:prstGeom prst="rect">
            <a:avLst/>
          </a:prstGeom>
        </p:spPr>
      </p:pic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B7FEE09-8EFA-D247-3FB3-E0DE528EFAB7}"/>
              </a:ext>
            </a:extLst>
          </p:cNvPr>
          <p:cNvCxnSpPr>
            <a:cxnSpLocks/>
          </p:cNvCxnSpPr>
          <p:nvPr/>
        </p:nvCxnSpPr>
        <p:spPr>
          <a:xfrm flipV="1">
            <a:off x="7509488" y="3024886"/>
            <a:ext cx="1450329" cy="1035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070B6AD-5D18-BFD3-F6E9-196064CEC712}"/>
              </a:ext>
            </a:extLst>
          </p:cNvPr>
          <p:cNvCxnSpPr>
            <a:cxnSpLocks/>
          </p:cNvCxnSpPr>
          <p:nvPr/>
        </p:nvCxnSpPr>
        <p:spPr>
          <a:xfrm flipV="1">
            <a:off x="7661888" y="4114798"/>
            <a:ext cx="1162890" cy="97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92FA114F-7BE0-290C-4442-4C990FDCFFC5}"/>
              </a:ext>
            </a:extLst>
          </p:cNvPr>
          <p:cNvCxnSpPr>
            <a:cxnSpLocks/>
          </p:cNvCxnSpPr>
          <p:nvPr/>
        </p:nvCxnSpPr>
        <p:spPr>
          <a:xfrm>
            <a:off x="7565830" y="4486719"/>
            <a:ext cx="1224975" cy="65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ECAF0296-79A2-F590-5101-37E17512771D}"/>
              </a:ext>
            </a:extLst>
          </p:cNvPr>
          <p:cNvSpPr txBox="1"/>
          <p:nvPr/>
        </p:nvSpPr>
        <p:spPr>
          <a:xfrm>
            <a:off x="8867659" y="1967978"/>
            <a:ext cx="160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AT" dirty="0" err="1"/>
              <a:t>nvestor</a:t>
            </a:r>
            <a:r>
              <a:rPr lang="en-AT" dirty="0"/>
              <a:t> mood</a:t>
            </a:r>
            <a:endParaRPr lang="de-AT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6DD475C-3A68-2D5B-2996-4CE683A06B7A}"/>
              </a:ext>
            </a:extLst>
          </p:cNvPr>
          <p:cNvSpPr txBox="1"/>
          <p:nvPr/>
        </p:nvSpPr>
        <p:spPr>
          <a:xfrm>
            <a:off x="10327111" y="3875264"/>
            <a:ext cx="88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[1,0,-1]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6546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3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60DDDA-89AE-DFE2-B8BA-1D4C41A1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Methodology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F80B69-1C88-6AEC-A4B1-BA2A9499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Testing on regression AND classification tasks</a:t>
            </a:r>
          </a:p>
          <a:p>
            <a:r>
              <a:rPr lang="en-AT" dirty="0"/>
              <a:t>User multiple evaluation models (linear, non-linear)</a:t>
            </a:r>
          </a:p>
          <a:p>
            <a:r>
              <a:rPr lang="en-AT" dirty="0"/>
              <a:t>Different experiment setups</a:t>
            </a:r>
          </a:p>
          <a:p>
            <a:r>
              <a:rPr lang="en-AT" b="1" dirty="0"/>
              <a:t>Cross Validation</a:t>
            </a: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178897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8095A-49A0-4DE3-6870-1B3F3BE9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The Basic Experiment</a:t>
            </a:r>
            <a:endParaRPr lang="de-AT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AAAAC2-2742-CF44-E7E1-CA667803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2011244"/>
            <a:ext cx="10515600" cy="4351338"/>
          </a:xfrm>
        </p:spPr>
        <p:txBody>
          <a:bodyPr/>
          <a:lstStyle/>
          <a:p>
            <a:r>
              <a:rPr lang="en-GB" dirty="0"/>
              <a:t>T</a:t>
            </a:r>
            <a:r>
              <a:rPr lang="en-AT" dirty="0"/>
              <a:t>wo Datasets with 1.9 Million headlines</a:t>
            </a:r>
          </a:p>
          <a:p>
            <a:r>
              <a:rPr lang="en-AT" dirty="0"/>
              <a:t>4 Features Configurations (price only, sentiment only, </a:t>
            </a:r>
            <a:r>
              <a:rPr lang="en-AT" dirty="0" err="1"/>
              <a:t>techicals</a:t>
            </a:r>
            <a:r>
              <a:rPr lang="en-AT" dirty="0"/>
              <a:t>, technicals + sentiment)</a:t>
            </a:r>
          </a:p>
          <a:p>
            <a:r>
              <a:rPr lang="en-AT" dirty="0"/>
              <a:t>Technical Indicators: (Volume, VIX, U.S. 1-Year Treasury, Moving Average 30d)</a:t>
            </a:r>
          </a:p>
        </p:txBody>
      </p:sp>
      <p:pic>
        <p:nvPicPr>
          <p:cNvPr id="11" name="Inhaltsplatzhalter 4">
            <a:extLst>
              <a:ext uri="{FF2B5EF4-FFF2-40B4-BE49-F238E27FC236}">
                <a16:creationId xmlns:a16="http://schemas.microsoft.com/office/drawing/2014/main" id="{38E60663-17E5-4E5E-C499-6CC1ADD5F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518" y="4578147"/>
            <a:ext cx="5943755" cy="182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4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A1345-8567-973D-2869-EC89E3E0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Results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4296A65-261A-37C7-6CC1-EAEA4E68A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3407" y="365125"/>
            <a:ext cx="4207439" cy="29011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A3FD8E5-2E9D-0F95-7F11-78F6C964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877" y="365125"/>
            <a:ext cx="4082250" cy="27868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B8F2E9A-DE69-FCD9-6789-9EF2247F7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761" y="3694047"/>
            <a:ext cx="3940732" cy="273238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D791E2-A084-8387-31CA-D1A2B797B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877" y="3591906"/>
            <a:ext cx="4142123" cy="279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3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F82E97-A5E3-B3DB-5BB7-8FF6AD2F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4BB1E8-239F-98BA-53E8-56C275E1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b="1" dirty="0"/>
              <a:t>Rolling Sentiment </a:t>
            </a:r>
            <a:r>
              <a:rPr lang="en-AT" dirty="0"/>
              <a:t>(averaging n-days sentiment)</a:t>
            </a:r>
          </a:p>
          <a:p>
            <a:r>
              <a:rPr lang="en-AT" b="1" dirty="0"/>
              <a:t>Target Horizons </a:t>
            </a:r>
            <a:r>
              <a:rPr lang="en-AT" dirty="0"/>
              <a:t>(3d, 5d, 20d)</a:t>
            </a:r>
          </a:p>
          <a:p>
            <a:r>
              <a:rPr lang="en-AT" b="1" dirty="0"/>
              <a:t>Sentiment Models </a:t>
            </a:r>
            <a:r>
              <a:rPr lang="en-AT" dirty="0"/>
              <a:t>(VADER instead of </a:t>
            </a:r>
            <a:r>
              <a:rPr lang="en-AT" dirty="0" err="1"/>
              <a:t>FinBERT</a:t>
            </a:r>
            <a:r>
              <a:rPr lang="en-AT" dirty="0"/>
              <a:t>)</a:t>
            </a:r>
          </a:p>
          <a:p>
            <a:r>
              <a:rPr lang="en-AT" b="1" dirty="0"/>
              <a:t>Dataset configurations </a:t>
            </a:r>
            <a:r>
              <a:rPr lang="en-AT" dirty="0"/>
              <a:t>(irrelevant vs relevant dataset)</a:t>
            </a:r>
          </a:p>
          <a:p>
            <a:r>
              <a:rPr lang="en-AT" b="1" dirty="0"/>
              <a:t>Preprocessing</a:t>
            </a:r>
            <a:r>
              <a:rPr lang="en-AT" dirty="0"/>
              <a:t> (improving the quality of datasets)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9504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2271-3628-C30E-21FD-4E49CE0B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48079E7-10CA-1B0A-51E0-89602BB68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4757" y="1324828"/>
            <a:ext cx="3628319" cy="190554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10BF94D-07F1-A1C0-66FC-BEBBB56B8CE7}"/>
              </a:ext>
            </a:extLst>
          </p:cNvPr>
          <p:cNvSpPr txBox="1"/>
          <p:nvPr/>
        </p:nvSpPr>
        <p:spPr>
          <a:xfrm>
            <a:off x="3762648" y="3764148"/>
            <a:ext cx="3512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Different Dataset configurations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BEF7305-D9BE-BC89-D4EF-E9E103FC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753" y="1210669"/>
            <a:ext cx="3956805" cy="205353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744E34E-BB65-A7F2-B9C3-A9B6DA5212A7}"/>
              </a:ext>
            </a:extLst>
          </p:cNvPr>
          <p:cNvSpPr txBox="1"/>
          <p:nvPr/>
        </p:nvSpPr>
        <p:spPr>
          <a:xfrm>
            <a:off x="8336568" y="981592"/>
            <a:ext cx="312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Rolling Sentiment</a:t>
            </a:r>
            <a:endParaRPr lang="de-AT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304EE6-F9BB-9089-E8D7-85DF5377307E}"/>
              </a:ext>
            </a:extLst>
          </p:cNvPr>
          <p:cNvSpPr txBox="1"/>
          <p:nvPr/>
        </p:nvSpPr>
        <p:spPr>
          <a:xfrm>
            <a:off x="4147278" y="927573"/>
            <a:ext cx="312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Different Target horizons</a:t>
            </a:r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5CF44EE-F5A2-9D4E-886C-AA4A4C6B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00" y="4123752"/>
            <a:ext cx="4399817" cy="227397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BDA23E5-576D-9C6B-2CCB-504BFC721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981" y="4133380"/>
            <a:ext cx="4590429" cy="2327004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17EF251-EA81-F4C6-5F10-C3290510DB7C}"/>
              </a:ext>
            </a:extLst>
          </p:cNvPr>
          <p:cNvSpPr txBox="1"/>
          <p:nvPr/>
        </p:nvSpPr>
        <p:spPr>
          <a:xfrm>
            <a:off x="7959067" y="3713574"/>
            <a:ext cx="3394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VADER instead of </a:t>
            </a:r>
            <a:r>
              <a:rPr lang="en-AT" dirty="0" err="1"/>
              <a:t>FinBERT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9923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E1549-2245-59E4-F0F5-45FD3024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>
                <a:sym typeface="Wingdings" panose="05000000000000000000" pitchFamily="2" charset="2"/>
              </a:rPr>
              <a:t>Improve the quality of the Dataset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5D4BFBA-A72D-D10C-0ED6-11BFE8B60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7984" y="1793845"/>
            <a:ext cx="5987299" cy="17689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D006079-0A94-796C-81C5-3C2776AC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14" y="3964115"/>
            <a:ext cx="5932869" cy="16437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4D18809-D993-A0D8-8556-9B9F2CAFD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227" y="1690688"/>
            <a:ext cx="5124578" cy="4041843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C585B92E-31ED-98BC-1FB3-BA25370ED4EE}"/>
              </a:ext>
            </a:extLst>
          </p:cNvPr>
          <p:cNvGrpSpPr/>
          <p:nvPr/>
        </p:nvGrpSpPr>
        <p:grpSpPr>
          <a:xfrm>
            <a:off x="520100" y="4075683"/>
            <a:ext cx="1789920" cy="1909080"/>
            <a:chOff x="520100" y="4075683"/>
            <a:chExt cx="1789920" cy="19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5D5DA40F-60DA-DD5B-8FEB-43C82F8BE3E3}"/>
                    </a:ext>
                  </a:extLst>
                </p14:cNvPr>
                <p14:cNvContentPartPr/>
                <p14:nvPr/>
              </p14:nvContentPartPr>
              <p14:xfrm>
                <a:off x="520100" y="4075683"/>
                <a:ext cx="1216800" cy="190908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5D5DA40F-60DA-DD5B-8FEB-43C82F8BE3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1460" y="4067043"/>
                  <a:ext cx="1234440" cy="19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D9CD804B-AF4F-733E-025B-1862BCB894DD}"/>
                    </a:ext>
                  </a:extLst>
                </p14:cNvPr>
                <p14:cNvContentPartPr/>
                <p14:nvPr/>
              </p14:nvContentPartPr>
              <p14:xfrm>
                <a:off x="938420" y="4108443"/>
                <a:ext cx="1371600" cy="145116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D9CD804B-AF4F-733E-025B-1862BCB894D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9780" y="4099443"/>
                  <a:ext cx="1389240" cy="146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C3B2B09-02FC-64FE-F91E-0FB9FE21A9B2}"/>
              </a:ext>
            </a:extLst>
          </p:cNvPr>
          <p:cNvGrpSpPr/>
          <p:nvPr/>
        </p:nvGrpSpPr>
        <p:grpSpPr>
          <a:xfrm>
            <a:off x="622340" y="2249043"/>
            <a:ext cx="1957320" cy="984600"/>
            <a:chOff x="622340" y="2249043"/>
            <a:chExt cx="1957320" cy="9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DD86DA3A-E921-E896-6C06-D7D798CE842A}"/>
                    </a:ext>
                  </a:extLst>
                </p14:cNvPr>
                <p14:cNvContentPartPr/>
                <p14:nvPr/>
              </p14:nvContentPartPr>
              <p14:xfrm>
                <a:off x="622340" y="2358843"/>
                <a:ext cx="723240" cy="87480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DD86DA3A-E921-E896-6C06-D7D798CE84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3700" y="2350203"/>
                  <a:ext cx="74088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5D4452D0-0764-1C60-4164-277BC43B0E90}"/>
                    </a:ext>
                  </a:extLst>
                </p14:cNvPr>
                <p14:cNvContentPartPr/>
                <p14:nvPr/>
              </p14:nvContentPartPr>
              <p14:xfrm>
                <a:off x="875420" y="2249043"/>
                <a:ext cx="1704240" cy="66924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D4452D0-0764-1C60-4164-277BC43B0E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6420" y="2240403"/>
                  <a:ext cx="1721880" cy="68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267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05A64-7EC5-45DB-7FAC-3E8D62CD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Impact Scoring</a:t>
            </a:r>
            <a:endParaRPr lang="de-AT" dirty="0"/>
          </a:p>
        </p:txBody>
      </p:sp>
      <p:sp>
        <p:nvSpPr>
          <p:cNvPr id="6" name="Scrollen: vertikal 5">
            <a:extLst>
              <a:ext uri="{FF2B5EF4-FFF2-40B4-BE49-F238E27FC236}">
                <a16:creationId xmlns:a16="http://schemas.microsoft.com/office/drawing/2014/main" id="{C7EDD646-F1B3-A041-B4E9-23BD70F25852}"/>
              </a:ext>
            </a:extLst>
          </p:cNvPr>
          <p:cNvSpPr/>
          <p:nvPr/>
        </p:nvSpPr>
        <p:spPr>
          <a:xfrm>
            <a:off x="7531159" y="2789912"/>
            <a:ext cx="1477775" cy="1325563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Engineered Prompt</a:t>
            </a:r>
            <a:endParaRPr lang="de-AT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2E3C6E9-EEE9-2398-628C-4CB6694420A0}"/>
              </a:ext>
            </a:extLst>
          </p:cNvPr>
          <p:cNvSpPr/>
          <p:nvPr/>
        </p:nvSpPr>
        <p:spPr>
          <a:xfrm>
            <a:off x="5799866" y="3907003"/>
            <a:ext cx="2387841" cy="944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T" dirty="0"/>
              <a:t>L</a:t>
            </a:r>
            <a:r>
              <a:rPr lang="en-GB" dirty="0"/>
              <a:t>l</a:t>
            </a:r>
            <a:r>
              <a:rPr lang="en-AT" dirty="0"/>
              <a:t>ama 3.1 Instruct (8B)</a:t>
            </a:r>
            <a:endParaRPr lang="de-AT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911E890-1472-724C-B8FE-8B6351CFCB66}"/>
              </a:ext>
            </a:extLst>
          </p:cNvPr>
          <p:cNvCxnSpPr>
            <a:cxnSpLocks/>
          </p:cNvCxnSpPr>
          <p:nvPr/>
        </p:nvCxnSpPr>
        <p:spPr>
          <a:xfrm>
            <a:off x="8530427" y="4652159"/>
            <a:ext cx="13936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3 April 2025. Front page headline in The Times reads Trump piles on the ...">
            <a:extLst>
              <a:ext uri="{FF2B5EF4-FFF2-40B4-BE49-F238E27FC236}">
                <a16:creationId xmlns:a16="http://schemas.microsoft.com/office/drawing/2014/main" id="{27D68AC5-8AFD-D4BF-C14C-76DF168B4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359" y="2172676"/>
            <a:ext cx="3279048" cy="241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nhaltsplatzhalter 4">
            <a:extLst>
              <a:ext uri="{FF2B5EF4-FFF2-40B4-BE49-F238E27FC236}">
                <a16:creationId xmlns:a16="http://schemas.microsoft.com/office/drawing/2014/main" id="{AEDEEB59-079B-FB61-85E8-E822EDC3F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6000" y="5130045"/>
            <a:ext cx="4269817" cy="1261537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B27E5F64-4F5D-68BD-8784-CA907BAA19CD}"/>
              </a:ext>
            </a:extLst>
          </p:cNvPr>
          <p:cNvSpPr txBox="1"/>
          <p:nvPr/>
        </p:nvSpPr>
        <p:spPr>
          <a:xfrm>
            <a:off x="6236122" y="1529026"/>
            <a:ext cx="37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Evaluated on self annotated Dataset</a:t>
            </a:r>
            <a:endParaRPr lang="de-AT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FC13C1B-291E-C9AF-B00D-95AE4462DE58}"/>
              </a:ext>
            </a:extLst>
          </p:cNvPr>
          <p:cNvCxnSpPr>
            <a:cxnSpLocks/>
          </p:cNvCxnSpPr>
          <p:nvPr/>
        </p:nvCxnSpPr>
        <p:spPr>
          <a:xfrm>
            <a:off x="4940360" y="4671674"/>
            <a:ext cx="6153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C330E3E-DFAA-72EA-2857-BF1417CE0C73}"/>
              </a:ext>
            </a:extLst>
          </p:cNvPr>
          <p:cNvSpPr txBox="1"/>
          <p:nvPr/>
        </p:nvSpPr>
        <p:spPr>
          <a:xfrm>
            <a:off x="10127738" y="446749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[0, 1]</a:t>
            </a:r>
            <a:endParaRPr lang="de-AT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149F463-2F4F-5A6E-7C92-421A1546CB3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130486" y="1898358"/>
            <a:ext cx="1" cy="836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22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104AA8-C71A-6159-6D5F-AB299432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Result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D0845A-A17F-B345-B4E9-513221B2C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142" y="1690688"/>
            <a:ext cx="6237677" cy="32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82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E0AC2-100E-57C7-FDD7-014C5D62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Conclusion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7B7D95-F7FD-E72F-E725-444E99A6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195" y="1738952"/>
            <a:ext cx="10515600" cy="4351338"/>
          </a:xfrm>
        </p:spPr>
        <p:txBody>
          <a:bodyPr>
            <a:normAutofit/>
          </a:bodyPr>
          <a:lstStyle/>
          <a:p>
            <a:r>
              <a:rPr lang="en-AT" dirty="0"/>
              <a:t>In the context of the experiments daily aggregated sentiment was not enough to beat the EMH</a:t>
            </a:r>
          </a:p>
          <a:p>
            <a:endParaRPr lang="en-AT" dirty="0"/>
          </a:p>
          <a:p>
            <a:r>
              <a:rPr lang="en-AT" dirty="0"/>
              <a:t>The headline sentiment feature is insufficient</a:t>
            </a:r>
          </a:p>
          <a:p>
            <a:pPr lvl="1"/>
            <a:r>
              <a:rPr lang="en-AT" dirty="0"/>
              <a:t>Signal lifetime is too short (daily aggregation)</a:t>
            </a:r>
          </a:p>
          <a:p>
            <a:pPr lvl="1"/>
            <a:r>
              <a:rPr lang="en-AT" dirty="0"/>
              <a:t>Signal is noise</a:t>
            </a:r>
          </a:p>
          <a:p>
            <a:pPr marL="0" indent="0">
              <a:buNone/>
            </a:pPr>
            <a:endParaRPr lang="en-AT" dirty="0"/>
          </a:p>
          <a:p>
            <a:r>
              <a:rPr lang="en-AT" dirty="0"/>
              <a:t>LLMs are very promising in doing both analysing sentiment and denoising inputs.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3524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44DDB-6BDA-52DD-D3B4-7DB47CEC2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AT" dirty="0"/>
              <a:t>Thank you for Your Attention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3232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9D124E2-CFD0-4422-614C-500E34E9D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4" y="1995792"/>
            <a:ext cx="10366716" cy="311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67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531A7-F7D4-E030-A136-A55786D2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48DE7-5B65-888E-FA73-87D394E1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C216DF-4836-A61B-F19E-A92218709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b="1" dirty="0"/>
              <a:t>Rolling Sentiment </a:t>
            </a:r>
            <a:r>
              <a:rPr lang="en-AT" b="1" dirty="0">
                <a:sym typeface="Wingdings" panose="05000000000000000000" pitchFamily="2" charset="2"/>
              </a:rPr>
              <a:t></a:t>
            </a:r>
            <a:endParaRPr lang="en-AT" b="1" dirty="0"/>
          </a:p>
          <a:p>
            <a:r>
              <a:rPr lang="en-AT" dirty="0"/>
              <a:t>Target Horizons</a:t>
            </a:r>
          </a:p>
          <a:p>
            <a:r>
              <a:rPr lang="en-AT" dirty="0"/>
              <a:t>Sentiment Models</a:t>
            </a:r>
          </a:p>
          <a:p>
            <a:r>
              <a:rPr lang="en-AT" dirty="0"/>
              <a:t>Dataset configurations</a:t>
            </a:r>
          </a:p>
          <a:p>
            <a:r>
              <a:rPr lang="en-AT" dirty="0"/>
              <a:t>Preprocessing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003D0E-C06C-0770-91D4-0BFCFAA5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485" y="1491276"/>
            <a:ext cx="6595694" cy="342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20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E90BF-E072-5E1A-829B-FEBA4BCE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BEE57-CEBC-B3B8-A09E-0718AF12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BF5926-3D78-44C0-B1D7-CCF1C2CF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Rolling Sentiment</a:t>
            </a:r>
          </a:p>
          <a:p>
            <a:r>
              <a:rPr lang="en-AT" b="1" dirty="0"/>
              <a:t>Target Horizons </a:t>
            </a:r>
            <a:r>
              <a:rPr lang="en-AT" b="1" dirty="0">
                <a:sym typeface="Wingdings" panose="05000000000000000000" pitchFamily="2" charset="2"/>
              </a:rPr>
              <a:t></a:t>
            </a:r>
            <a:endParaRPr lang="en-AT" b="1" dirty="0"/>
          </a:p>
          <a:p>
            <a:r>
              <a:rPr lang="en-AT" dirty="0"/>
              <a:t>Sentiment Models</a:t>
            </a:r>
          </a:p>
          <a:p>
            <a:r>
              <a:rPr lang="en-AT" dirty="0"/>
              <a:t>Dataset configurations</a:t>
            </a:r>
          </a:p>
          <a:p>
            <a:r>
              <a:rPr lang="en-AT" dirty="0"/>
              <a:t>Preprocessing</a:t>
            </a:r>
            <a:endParaRPr lang="de-AT" dirty="0"/>
          </a:p>
        </p:txBody>
      </p:sp>
      <p:pic>
        <p:nvPicPr>
          <p:cNvPr id="5" name="Inhaltsplatzhalter 5">
            <a:extLst>
              <a:ext uri="{FF2B5EF4-FFF2-40B4-BE49-F238E27FC236}">
                <a16:creationId xmlns:a16="http://schemas.microsoft.com/office/drawing/2014/main" id="{278911D8-2D10-ED97-8193-95D03977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412" y="1690688"/>
            <a:ext cx="6490103" cy="340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B377-BE93-5D86-0570-24F8D8DC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7A9EE-5DC9-8A83-EC99-A8FE48E1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29813E-3A32-60AD-2E9D-61EC23FE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Rolling Sentiment</a:t>
            </a:r>
          </a:p>
          <a:p>
            <a:r>
              <a:rPr lang="en-AT" dirty="0"/>
              <a:t>Target Horizons</a:t>
            </a:r>
          </a:p>
          <a:p>
            <a:r>
              <a:rPr lang="en-AT" b="1" dirty="0"/>
              <a:t>Sentiment Models </a:t>
            </a:r>
            <a:r>
              <a:rPr lang="en-AT" b="1" dirty="0">
                <a:sym typeface="Wingdings" panose="05000000000000000000" pitchFamily="2" charset="2"/>
              </a:rPr>
              <a:t></a:t>
            </a:r>
            <a:endParaRPr lang="en-AT" b="1" dirty="0"/>
          </a:p>
          <a:p>
            <a:r>
              <a:rPr lang="en-AT" dirty="0"/>
              <a:t>Dataset configurations</a:t>
            </a:r>
          </a:p>
          <a:p>
            <a:r>
              <a:rPr lang="en-AT" dirty="0"/>
              <a:t>Preprocessing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D02F0F-C879-DAC6-0129-D8FBE7FA2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626" y="1690688"/>
            <a:ext cx="5962414" cy="30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48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ACAE-45CA-D393-64A3-CF839634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F089C-FBD6-6343-2FFB-37B30CA3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Variations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8FE817-58A8-A042-EE61-A9ABE2E9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Rolling Sentiment</a:t>
            </a:r>
          </a:p>
          <a:p>
            <a:r>
              <a:rPr lang="en-AT" dirty="0"/>
              <a:t>Target Horizons</a:t>
            </a:r>
          </a:p>
          <a:p>
            <a:r>
              <a:rPr lang="en-AT" dirty="0"/>
              <a:t>Sentiment Models</a:t>
            </a:r>
          </a:p>
          <a:p>
            <a:r>
              <a:rPr lang="en-AT" b="1" dirty="0"/>
              <a:t>Dataset configurations </a:t>
            </a:r>
            <a:r>
              <a:rPr lang="en-AT" b="1" dirty="0">
                <a:sym typeface="Wingdings" panose="05000000000000000000" pitchFamily="2" charset="2"/>
              </a:rPr>
              <a:t></a:t>
            </a:r>
            <a:endParaRPr lang="en-AT" b="1" dirty="0"/>
          </a:p>
          <a:p>
            <a:r>
              <a:rPr lang="en-AT" dirty="0"/>
              <a:t>Preprocessing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3E0B4E-B946-F8B5-A9D5-87B16F29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055" y="1690688"/>
            <a:ext cx="6039135" cy="31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Breitbild</PresentationFormat>
  <Paragraphs>83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</vt:lpstr>
      <vt:lpstr>Enhancing financial forcasting with sentiment analysis</vt:lpstr>
      <vt:lpstr>Idea &amp; Research Question</vt:lpstr>
      <vt:lpstr>Efficient Market Hypothesis</vt:lpstr>
      <vt:lpstr>The engineering of the sentiment feature</vt:lpstr>
      <vt:lpstr>Methodology</vt:lpstr>
      <vt:lpstr>The Basic Experiment</vt:lpstr>
      <vt:lpstr>Results</vt:lpstr>
      <vt:lpstr>Variations</vt:lpstr>
      <vt:lpstr>Variations</vt:lpstr>
      <vt:lpstr>Improve the quality of the Dataset</vt:lpstr>
      <vt:lpstr>Impact Scoring</vt:lpstr>
      <vt:lpstr>Result</vt:lpstr>
      <vt:lpstr>Conclusion</vt:lpstr>
      <vt:lpstr>Thank you for Your Attention</vt:lpstr>
      <vt:lpstr>PowerPoint-Präsentation</vt:lpstr>
      <vt:lpstr>Variations</vt:lpstr>
      <vt:lpstr>Variations</vt:lpstr>
      <vt:lpstr>Variations</vt:lpstr>
      <vt:lpstr>Variations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3</cp:revision>
  <dcterms:created xsi:type="dcterms:W3CDTF">2026-06-04T07:04:15Z</dcterms:created>
  <dcterms:modified xsi:type="dcterms:W3CDTF">2026-06-20T13:38:23Z</dcterms:modified>
</cp:coreProperties>
</file>