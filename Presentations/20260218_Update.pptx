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387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8493F-4AF6-44B1-AD32-E69CE1E7DA32}" type="datetimeFigureOut">
              <a:rPr lang="de-AT" smtClean="0"/>
              <a:t>18.02.2026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FD3C8-5E23-4E65-BA52-F84B598AB2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99338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/>
              <a:t>außerdem hat SUM einen </a:t>
            </a:r>
            <a:r>
              <a:rPr lang="de-DE" sz="1200" dirty="0" err="1"/>
              <a:t>nachteil</a:t>
            </a:r>
            <a:r>
              <a:rPr lang="de-DE" sz="1200" dirty="0"/>
              <a:t>. Es macht den </a:t>
            </a:r>
            <a:r>
              <a:rPr lang="de-DE" sz="1200" dirty="0" err="1"/>
              <a:t>sentiment</a:t>
            </a:r>
            <a:r>
              <a:rPr lang="de-DE" sz="1200" dirty="0"/>
              <a:t> abhängig von der Menge an News </a:t>
            </a:r>
            <a:r>
              <a:rPr lang="de-DE" sz="1200" dirty="0" err="1"/>
              <a:t>artikle</a:t>
            </a:r>
            <a:r>
              <a:rPr lang="de-DE" sz="1200" dirty="0"/>
              <a:t>. Das verwässert eigentliche         Marktstimmung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FD3C8-5E23-4E65-BA52-F84B598AB237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18820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30DF4E-56C7-4E11-4010-6935E450B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5A3DF19-702D-A000-C576-6BE6C2A44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5D9E21-F924-3D46-750D-090F7241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7EA2-266B-4B8E-AC50-B7661BB413AC}" type="datetimeFigureOut">
              <a:rPr lang="de-AT" smtClean="0"/>
              <a:t>18.02.2026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4D4912-A0DF-D03C-083E-DF75A9476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09A82C-A474-EADA-8239-F1E839416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BD3-B5DE-41D6-A814-63C7298E057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2796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D7843D-27B7-4952-E78F-7D9FF2002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4A31E9-E6DC-DB65-A96C-D6365A541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037DAE-C56E-9CF9-CE6B-87EA8680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7EA2-266B-4B8E-AC50-B7661BB413AC}" type="datetimeFigureOut">
              <a:rPr lang="de-AT" smtClean="0"/>
              <a:t>18.02.2026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8344D6-7197-48F8-2322-0E5BDE9CD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4C3532-EEB7-7A1E-B908-18DC03AB3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BD3-B5DE-41D6-A814-63C7298E057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7810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1775D9-09FE-CD8A-442F-E82DB032B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9F1091-BD2C-0292-2F58-0177E672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613D97-ACFD-345F-B519-F375ABF8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7EA2-266B-4B8E-AC50-B7661BB413AC}" type="datetimeFigureOut">
              <a:rPr lang="de-AT" smtClean="0"/>
              <a:t>18.02.2026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436147-A8F0-D6B1-31DD-A8DE3182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FFE5D2-C576-6960-5776-C0B01E82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BD3-B5DE-41D6-A814-63C7298E057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8975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C48CA9-EDAA-C218-E4A7-1603F1AEF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D85B0C-3F04-9C47-2DA5-45353595F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1200ABA-45B9-7436-A281-0C16E5E79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74A2F5-2256-155D-BCB2-197D0500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7EA2-266B-4B8E-AC50-B7661BB413AC}" type="datetimeFigureOut">
              <a:rPr lang="de-AT" smtClean="0"/>
              <a:t>18.02.2026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EFB04F-E028-CEFF-DA0A-66F19084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C04946-B818-2813-EABD-913E494F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BD3-B5DE-41D6-A814-63C7298E057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28268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3C56B-E73F-C275-D2EA-8008DA1B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87E908-F72E-1C1D-29A6-128F94440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7A439B-95A7-E150-4FA2-96A414885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47FD2A5-45E0-3535-DCF5-B949941E7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5314285-CEFC-54C0-6300-F623EF18FD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F2EC864-AE6B-1422-6BCF-7DA3BB43B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7EA2-266B-4B8E-AC50-B7661BB413AC}" type="datetimeFigureOut">
              <a:rPr lang="de-AT" smtClean="0"/>
              <a:t>18.02.2026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2093429-AA07-C994-CCC6-213962012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2E42A7D-C315-977E-556A-359A077A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BD3-B5DE-41D6-A814-63C7298E057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50091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8FD508-B289-089F-0E0A-1BEE706B8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1F60252-F417-CA45-1F13-1AD75A56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7EA2-266B-4B8E-AC50-B7661BB413AC}" type="datetimeFigureOut">
              <a:rPr lang="de-AT" smtClean="0"/>
              <a:t>18.02.2026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75BDF7B-EDC6-877A-F53B-B57C8A59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93C6CA-EBE7-AA22-9A95-D0F4F462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BD3-B5DE-41D6-A814-63C7298E057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7634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569F74A-2E93-BAAE-896E-9075A640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7EA2-266B-4B8E-AC50-B7661BB413AC}" type="datetimeFigureOut">
              <a:rPr lang="de-AT" smtClean="0"/>
              <a:t>18.02.2026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95D21CF-79FB-DB1D-EB15-B1723BF86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45D6A8-F452-344E-164B-C1B560AE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BD3-B5DE-41D6-A814-63C7298E057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6495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F452E5-3D8B-F911-969D-23740AB20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42D5BD-DDB6-E5BF-521F-FEA5ABCF1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7EADD7-25F9-F733-AB4F-EBF45AD44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91E13C-76DC-B782-F3C6-D99992A97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7EA2-266B-4B8E-AC50-B7661BB413AC}" type="datetimeFigureOut">
              <a:rPr lang="de-AT" smtClean="0"/>
              <a:t>18.02.2026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5BF3BC-7E66-4A5D-59F9-886917E95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791441D-84E2-6E1D-D105-76D4F070B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BD3-B5DE-41D6-A814-63C7298E057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1939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D5534-7D6C-1A34-3D7C-CB6EF7896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91C2B7B-5598-0CE9-479A-CEEF31143A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006177-4E9A-63A1-9CF9-71928A6FE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7C8CBB-9E1A-BD87-AC83-43716B47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7EA2-266B-4B8E-AC50-B7661BB413AC}" type="datetimeFigureOut">
              <a:rPr lang="de-AT" smtClean="0"/>
              <a:t>18.02.2026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F9CCC6-2F81-4A99-A14F-5BF8A3F5C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5FF8AB-826C-9FC8-0066-3CCF5F715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BD3-B5DE-41D6-A814-63C7298E057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8888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69B2F-28F0-4D82-AE08-97EE8D1D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06E2F17-D380-6031-4200-98C2481CC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6C5148-450B-FC41-0B2D-5BF3AC2E6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7EA2-266B-4B8E-AC50-B7661BB413AC}" type="datetimeFigureOut">
              <a:rPr lang="de-AT" smtClean="0"/>
              <a:t>18.02.2026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E71C8D-1ACC-6C72-10C3-0782C955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E161CB-1528-86BF-1C37-18A40EBC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BD3-B5DE-41D6-A814-63C7298E057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1072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0651337-7C47-371A-14AE-AFD6F21DB4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6E9090F-22E6-7B01-D0E6-43E54DF44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1A2CB0-6884-2262-43C3-DE7CE01C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7EA2-266B-4B8E-AC50-B7661BB413AC}" type="datetimeFigureOut">
              <a:rPr lang="de-AT" smtClean="0"/>
              <a:t>18.02.2026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209644-CD02-4E46-30FD-80AC4FD39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277B50-B16D-B315-3DB7-3978F7E2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EBD3-B5DE-41D6-A814-63C7298E057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76432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026AA31-7477-E0E8-484B-4D303E2A1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7A7FDF-DC32-D371-3115-71A7AC205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C614E7-B080-177B-9484-38BB34F02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B7EA2-266B-4B8E-AC50-B7661BB413AC}" type="datetimeFigureOut">
              <a:rPr lang="de-AT" smtClean="0"/>
              <a:t>18.02.2026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786B10-A810-B04D-B5F0-1CA8FB2F7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AE476B-83C1-6972-85FB-DE7C9E6A4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3EBD3-B5DE-41D6-A814-63C7298E057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53910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062CB-2A5C-7A4D-83BB-4191357DC8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/>
              <a:t>Update </a:t>
            </a:r>
            <a:r>
              <a:rPr lang="en-AT" dirty="0" err="1"/>
              <a:t>Masterarbeit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FE908A8-2BBE-8B28-8605-6A80F05A0D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T" dirty="0"/>
              <a:t>David Höchtl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95566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8AE60E-3EB6-91F3-5EE9-C31D24FB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Todos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5DBD02-9075-C58C-E832-3DFBC3B28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 err="1"/>
              <a:t>Neues</a:t>
            </a:r>
            <a:r>
              <a:rPr lang="en-AT" dirty="0"/>
              <a:t> </a:t>
            </a:r>
            <a:r>
              <a:rPr lang="en-AT" dirty="0" err="1"/>
              <a:t>Datenset</a:t>
            </a:r>
            <a:r>
              <a:rPr lang="en-AT" dirty="0"/>
              <a:t> </a:t>
            </a:r>
            <a:r>
              <a:rPr lang="en-AT" dirty="0" err="1"/>
              <a:t>aus</a:t>
            </a:r>
            <a:r>
              <a:rPr lang="en-AT" dirty="0"/>
              <a:t> </a:t>
            </a:r>
            <a:r>
              <a:rPr lang="en-AT" dirty="0" err="1"/>
              <a:t>Referenzpaper</a:t>
            </a:r>
            <a:r>
              <a:rPr lang="en-AT" dirty="0"/>
              <a:t> </a:t>
            </a:r>
            <a:r>
              <a:rPr lang="en-AT" dirty="0" err="1"/>
              <a:t>einbauen</a:t>
            </a:r>
            <a:endParaRPr lang="en-AT" dirty="0"/>
          </a:p>
          <a:p>
            <a:r>
              <a:rPr lang="en-AT" dirty="0"/>
              <a:t>US -1 year Treasury Yield </a:t>
            </a:r>
            <a:r>
              <a:rPr lang="en-AT" dirty="0" err="1"/>
              <a:t>einbauen</a:t>
            </a:r>
            <a:endParaRPr lang="en-AT" dirty="0"/>
          </a:p>
          <a:p>
            <a:r>
              <a:rPr lang="en-AT" dirty="0"/>
              <a:t>Sentiment Aggregation </a:t>
            </a:r>
            <a:r>
              <a:rPr lang="en-AT" dirty="0" err="1"/>
              <a:t>bei</a:t>
            </a:r>
            <a:r>
              <a:rPr lang="en-AT" dirty="0"/>
              <a:t> </a:t>
            </a:r>
            <a:r>
              <a:rPr lang="en-AT" dirty="0" err="1"/>
              <a:t>FinBERT</a:t>
            </a:r>
            <a:r>
              <a:rPr lang="en-AT" dirty="0"/>
              <a:t> neu </a:t>
            </a:r>
            <a:r>
              <a:rPr lang="en-AT" dirty="0" err="1"/>
              <a:t>umsetzen</a:t>
            </a:r>
            <a:r>
              <a:rPr lang="en-AT" dirty="0"/>
              <a:t> (Class </a:t>
            </a:r>
            <a:r>
              <a:rPr lang="en-AT" dirty="0" err="1"/>
              <a:t>Probabilites</a:t>
            </a:r>
            <a:r>
              <a:rPr lang="en-AT" dirty="0"/>
              <a:t> </a:t>
            </a:r>
            <a:r>
              <a:rPr lang="en-AT" dirty="0" err="1"/>
              <a:t>sollen</a:t>
            </a:r>
            <a:r>
              <a:rPr lang="en-AT" dirty="0"/>
              <a:t> </a:t>
            </a:r>
            <a:r>
              <a:rPr lang="en-AT" dirty="0" err="1"/>
              <a:t>beachtet</a:t>
            </a:r>
            <a:r>
              <a:rPr lang="en-AT" dirty="0"/>
              <a:t> </a:t>
            </a:r>
            <a:r>
              <a:rPr lang="en-AT" dirty="0" err="1"/>
              <a:t>werden</a:t>
            </a:r>
            <a:r>
              <a:rPr lang="en-AT" dirty="0"/>
              <a:t>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91190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F9B619-4DC4-8601-4679-B92625BE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 err="1"/>
              <a:t>Neues</a:t>
            </a:r>
            <a:r>
              <a:rPr lang="en-AT" dirty="0"/>
              <a:t> </a:t>
            </a:r>
            <a:r>
              <a:rPr lang="en-AT" dirty="0" err="1"/>
              <a:t>Datenset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94C92C-64AB-D739-EC80-53E40AD59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-&gt; neues Datenset hat riesige Menge an </a:t>
            </a:r>
            <a:r>
              <a:rPr lang="de-DE" sz="2400" dirty="0" err="1"/>
              <a:t>new</a:t>
            </a:r>
            <a:r>
              <a:rPr lang="de-DE" sz="2400" dirty="0"/>
              <a:t> </a:t>
            </a:r>
            <a:r>
              <a:rPr lang="de-DE" sz="2400" dirty="0" err="1"/>
              <a:t>articles</a:t>
            </a:r>
            <a:r>
              <a:rPr lang="de-DE" sz="2400" dirty="0"/>
              <a:t>. Volume x Sentiment </a:t>
            </a:r>
            <a:r>
              <a:rPr lang="de-DE" sz="2400" dirty="0" err="1"/>
              <a:t>correlation</a:t>
            </a:r>
            <a:r>
              <a:rPr lang="de-DE" sz="2400" dirty="0"/>
              <a:t> verschwindet. Scheint generell qualitativ schlechter zu sein als wie das andere </a:t>
            </a:r>
            <a:r>
              <a:rPr lang="de-DE" sz="2400" dirty="0" err="1"/>
              <a:t>Kaggle</a:t>
            </a:r>
            <a:r>
              <a:rPr lang="de-DE" sz="2400" dirty="0"/>
              <a:t>-Dataset, da die </a:t>
            </a:r>
            <a:r>
              <a:rPr lang="de-DE" sz="2400" dirty="0" err="1"/>
              <a:t>price_change</a:t>
            </a:r>
            <a:r>
              <a:rPr lang="de-DE" sz="2400" dirty="0"/>
              <a:t> x </a:t>
            </a:r>
            <a:r>
              <a:rPr lang="de-DE" sz="2400" dirty="0" err="1"/>
              <a:t>sentiment</a:t>
            </a:r>
            <a:r>
              <a:rPr lang="de-DE" sz="2400" dirty="0"/>
              <a:t> </a:t>
            </a:r>
            <a:r>
              <a:rPr lang="de-DE" sz="2400" dirty="0" err="1"/>
              <a:t>korrelation</a:t>
            </a:r>
            <a:r>
              <a:rPr lang="de-DE" sz="2400" dirty="0"/>
              <a:t> optisch schlechter ist (siehe </a:t>
            </a:r>
            <a:r>
              <a:rPr lang="de-DE" sz="2400" dirty="0" err="1"/>
              <a:t>price_change</a:t>
            </a:r>
            <a:r>
              <a:rPr lang="de-DE" sz="2400" dirty="0"/>
              <a:t>/</a:t>
            </a:r>
            <a:r>
              <a:rPr lang="de-DE" sz="2400" dirty="0" err="1"/>
              <a:t>sentiment</a:t>
            </a:r>
            <a:r>
              <a:rPr lang="de-DE" sz="2400" dirty="0"/>
              <a:t> </a:t>
            </a:r>
            <a:r>
              <a:rPr lang="de-DE" sz="2400" dirty="0" err="1"/>
              <a:t>graph</a:t>
            </a:r>
            <a:r>
              <a:rPr lang="de-DE" sz="2400" dirty="0"/>
              <a:t>)</a:t>
            </a:r>
            <a:endParaRPr lang="en-AT" sz="2400" dirty="0"/>
          </a:p>
          <a:p>
            <a:endParaRPr lang="de-DE" sz="2400" dirty="0"/>
          </a:p>
          <a:p>
            <a:r>
              <a:rPr lang="de-DE" sz="2400" dirty="0"/>
              <a:t>-&gt; ist </a:t>
            </a:r>
            <a:r>
              <a:rPr lang="de-DE" sz="2400" dirty="0" err="1"/>
              <a:t>biased</a:t>
            </a:r>
            <a:r>
              <a:rPr lang="de-DE" sz="2400" dirty="0"/>
              <a:t> zu guten </a:t>
            </a:r>
            <a:r>
              <a:rPr lang="de-DE" sz="2400" dirty="0" err="1"/>
              <a:t>nachrichten</a:t>
            </a:r>
            <a:r>
              <a:rPr lang="de-DE" sz="2400" dirty="0"/>
              <a:t> </a:t>
            </a:r>
            <a:r>
              <a:rPr lang="de-DE" sz="2400" dirty="0" err="1"/>
              <a:t>sentiment</a:t>
            </a:r>
            <a:r>
              <a:rPr lang="de-DE" sz="2400" dirty="0"/>
              <a:t> score durchgehend positiv</a:t>
            </a:r>
            <a:endParaRPr lang="en-AT" sz="2400" dirty="0"/>
          </a:p>
          <a:p>
            <a:endParaRPr lang="de-DE" sz="2400" dirty="0"/>
          </a:p>
          <a:p>
            <a:r>
              <a:rPr lang="de-DE" sz="2400" dirty="0"/>
              <a:t>-&gt; </a:t>
            </a:r>
            <a:r>
              <a:rPr lang="de-DE" sz="2400" dirty="0" err="1"/>
              <a:t>zeitzone</a:t>
            </a:r>
            <a:r>
              <a:rPr lang="de-DE" sz="2400" dirty="0"/>
              <a:t> unbekannt, stichprobenmäßig aber UTC-4/-5</a:t>
            </a:r>
            <a:endParaRPr lang="en-AT" sz="2400" dirty="0"/>
          </a:p>
          <a:p>
            <a:endParaRPr lang="de-DE" sz="2400" dirty="0"/>
          </a:p>
          <a:p>
            <a:r>
              <a:rPr lang="de-DE" sz="2400" dirty="0"/>
              <a:t>-&gt; ansonsten sind die </a:t>
            </a:r>
            <a:r>
              <a:rPr lang="en-AT" sz="2400" dirty="0"/>
              <a:t>E</a:t>
            </a:r>
            <a:r>
              <a:rPr lang="de-DE" sz="2400" dirty="0" err="1"/>
              <a:t>rgebnisse</a:t>
            </a:r>
            <a:r>
              <a:rPr lang="de-DE" sz="2400" dirty="0"/>
              <a:t> gleich wie bei den anderen Datasets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545961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7A3EAA-3EFE-9747-D070-2535304A9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Sentiment Aggregation Function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123813-72D1-2E38-BB02-ABDE61BAE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dirty="0" err="1"/>
              <a:t>sentiment</a:t>
            </a:r>
            <a:r>
              <a:rPr lang="de-DE" sz="2400" dirty="0"/>
              <a:t> </a:t>
            </a:r>
            <a:r>
              <a:rPr lang="de-DE" sz="2400" dirty="0" err="1"/>
              <a:t>aggregation</a:t>
            </a:r>
            <a:r>
              <a:rPr lang="de-DE" sz="2400" dirty="0"/>
              <a:t> </a:t>
            </a:r>
            <a:r>
              <a:rPr lang="de-DE" sz="2400" dirty="0" err="1"/>
              <a:t>funktion</a:t>
            </a:r>
            <a:r>
              <a:rPr lang="de-DE" sz="2400" dirty="0"/>
              <a:t> überarbeite</a:t>
            </a:r>
            <a:r>
              <a:rPr lang="en-AT" sz="2400" dirty="0"/>
              <a:t>t</a:t>
            </a:r>
          </a:p>
          <a:p>
            <a:endParaRPr lang="de-DE" sz="2400" dirty="0"/>
          </a:p>
          <a:p>
            <a:endParaRPr lang="en-AT" sz="2400" dirty="0"/>
          </a:p>
          <a:p>
            <a:endParaRPr lang="en-AT" sz="2400" dirty="0"/>
          </a:p>
          <a:p>
            <a:endParaRPr lang="en-AT" sz="2400" dirty="0"/>
          </a:p>
          <a:p>
            <a:r>
              <a:rPr lang="de-DE" sz="2400" dirty="0"/>
              <a:t>-&gt; </a:t>
            </a:r>
            <a:r>
              <a:rPr lang="en-AT" sz="2400" dirty="0" err="1"/>
              <a:t>leichte</a:t>
            </a:r>
            <a:r>
              <a:rPr lang="en-AT" sz="2400" dirty="0"/>
              <a:t> </a:t>
            </a:r>
            <a:r>
              <a:rPr lang="en-AT" sz="2400" dirty="0" err="1"/>
              <a:t>Verbesserung</a:t>
            </a:r>
            <a:r>
              <a:rPr lang="en-AT" sz="2400" dirty="0"/>
              <a:t> der Sentiment Representation</a:t>
            </a:r>
            <a:endParaRPr lang="de-DE" sz="2400" dirty="0"/>
          </a:p>
          <a:p>
            <a:r>
              <a:rPr lang="de-DE" sz="2400" dirty="0"/>
              <a:t>-&gt; </a:t>
            </a:r>
            <a:r>
              <a:rPr lang="de-DE" sz="2400" dirty="0" err="1"/>
              <a:t>Sum</a:t>
            </a:r>
            <a:r>
              <a:rPr lang="de-DE" sz="2400" dirty="0"/>
              <a:t> anstatt Mean für tagesaggregierung hat bei MLR zu besser als </a:t>
            </a:r>
            <a:r>
              <a:rPr lang="de-DE" sz="2400" dirty="0" err="1"/>
              <a:t>mean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r>
              <a:rPr lang="de-DE" sz="2400" dirty="0"/>
              <a:t> geführt, aber schwindend gering und nicht nennenswert</a:t>
            </a:r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E843B7-634A-E154-A3DA-748994D61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273" y="3270378"/>
            <a:ext cx="7661412" cy="31724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6004BCF-82D6-B39D-DC99-2E40872FC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273" y="2518669"/>
            <a:ext cx="7661412" cy="65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1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AC10D7-1B21-5D8F-3C57-7353040F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US1Y Feature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90DFDD-E080-C810-FB83-D975968B3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</a:t>
            </a:r>
            <a:r>
              <a:rPr lang="en-AT" dirty="0"/>
              <a:t>craped via </a:t>
            </a:r>
            <a:r>
              <a:rPr lang="en-AT" dirty="0" err="1"/>
              <a:t>investpy</a:t>
            </a:r>
            <a:endParaRPr lang="en-AT" dirty="0"/>
          </a:p>
          <a:p>
            <a:endParaRPr lang="en-AT" dirty="0"/>
          </a:p>
          <a:p>
            <a:r>
              <a:rPr lang="en-AT" dirty="0" err="1"/>
              <a:t>Scheint</a:t>
            </a:r>
            <a:r>
              <a:rPr lang="en-AT" dirty="0"/>
              <a:t> </a:t>
            </a:r>
            <a:r>
              <a:rPr lang="en-AT" dirty="0" err="1"/>
              <a:t>keinen</a:t>
            </a:r>
            <a:r>
              <a:rPr lang="en-AT" dirty="0"/>
              <a:t> </a:t>
            </a:r>
            <a:r>
              <a:rPr lang="en-AT" dirty="0" err="1"/>
              <a:t>großen</a:t>
            </a:r>
            <a:r>
              <a:rPr lang="en-AT" dirty="0"/>
              <a:t> </a:t>
            </a:r>
            <a:r>
              <a:rPr lang="en-AT" dirty="0" err="1"/>
              <a:t>effekt</a:t>
            </a:r>
            <a:r>
              <a:rPr lang="en-AT" dirty="0"/>
              <a:t> </a:t>
            </a:r>
            <a:r>
              <a:rPr lang="en-AT" dirty="0" err="1"/>
              <a:t>zu</a:t>
            </a:r>
            <a:r>
              <a:rPr lang="en-AT" dirty="0"/>
              <a:t> </a:t>
            </a:r>
            <a:r>
              <a:rPr lang="en-AT" dirty="0" err="1"/>
              <a:t>haben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4016168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E77079-61EA-F660-444A-276D3B4D7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Experiment Update</a:t>
            </a:r>
            <a:endParaRPr lang="de-AT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27821BE-B16B-C827-B734-E774A0B325EF}"/>
              </a:ext>
            </a:extLst>
          </p:cNvPr>
          <p:cNvSpPr txBox="1"/>
          <p:nvPr/>
        </p:nvSpPr>
        <p:spPr>
          <a:xfrm>
            <a:off x="1477774" y="2184159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2010-2020</a:t>
            </a:r>
            <a:endParaRPr lang="de-AT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3A321C6-77F2-ABC8-93B6-3051260AE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050" y="2259965"/>
            <a:ext cx="5949198" cy="21772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D64A7F7-6582-7E7C-F993-75E15F0C44AC}"/>
              </a:ext>
            </a:extLst>
          </p:cNvPr>
          <p:cNvSpPr txBox="1"/>
          <p:nvPr/>
        </p:nvSpPr>
        <p:spPr>
          <a:xfrm>
            <a:off x="1477774" y="1752757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Dataset: AENELLE</a:t>
            </a:r>
            <a:endParaRPr lang="de-AT" dirty="0"/>
          </a:p>
        </p:txBody>
      </p:sp>
      <p:pic>
        <p:nvPicPr>
          <p:cNvPr id="13" name="Grafik 12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EFD63E60-EC4A-DA8A-6145-4AD69E60F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774" y="2730429"/>
            <a:ext cx="8877532" cy="21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0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46CBE-AC41-BA2A-52F5-73DCB583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Next steps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CD5ECB-2060-6812-17E5-6652D306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2 </a:t>
            </a:r>
            <a:r>
              <a:rPr lang="en-AT" dirty="0" err="1"/>
              <a:t>Refactorings</a:t>
            </a:r>
            <a:r>
              <a:rPr lang="en-AT" dirty="0"/>
              <a:t> (</a:t>
            </a:r>
            <a:r>
              <a:rPr lang="en-AT" dirty="0" err="1"/>
              <a:t>Datenbank</a:t>
            </a:r>
            <a:r>
              <a:rPr lang="en-AT" dirty="0"/>
              <a:t> </a:t>
            </a:r>
            <a:r>
              <a:rPr lang="en-AT" dirty="0" err="1"/>
              <a:t>verwenden</a:t>
            </a:r>
            <a:r>
              <a:rPr lang="en-AT" dirty="0"/>
              <a:t>, Experiment settings </a:t>
            </a:r>
            <a:r>
              <a:rPr lang="en-AT" dirty="0" err="1"/>
              <a:t>datei</a:t>
            </a:r>
            <a:r>
              <a:rPr lang="en-AT" dirty="0"/>
              <a:t>, Experiment runner)</a:t>
            </a:r>
          </a:p>
          <a:p>
            <a:endParaRPr lang="en-AT" dirty="0"/>
          </a:p>
          <a:p>
            <a:r>
              <a:rPr lang="en-AT" dirty="0" err="1"/>
              <a:t>Masterarbeits</a:t>
            </a:r>
            <a:r>
              <a:rPr lang="en-AT" dirty="0"/>
              <a:t> </a:t>
            </a:r>
            <a:r>
              <a:rPr lang="en-AT" dirty="0" err="1"/>
              <a:t>Skelett</a:t>
            </a:r>
            <a:endParaRPr lang="en-AT" dirty="0"/>
          </a:p>
          <a:p>
            <a:endParaRPr lang="en-AT" dirty="0"/>
          </a:p>
          <a:p>
            <a:r>
              <a:rPr lang="en-AT" dirty="0"/>
              <a:t>Introduction, Abstract, 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965810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Breitbild</PresentationFormat>
  <Paragraphs>37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Update Masterarbeit</vt:lpstr>
      <vt:lpstr>Todos</vt:lpstr>
      <vt:lpstr>Neues Datenset</vt:lpstr>
      <vt:lpstr>Sentiment Aggregation Function</vt:lpstr>
      <vt:lpstr>US1Y Feature</vt:lpstr>
      <vt:lpstr>Experiment Update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Höchtl</dc:creator>
  <cp:lastModifiedBy>David Höchtl</cp:lastModifiedBy>
  <cp:revision>1</cp:revision>
  <dcterms:created xsi:type="dcterms:W3CDTF">2026-02-18T13:25:22Z</dcterms:created>
  <dcterms:modified xsi:type="dcterms:W3CDTF">2026-02-18T21:34:39Z</dcterms:modified>
</cp:coreProperties>
</file>