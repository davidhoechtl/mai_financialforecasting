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3" r:id="rId10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60"/>
  </p:normalViewPr>
  <p:slideViewPr>
    <p:cSldViewPr snapToGrid="0">
      <p:cViewPr varScale="1">
        <p:scale>
          <a:sx n="86" d="100"/>
          <a:sy n="86" d="100"/>
        </p:scale>
        <p:origin x="80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61FD75-ACE2-4491-9CE0-1A2E1BDE956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8047012-8305-4449-BE84-FA673127211D}">
      <dgm:prSet/>
      <dgm:spPr/>
      <dgm:t>
        <a:bodyPr/>
        <a:lstStyle/>
        <a:p>
          <a:r>
            <a:rPr lang="en-AT"/>
            <a:t>EDA durchgeführt</a:t>
          </a:r>
          <a:endParaRPr lang="en-US"/>
        </a:p>
      </dgm:t>
    </dgm:pt>
    <dgm:pt modelId="{153ADB23-D94A-44F9-A899-BFCA2554221A}" type="parTrans" cxnId="{CB456A2D-F7BF-4098-8B28-F991B700D58B}">
      <dgm:prSet/>
      <dgm:spPr/>
      <dgm:t>
        <a:bodyPr/>
        <a:lstStyle/>
        <a:p>
          <a:endParaRPr lang="en-US"/>
        </a:p>
      </dgm:t>
    </dgm:pt>
    <dgm:pt modelId="{D585D892-490D-4C7D-9554-5FEB85CE7397}" type="sibTrans" cxnId="{CB456A2D-F7BF-4098-8B28-F991B700D58B}">
      <dgm:prSet/>
      <dgm:spPr/>
      <dgm:t>
        <a:bodyPr/>
        <a:lstStyle/>
        <a:p>
          <a:endParaRPr lang="en-US"/>
        </a:p>
      </dgm:t>
    </dgm:pt>
    <dgm:pt modelId="{B1DA889F-B876-4549-9451-80B96698A95B}">
      <dgm:prSet/>
      <dgm:spPr/>
      <dgm:t>
        <a:bodyPr/>
        <a:lstStyle/>
        <a:p>
          <a:r>
            <a:rPr lang="en-GB"/>
            <a:t>S</a:t>
          </a:r>
          <a:r>
            <a:rPr lang="en-AT"/>
            <a:t>pearman correlation</a:t>
          </a:r>
          <a:endParaRPr lang="en-US"/>
        </a:p>
      </dgm:t>
    </dgm:pt>
    <dgm:pt modelId="{8CE9959E-73DA-48B8-B476-A33D168AC920}" type="parTrans" cxnId="{AFB7C1C1-1BFC-489E-8845-F77706E09BF1}">
      <dgm:prSet/>
      <dgm:spPr/>
      <dgm:t>
        <a:bodyPr/>
        <a:lstStyle/>
        <a:p>
          <a:endParaRPr lang="en-US"/>
        </a:p>
      </dgm:t>
    </dgm:pt>
    <dgm:pt modelId="{1776EFDF-776F-4965-8190-8DC09D678473}" type="sibTrans" cxnId="{AFB7C1C1-1BFC-489E-8845-F77706E09BF1}">
      <dgm:prSet/>
      <dgm:spPr/>
      <dgm:t>
        <a:bodyPr/>
        <a:lstStyle/>
        <a:p>
          <a:endParaRPr lang="en-US"/>
        </a:p>
      </dgm:t>
    </dgm:pt>
    <dgm:pt modelId="{1D71615A-3944-4990-A7F7-95B5C5580584}">
      <dgm:prSet/>
      <dgm:spPr/>
      <dgm:t>
        <a:bodyPr/>
        <a:lstStyle/>
        <a:p>
          <a:r>
            <a:rPr lang="en-AT"/>
            <a:t>Pearson correlation</a:t>
          </a:r>
          <a:endParaRPr lang="en-US"/>
        </a:p>
      </dgm:t>
    </dgm:pt>
    <dgm:pt modelId="{8AD682A8-6A0B-464C-9FAE-1A646412ECE8}" type="parTrans" cxnId="{5B43602B-32DB-44E2-A55A-DA548437537D}">
      <dgm:prSet/>
      <dgm:spPr/>
      <dgm:t>
        <a:bodyPr/>
        <a:lstStyle/>
        <a:p>
          <a:endParaRPr lang="en-US"/>
        </a:p>
      </dgm:t>
    </dgm:pt>
    <dgm:pt modelId="{ECF7DB93-187E-4DAF-883D-331A929FE2C5}" type="sibTrans" cxnId="{5B43602B-32DB-44E2-A55A-DA548437537D}">
      <dgm:prSet/>
      <dgm:spPr/>
      <dgm:t>
        <a:bodyPr/>
        <a:lstStyle/>
        <a:p>
          <a:endParaRPr lang="en-US"/>
        </a:p>
      </dgm:t>
    </dgm:pt>
    <dgm:pt modelId="{6892564D-7620-49C4-9F4E-F47AFA61D343}">
      <dgm:prSet/>
      <dgm:spPr/>
      <dgm:t>
        <a:bodyPr/>
        <a:lstStyle/>
        <a:p>
          <a:r>
            <a:rPr lang="en-GB"/>
            <a:t>P</a:t>
          </a:r>
          <a:r>
            <a:rPr lang="en-AT"/>
            <a:t>-Value</a:t>
          </a:r>
          <a:endParaRPr lang="en-US"/>
        </a:p>
      </dgm:t>
    </dgm:pt>
    <dgm:pt modelId="{7B34E8D1-6532-4E2D-B7EE-E7E73A8F8481}" type="parTrans" cxnId="{43C501F3-A9FD-4F9F-AEA4-78C35FD7F257}">
      <dgm:prSet/>
      <dgm:spPr/>
      <dgm:t>
        <a:bodyPr/>
        <a:lstStyle/>
        <a:p>
          <a:endParaRPr lang="en-US"/>
        </a:p>
      </dgm:t>
    </dgm:pt>
    <dgm:pt modelId="{F67C1062-A5F6-4DAE-AA43-E17BE5684628}" type="sibTrans" cxnId="{43C501F3-A9FD-4F9F-AEA4-78C35FD7F257}">
      <dgm:prSet/>
      <dgm:spPr/>
      <dgm:t>
        <a:bodyPr/>
        <a:lstStyle/>
        <a:p>
          <a:endParaRPr lang="en-US"/>
        </a:p>
      </dgm:t>
    </dgm:pt>
    <dgm:pt modelId="{2365C3B4-2D78-4A2D-AA13-8B3EF1792321}">
      <dgm:prSet/>
      <dgm:spPr/>
      <dgm:t>
        <a:bodyPr/>
        <a:lstStyle/>
        <a:p>
          <a:r>
            <a:rPr lang="en-AT"/>
            <a:t>Histogramme für sentiment x preischange</a:t>
          </a:r>
          <a:endParaRPr lang="en-US"/>
        </a:p>
      </dgm:t>
    </dgm:pt>
    <dgm:pt modelId="{BBEF595D-4FDF-4B09-BA4A-E871D05866E2}" type="parTrans" cxnId="{2FDF8126-BD5F-404F-81C9-A5FAA9D6F592}">
      <dgm:prSet/>
      <dgm:spPr/>
      <dgm:t>
        <a:bodyPr/>
        <a:lstStyle/>
        <a:p>
          <a:endParaRPr lang="en-US"/>
        </a:p>
      </dgm:t>
    </dgm:pt>
    <dgm:pt modelId="{B6330D8A-EC73-4151-9C3B-32009FD77E42}" type="sibTrans" cxnId="{2FDF8126-BD5F-404F-81C9-A5FAA9D6F592}">
      <dgm:prSet/>
      <dgm:spPr/>
      <dgm:t>
        <a:bodyPr/>
        <a:lstStyle/>
        <a:p>
          <a:endParaRPr lang="en-US"/>
        </a:p>
      </dgm:t>
    </dgm:pt>
    <dgm:pt modelId="{2245AEF0-7B78-4D1A-8A40-3A170B3D45BD}">
      <dgm:prSet/>
      <dgm:spPr/>
      <dgm:t>
        <a:bodyPr/>
        <a:lstStyle/>
        <a:p>
          <a:r>
            <a:rPr lang="en-AT"/>
            <a:t>Impact Scoring</a:t>
          </a:r>
          <a:endParaRPr lang="en-US"/>
        </a:p>
      </dgm:t>
    </dgm:pt>
    <dgm:pt modelId="{6F0C98D0-9C25-44D4-89ED-01A4AEC7B3E3}" type="parTrans" cxnId="{69CF73C8-48DB-4E76-9D9F-846EC79FD3E0}">
      <dgm:prSet/>
      <dgm:spPr/>
      <dgm:t>
        <a:bodyPr/>
        <a:lstStyle/>
        <a:p>
          <a:endParaRPr lang="en-US"/>
        </a:p>
      </dgm:t>
    </dgm:pt>
    <dgm:pt modelId="{81A58F8B-CB48-4863-898E-6B658EEFCC6E}" type="sibTrans" cxnId="{69CF73C8-48DB-4E76-9D9F-846EC79FD3E0}">
      <dgm:prSet/>
      <dgm:spPr/>
      <dgm:t>
        <a:bodyPr/>
        <a:lstStyle/>
        <a:p>
          <a:endParaRPr lang="en-US"/>
        </a:p>
      </dgm:t>
    </dgm:pt>
    <dgm:pt modelId="{7E21645A-DA72-4B77-97EE-FD0671FD94BF}">
      <dgm:prSet/>
      <dgm:spPr/>
      <dgm:t>
        <a:bodyPr/>
        <a:lstStyle/>
        <a:p>
          <a:r>
            <a:rPr lang="en-GB" dirty="0"/>
            <a:t>M</a:t>
          </a:r>
          <a:r>
            <a:rPr lang="en-AT" dirty="0"/>
            <a:t>it Llama-3.1-8B-Instruct</a:t>
          </a:r>
          <a:endParaRPr lang="en-US" dirty="0"/>
        </a:p>
      </dgm:t>
    </dgm:pt>
    <dgm:pt modelId="{A3244827-9283-4F4D-966C-2A2482E5E531}" type="parTrans" cxnId="{D899A6BA-336E-405E-8115-CFAA0AD3C894}">
      <dgm:prSet/>
      <dgm:spPr/>
      <dgm:t>
        <a:bodyPr/>
        <a:lstStyle/>
        <a:p>
          <a:endParaRPr lang="en-US"/>
        </a:p>
      </dgm:t>
    </dgm:pt>
    <dgm:pt modelId="{8C14375A-B75D-43DB-B4CD-AD04E7CA3C35}" type="sibTrans" cxnId="{D899A6BA-336E-405E-8115-CFAA0AD3C894}">
      <dgm:prSet/>
      <dgm:spPr/>
      <dgm:t>
        <a:bodyPr/>
        <a:lstStyle/>
        <a:p>
          <a:endParaRPr lang="en-US"/>
        </a:p>
      </dgm:t>
    </dgm:pt>
    <dgm:pt modelId="{405767A0-79AF-4801-8EB3-6DF7C1655BC5}">
      <dgm:prSet/>
      <dgm:spPr/>
      <dgm:t>
        <a:bodyPr/>
        <a:lstStyle/>
        <a:p>
          <a:r>
            <a:rPr lang="en-AT" dirty="0" err="1"/>
            <a:t>Evaluierung</a:t>
          </a:r>
          <a:r>
            <a:rPr lang="en-AT" dirty="0"/>
            <a:t> des </a:t>
          </a:r>
          <a:r>
            <a:rPr lang="en-AT" dirty="0" err="1"/>
            <a:t>neuen</a:t>
          </a:r>
          <a:r>
            <a:rPr lang="en-AT" dirty="0"/>
            <a:t> weighted Sentiment Scores</a:t>
          </a:r>
          <a:endParaRPr lang="en-US" dirty="0"/>
        </a:p>
      </dgm:t>
    </dgm:pt>
    <dgm:pt modelId="{4293DCD2-DEAB-42B4-B2A9-FF3EFF566A46}" type="parTrans" cxnId="{DAECAA00-464A-498B-AF45-5AA2F4D57705}">
      <dgm:prSet/>
      <dgm:spPr/>
      <dgm:t>
        <a:bodyPr/>
        <a:lstStyle/>
        <a:p>
          <a:endParaRPr lang="en-US"/>
        </a:p>
      </dgm:t>
    </dgm:pt>
    <dgm:pt modelId="{0B23973D-3BF7-488F-8413-4215113727A2}" type="sibTrans" cxnId="{DAECAA00-464A-498B-AF45-5AA2F4D57705}">
      <dgm:prSet/>
      <dgm:spPr/>
      <dgm:t>
        <a:bodyPr/>
        <a:lstStyle/>
        <a:p>
          <a:endParaRPr lang="en-US"/>
        </a:p>
      </dgm:t>
    </dgm:pt>
    <dgm:pt modelId="{35228612-0EAB-49F7-A391-2B0BBC2462D5}">
      <dgm:prSet/>
      <dgm:spPr/>
      <dgm:t>
        <a:bodyPr/>
        <a:lstStyle/>
        <a:p>
          <a:r>
            <a:rPr lang="en-AT"/>
            <a:t>ARMA</a:t>
          </a:r>
          <a:endParaRPr lang="en-US" dirty="0"/>
        </a:p>
      </dgm:t>
    </dgm:pt>
    <dgm:pt modelId="{4D394DFA-30AA-45DB-9256-B3EBF453CC43}" type="parTrans" cxnId="{DE40735B-D396-4BCD-AE84-1237063B6B8D}">
      <dgm:prSet/>
      <dgm:spPr/>
      <dgm:t>
        <a:bodyPr/>
        <a:lstStyle/>
        <a:p>
          <a:endParaRPr lang="de-AT"/>
        </a:p>
      </dgm:t>
    </dgm:pt>
    <dgm:pt modelId="{97CCCB3C-DB3C-42F6-AB0F-84B03610ABB8}" type="sibTrans" cxnId="{DE40735B-D396-4BCD-AE84-1237063B6B8D}">
      <dgm:prSet/>
      <dgm:spPr/>
      <dgm:t>
        <a:bodyPr/>
        <a:lstStyle/>
        <a:p>
          <a:endParaRPr lang="de-AT"/>
        </a:p>
      </dgm:t>
    </dgm:pt>
    <dgm:pt modelId="{FBC8D2AB-636F-41A2-A6AB-05E317AE4FFE}">
      <dgm:prSet/>
      <dgm:spPr/>
      <dgm:t>
        <a:bodyPr/>
        <a:lstStyle/>
        <a:p>
          <a:r>
            <a:rPr lang="en-AT"/>
            <a:t>XGBoost</a:t>
          </a:r>
          <a:endParaRPr lang="en-US" dirty="0"/>
        </a:p>
      </dgm:t>
    </dgm:pt>
    <dgm:pt modelId="{D6443BF3-AAD7-4D10-9FCB-7DA96E5AB721}" type="parTrans" cxnId="{088C39D5-3885-4017-99EE-81E220ADD4DA}">
      <dgm:prSet/>
      <dgm:spPr/>
      <dgm:t>
        <a:bodyPr/>
        <a:lstStyle/>
        <a:p>
          <a:endParaRPr lang="de-AT"/>
        </a:p>
      </dgm:t>
    </dgm:pt>
    <dgm:pt modelId="{ECDE8622-E1A8-415C-AA77-588B26CD92E1}" type="sibTrans" cxnId="{088C39D5-3885-4017-99EE-81E220ADD4DA}">
      <dgm:prSet/>
      <dgm:spPr/>
      <dgm:t>
        <a:bodyPr/>
        <a:lstStyle/>
        <a:p>
          <a:endParaRPr lang="de-AT"/>
        </a:p>
      </dgm:t>
    </dgm:pt>
    <dgm:pt modelId="{C7D15A1F-999D-4399-A27F-337F2D2278AF}">
      <dgm:prSet/>
      <dgm:spPr/>
      <dgm:t>
        <a:bodyPr/>
        <a:lstStyle/>
        <a:p>
          <a:r>
            <a:rPr lang="en-AT" i="1" dirty="0">
              <a:solidFill>
                <a:schemeClr val="bg1">
                  <a:lumMod val="50000"/>
                </a:schemeClr>
              </a:solidFill>
            </a:rPr>
            <a:t>GPT-OSS-20B</a:t>
          </a:r>
          <a:endParaRPr lang="en-US" i="1" dirty="0">
            <a:solidFill>
              <a:schemeClr val="bg1">
                <a:lumMod val="50000"/>
              </a:schemeClr>
            </a:solidFill>
          </a:endParaRPr>
        </a:p>
      </dgm:t>
    </dgm:pt>
    <dgm:pt modelId="{1DAEDB5E-5EB2-4CE3-BFA9-DA3C56F89276}" type="parTrans" cxnId="{92A2B531-EDF9-4C07-A0FE-5CCDDBB803BD}">
      <dgm:prSet/>
      <dgm:spPr/>
    </dgm:pt>
    <dgm:pt modelId="{6A467753-FF62-460F-8379-C953AE0D6A77}" type="sibTrans" cxnId="{92A2B531-EDF9-4C07-A0FE-5CCDDBB803BD}">
      <dgm:prSet/>
      <dgm:spPr/>
    </dgm:pt>
    <dgm:pt modelId="{41FC5E37-78C6-434A-B42B-2C09ACC48BDF}" type="pres">
      <dgm:prSet presAssocID="{2461FD75-ACE2-4491-9CE0-1A2E1BDE956B}" presName="Name0" presStyleCnt="0">
        <dgm:presLayoutVars>
          <dgm:dir/>
          <dgm:animLvl val="lvl"/>
          <dgm:resizeHandles val="exact"/>
        </dgm:presLayoutVars>
      </dgm:prSet>
      <dgm:spPr/>
    </dgm:pt>
    <dgm:pt modelId="{179137FF-5B19-4E42-A217-2E2241A596E6}" type="pres">
      <dgm:prSet presAssocID="{98047012-8305-4449-BE84-FA673127211D}" presName="composite" presStyleCnt="0"/>
      <dgm:spPr/>
    </dgm:pt>
    <dgm:pt modelId="{94566AC0-9623-4846-89F5-94BD0FC5B8BF}" type="pres">
      <dgm:prSet presAssocID="{98047012-8305-4449-BE84-FA67312721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D086101-47A9-41A4-84DF-A15227C312A4}" type="pres">
      <dgm:prSet presAssocID="{98047012-8305-4449-BE84-FA673127211D}" presName="desTx" presStyleLbl="alignAccFollowNode1" presStyleIdx="0" presStyleCnt="3">
        <dgm:presLayoutVars>
          <dgm:bulletEnabled val="1"/>
        </dgm:presLayoutVars>
      </dgm:prSet>
      <dgm:spPr/>
    </dgm:pt>
    <dgm:pt modelId="{703F2751-55DA-48B4-8F09-C30FE7DFF8C0}" type="pres">
      <dgm:prSet presAssocID="{D585D892-490D-4C7D-9554-5FEB85CE7397}" presName="space" presStyleCnt="0"/>
      <dgm:spPr/>
    </dgm:pt>
    <dgm:pt modelId="{CE0A0CEB-FD0B-4189-8A9A-6BDB3505C7BF}" type="pres">
      <dgm:prSet presAssocID="{2245AEF0-7B78-4D1A-8A40-3A170B3D45BD}" presName="composite" presStyleCnt="0"/>
      <dgm:spPr/>
    </dgm:pt>
    <dgm:pt modelId="{B4E8BB2E-CD35-4B59-8B52-A768036434AA}" type="pres">
      <dgm:prSet presAssocID="{2245AEF0-7B78-4D1A-8A40-3A170B3D45B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44E30FD-1881-4CEE-A89D-5187B5EF5427}" type="pres">
      <dgm:prSet presAssocID="{2245AEF0-7B78-4D1A-8A40-3A170B3D45BD}" presName="desTx" presStyleLbl="alignAccFollowNode1" presStyleIdx="1" presStyleCnt="3" custLinFactNeighborY="897">
        <dgm:presLayoutVars>
          <dgm:bulletEnabled val="1"/>
        </dgm:presLayoutVars>
      </dgm:prSet>
      <dgm:spPr/>
    </dgm:pt>
    <dgm:pt modelId="{4E80A1F4-331A-44A4-B660-2620A1EAFFAB}" type="pres">
      <dgm:prSet presAssocID="{81A58F8B-CB48-4863-898E-6B658EEFCC6E}" presName="space" presStyleCnt="0"/>
      <dgm:spPr/>
    </dgm:pt>
    <dgm:pt modelId="{69434577-D39F-47E7-90AE-937AF0676A06}" type="pres">
      <dgm:prSet presAssocID="{405767A0-79AF-4801-8EB3-6DF7C1655BC5}" presName="composite" presStyleCnt="0"/>
      <dgm:spPr/>
    </dgm:pt>
    <dgm:pt modelId="{C2607AAC-3337-4624-9BF5-F3ECB024D42A}" type="pres">
      <dgm:prSet presAssocID="{405767A0-79AF-4801-8EB3-6DF7C1655BC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FB6281A-9425-49B3-8379-80DADC66127B}" type="pres">
      <dgm:prSet presAssocID="{405767A0-79AF-4801-8EB3-6DF7C1655BC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AECAA00-464A-498B-AF45-5AA2F4D57705}" srcId="{2461FD75-ACE2-4491-9CE0-1A2E1BDE956B}" destId="{405767A0-79AF-4801-8EB3-6DF7C1655BC5}" srcOrd="2" destOrd="0" parTransId="{4293DCD2-DEAB-42B4-B2A9-FF3EFF566A46}" sibTransId="{0B23973D-3BF7-488F-8413-4215113727A2}"/>
    <dgm:cxn modelId="{187BE513-A05F-4268-BF11-BE8F7A137DF8}" type="presOf" srcId="{B1DA889F-B876-4549-9451-80B96698A95B}" destId="{3D086101-47A9-41A4-84DF-A15227C312A4}" srcOrd="0" destOrd="0" presId="urn:microsoft.com/office/officeart/2005/8/layout/hList1"/>
    <dgm:cxn modelId="{FA09C317-8653-443F-8462-07494E0E2826}" type="presOf" srcId="{2245AEF0-7B78-4D1A-8A40-3A170B3D45BD}" destId="{B4E8BB2E-CD35-4B59-8B52-A768036434AA}" srcOrd="0" destOrd="0" presId="urn:microsoft.com/office/officeart/2005/8/layout/hList1"/>
    <dgm:cxn modelId="{2FDF8126-BD5F-404F-81C9-A5FAA9D6F592}" srcId="{98047012-8305-4449-BE84-FA673127211D}" destId="{2365C3B4-2D78-4A2D-AA13-8B3EF1792321}" srcOrd="3" destOrd="0" parTransId="{BBEF595D-4FDF-4B09-BA4A-E871D05866E2}" sibTransId="{B6330D8A-EC73-4151-9C3B-32009FD77E42}"/>
    <dgm:cxn modelId="{5B43602B-32DB-44E2-A55A-DA548437537D}" srcId="{98047012-8305-4449-BE84-FA673127211D}" destId="{1D71615A-3944-4990-A7F7-95B5C5580584}" srcOrd="1" destOrd="0" parTransId="{8AD682A8-6A0B-464C-9FAE-1A646412ECE8}" sibTransId="{ECF7DB93-187E-4DAF-883D-331A929FE2C5}"/>
    <dgm:cxn modelId="{CB456A2D-F7BF-4098-8B28-F991B700D58B}" srcId="{2461FD75-ACE2-4491-9CE0-1A2E1BDE956B}" destId="{98047012-8305-4449-BE84-FA673127211D}" srcOrd="0" destOrd="0" parTransId="{153ADB23-D94A-44F9-A899-BFCA2554221A}" sibTransId="{D585D892-490D-4C7D-9554-5FEB85CE7397}"/>
    <dgm:cxn modelId="{BC80D02D-EDD7-4F01-B34D-362133A117BA}" type="presOf" srcId="{6892564D-7620-49C4-9F4E-F47AFA61D343}" destId="{3D086101-47A9-41A4-84DF-A15227C312A4}" srcOrd="0" destOrd="2" presId="urn:microsoft.com/office/officeart/2005/8/layout/hList1"/>
    <dgm:cxn modelId="{92A2B531-EDF9-4C07-A0FE-5CCDDBB803BD}" srcId="{2245AEF0-7B78-4D1A-8A40-3A170B3D45BD}" destId="{C7D15A1F-999D-4399-A27F-337F2D2278AF}" srcOrd="1" destOrd="0" parTransId="{1DAEDB5E-5EB2-4CE3-BFA9-DA3C56F89276}" sibTransId="{6A467753-FF62-460F-8379-C953AE0D6A77}"/>
    <dgm:cxn modelId="{DE40735B-D396-4BCD-AE84-1237063B6B8D}" srcId="{405767A0-79AF-4801-8EB3-6DF7C1655BC5}" destId="{35228612-0EAB-49F7-A391-2B0BBC2462D5}" srcOrd="0" destOrd="0" parTransId="{4D394DFA-30AA-45DB-9256-B3EBF453CC43}" sibTransId="{97CCCB3C-DB3C-42F6-AB0F-84B03610ABB8}"/>
    <dgm:cxn modelId="{887E6F66-92D9-4850-9A1F-361CEDFF98FA}" type="presOf" srcId="{C7D15A1F-999D-4399-A27F-337F2D2278AF}" destId="{B44E30FD-1881-4CEE-A89D-5187B5EF5427}" srcOrd="0" destOrd="1" presId="urn:microsoft.com/office/officeart/2005/8/layout/hList1"/>
    <dgm:cxn modelId="{998DF784-28D8-477A-BB13-3C535AAFDC88}" type="presOf" srcId="{2461FD75-ACE2-4491-9CE0-1A2E1BDE956B}" destId="{41FC5E37-78C6-434A-B42B-2C09ACC48BDF}" srcOrd="0" destOrd="0" presId="urn:microsoft.com/office/officeart/2005/8/layout/hList1"/>
    <dgm:cxn modelId="{7B2966A6-38E8-4ED1-B2B4-4187B37903C7}" type="presOf" srcId="{FBC8D2AB-636F-41A2-A6AB-05E317AE4FFE}" destId="{DFB6281A-9425-49B3-8379-80DADC66127B}" srcOrd="0" destOrd="1" presId="urn:microsoft.com/office/officeart/2005/8/layout/hList1"/>
    <dgm:cxn modelId="{D899A6BA-336E-405E-8115-CFAA0AD3C894}" srcId="{2245AEF0-7B78-4D1A-8A40-3A170B3D45BD}" destId="{7E21645A-DA72-4B77-97EE-FD0671FD94BF}" srcOrd="0" destOrd="0" parTransId="{A3244827-9283-4F4D-966C-2A2482E5E531}" sibTransId="{8C14375A-B75D-43DB-B4CD-AD04E7CA3C35}"/>
    <dgm:cxn modelId="{AFB7C1C1-1BFC-489E-8845-F77706E09BF1}" srcId="{98047012-8305-4449-BE84-FA673127211D}" destId="{B1DA889F-B876-4549-9451-80B96698A95B}" srcOrd="0" destOrd="0" parTransId="{8CE9959E-73DA-48B8-B476-A33D168AC920}" sibTransId="{1776EFDF-776F-4965-8190-8DC09D678473}"/>
    <dgm:cxn modelId="{69CF73C8-48DB-4E76-9D9F-846EC79FD3E0}" srcId="{2461FD75-ACE2-4491-9CE0-1A2E1BDE956B}" destId="{2245AEF0-7B78-4D1A-8A40-3A170B3D45BD}" srcOrd="1" destOrd="0" parTransId="{6F0C98D0-9C25-44D4-89ED-01A4AEC7B3E3}" sibTransId="{81A58F8B-CB48-4863-898E-6B658EEFCC6E}"/>
    <dgm:cxn modelId="{9DA891D0-E33B-4145-8963-DB3CCAD3878B}" type="presOf" srcId="{98047012-8305-4449-BE84-FA673127211D}" destId="{94566AC0-9623-4846-89F5-94BD0FC5B8BF}" srcOrd="0" destOrd="0" presId="urn:microsoft.com/office/officeart/2005/8/layout/hList1"/>
    <dgm:cxn modelId="{088C39D5-3885-4017-99EE-81E220ADD4DA}" srcId="{405767A0-79AF-4801-8EB3-6DF7C1655BC5}" destId="{FBC8D2AB-636F-41A2-A6AB-05E317AE4FFE}" srcOrd="1" destOrd="0" parTransId="{D6443BF3-AAD7-4D10-9FCB-7DA96E5AB721}" sibTransId="{ECDE8622-E1A8-415C-AA77-588B26CD92E1}"/>
    <dgm:cxn modelId="{578897E4-7A89-43A5-A236-A14326C57F8E}" type="presOf" srcId="{7E21645A-DA72-4B77-97EE-FD0671FD94BF}" destId="{B44E30FD-1881-4CEE-A89D-5187B5EF5427}" srcOrd="0" destOrd="0" presId="urn:microsoft.com/office/officeart/2005/8/layout/hList1"/>
    <dgm:cxn modelId="{2E1773E5-B5F2-4F12-9C82-FDB7030B2CC3}" type="presOf" srcId="{1D71615A-3944-4990-A7F7-95B5C5580584}" destId="{3D086101-47A9-41A4-84DF-A15227C312A4}" srcOrd="0" destOrd="1" presId="urn:microsoft.com/office/officeart/2005/8/layout/hList1"/>
    <dgm:cxn modelId="{64E21AEB-FAEA-468F-87AC-45A757DED98F}" type="presOf" srcId="{2365C3B4-2D78-4A2D-AA13-8B3EF1792321}" destId="{3D086101-47A9-41A4-84DF-A15227C312A4}" srcOrd="0" destOrd="3" presId="urn:microsoft.com/office/officeart/2005/8/layout/hList1"/>
    <dgm:cxn modelId="{FE8E09EC-B6B3-4924-A8FB-74F7DCE1C528}" type="presOf" srcId="{405767A0-79AF-4801-8EB3-6DF7C1655BC5}" destId="{C2607AAC-3337-4624-9BF5-F3ECB024D42A}" srcOrd="0" destOrd="0" presId="urn:microsoft.com/office/officeart/2005/8/layout/hList1"/>
    <dgm:cxn modelId="{43C501F3-A9FD-4F9F-AEA4-78C35FD7F257}" srcId="{98047012-8305-4449-BE84-FA673127211D}" destId="{6892564D-7620-49C4-9F4E-F47AFA61D343}" srcOrd="2" destOrd="0" parTransId="{7B34E8D1-6532-4E2D-B7EE-E7E73A8F8481}" sibTransId="{F67C1062-A5F6-4DAE-AA43-E17BE5684628}"/>
    <dgm:cxn modelId="{3514E6FF-34EB-4325-A5CC-30D41FA2B469}" type="presOf" srcId="{35228612-0EAB-49F7-A391-2B0BBC2462D5}" destId="{DFB6281A-9425-49B3-8379-80DADC66127B}" srcOrd="0" destOrd="0" presId="urn:microsoft.com/office/officeart/2005/8/layout/hList1"/>
    <dgm:cxn modelId="{20EA8508-9F74-4B8C-915B-EE8614E7724B}" type="presParOf" srcId="{41FC5E37-78C6-434A-B42B-2C09ACC48BDF}" destId="{179137FF-5B19-4E42-A217-2E2241A596E6}" srcOrd="0" destOrd="0" presId="urn:microsoft.com/office/officeart/2005/8/layout/hList1"/>
    <dgm:cxn modelId="{98099474-C594-4274-8932-D4EDF809F4E1}" type="presParOf" srcId="{179137FF-5B19-4E42-A217-2E2241A596E6}" destId="{94566AC0-9623-4846-89F5-94BD0FC5B8BF}" srcOrd="0" destOrd="0" presId="urn:microsoft.com/office/officeart/2005/8/layout/hList1"/>
    <dgm:cxn modelId="{22917C73-73BE-4AF0-B123-1BE038D361DE}" type="presParOf" srcId="{179137FF-5B19-4E42-A217-2E2241A596E6}" destId="{3D086101-47A9-41A4-84DF-A15227C312A4}" srcOrd="1" destOrd="0" presId="urn:microsoft.com/office/officeart/2005/8/layout/hList1"/>
    <dgm:cxn modelId="{BD6E2C94-0225-42A2-8640-C31853FF367D}" type="presParOf" srcId="{41FC5E37-78C6-434A-B42B-2C09ACC48BDF}" destId="{703F2751-55DA-48B4-8F09-C30FE7DFF8C0}" srcOrd="1" destOrd="0" presId="urn:microsoft.com/office/officeart/2005/8/layout/hList1"/>
    <dgm:cxn modelId="{55797222-C976-43CD-A470-CEEBEF44BD7B}" type="presParOf" srcId="{41FC5E37-78C6-434A-B42B-2C09ACC48BDF}" destId="{CE0A0CEB-FD0B-4189-8A9A-6BDB3505C7BF}" srcOrd="2" destOrd="0" presId="urn:microsoft.com/office/officeart/2005/8/layout/hList1"/>
    <dgm:cxn modelId="{F47F3FC5-692D-4203-9134-FBFF9BD43336}" type="presParOf" srcId="{CE0A0CEB-FD0B-4189-8A9A-6BDB3505C7BF}" destId="{B4E8BB2E-CD35-4B59-8B52-A768036434AA}" srcOrd="0" destOrd="0" presId="urn:microsoft.com/office/officeart/2005/8/layout/hList1"/>
    <dgm:cxn modelId="{0991C8E9-46E2-4043-B5ED-994C0D64F006}" type="presParOf" srcId="{CE0A0CEB-FD0B-4189-8A9A-6BDB3505C7BF}" destId="{B44E30FD-1881-4CEE-A89D-5187B5EF5427}" srcOrd="1" destOrd="0" presId="urn:microsoft.com/office/officeart/2005/8/layout/hList1"/>
    <dgm:cxn modelId="{97564A48-F853-4F2C-BCC7-C0AA76E6E2B2}" type="presParOf" srcId="{41FC5E37-78C6-434A-B42B-2C09ACC48BDF}" destId="{4E80A1F4-331A-44A4-B660-2620A1EAFFAB}" srcOrd="3" destOrd="0" presId="urn:microsoft.com/office/officeart/2005/8/layout/hList1"/>
    <dgm:cxn modelId="{8983B9CF-45D3-45BB-9DF2-2E87512DD476}" type="presParOf" srcId="{41FC5E37-78C6-434A-B42B-2C09ACC48BDF}" destId="{69434577-D39F-47E7-90AE-937AF0676A06}" srcOrd="4" destOrd="0" presId="urn:microsoft.com/office/officeart/2005/8/layout/hList1"/>
    <dgm:cxn modelId="{9FFE5247-0A15-4878-805F-0D8E8E8CF764}" type="presParOf" srcId="{69434577-D39F-47E7-90AE-937AF0676A06}" destId="{C2607AAC-3337-4624-9BF5-F3ECB024D42A}" srcOrd="0" destOrd="0" presId="urn:microsoft.com/office/officeart/2005/8/layout/hList1"/>
    <dgm:cxn modelId="{08A564C4-1AD3-4114-BC04-65690774718E}" type="presParOf" srcId="{69434577-D39F-47E7-90AE-937AF0676A06}" destId="{DFB6281A-9425-49B3-8379-80DADC66127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66AC0-9623-4846-89F5-94BD0FC5B8BF}">
      <dsp:nvSpPr>
        <dsp:cNvPr id="0" name=""/>
        <dsp:cNvSpPr/>
      </dsp:nvSpPr>
      <dsp:spPr>
        <a:xfrm>
          <a:off x="3286" y="122413"/>
          <a:ext cx="3203971" cy="12077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2400" kern="1200"/>
            <a:t>EDA durchgeführt</a:t>
          </a:r>
          <a:endParaRPr lang="en-US" sz="2400" kern="1200"/>
        </a:p>
      </dsp:txBody>
      <dsp:txXfrm>
        <a:off x="3286" y="122413"/>
        <a:ext cx="3203971" cy="1207790"/>
      </dsp:txXfrm>
    </dsp:sp>
    <dsp:sp modelId="{3D086101-47A9-41A4-84DF-A15227C312A4}">
      <dsp:nvSpPr>
        <dsp:cNvPr id="0" name=""/>
        <dsp:cNvSpPr/>
      </dsp:nvSpPr>
      <dsp:spPr>
        <a:xfrm>
          <a:off x="3286" y="1330204"/>
          <a:ext cx="3203971" cy="28987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S</a:t>
          </a:r>
          <a:r>
            <a:rPr lang="en-AT" sz="2400" kern="1200"/>
            <a:t>pearman correlation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T" sz="2400" kern="1200"/>
            <a:t>Pearson correlation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P</a:t>
          </a:r>
          <a:r>
            <a:rPr lang="en-AT" sz="2400" kern="1200"/>
            <a:t>-Value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T" sz="2400" kern="1200"/>
            <a:t>Histogramme für sentiment x preischange</a:t>
          </a:r>
          <a:endParaRPr lang="en-US" sz="2400" kern="1200"/>
        </a:p>
      </dsp:txBody>
      <dsp:txXfrm>
        <a:off x="3286" y="1330204"/>
        <a:ext cx="3203971" cy="2898720"/>
      </dsp:txXfrm>
    </dsp:sp>
    <dsp:sp modelId="{B4E8BB2E-CD35-4B59-8B52-A768036434AA}">
      <dsp:nvSpPr>
        <dsp:cNvPr id="0" name=""/>
        <dsp:cNvSpPr/>
      </dsp:nvSpPr>
      <dsp:spPr>
        <a:xfrm>
          <a:off x="3655814" y="122413"/>
          <a:ext cx="3203971" cy="120779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2400" kern="1200"/>
            <a:t>Impact Scoring</a:t>
          </a:r>
          <a:endParaRPr lang="en-US" sz="2400" kern="1200"/>
        </a:p>
      </dsp:txBody>
      <dsp:txXfrm>
        <a:off x="3655814" y="122413"/>
        <a:ext cx="3203971" cy="1207790"/>
      </dsp:txXfrm>
    </dsp:sp>
    <dsp:sp modelId="{B44E30FD-1881-4CEE-A89D-5187B5EF5427}">
      <dsp:nvSpPr>
        <dsp:cNvPr id="0" name=""/>
        <dsp:cNvSpPr/>
      </dsp:nvSpPr>
      <dsp:spPr>
        <a:xfrm>
          <a:off x="3655814" y="1356205"/>
          <a:ext cx="3203971" cy="289872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</a:t>
          </a:r>
          <a:r>
            <a:rPr lang="en-AT" sz="2400" kern="1200" dirty="0"/>
            <a:t>it Llama-3.1-8B-Instruct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T" sz="2400" i="1" kern="1200" dirty="0">
              <a:solidFill>
                <a:schemeClr val="bg1">
                  <a:lumMod val="50000"/>
                </a:schemeClr>
              </a:solidFill>
            </a:rPr>
            <a:t>GPT-OSS-20B</a:t>
          </a:r>
          <a:endParaRPr lang="en-US" sz="2400" i="1" kern="1200" dirty="0">
            <a:solidFill>
              <a:schemeClr val="bg1">
                <a:lumMod val="50000"/>
              </a:schemeClr>
            </a:solidFill>
          </a:endParaRPr>
        </a:p>
      </dsp:txBody>
      <dsp:txXfrm>
        <a:off x="3655814" y="1356205"/>
        <a:ext cx="3203971" cy="2898720"/>
      </dsp:txXfrm>
    </dsp:sp>
    <dsp:sp modelId="{C2607AAC-3337-4624-9BF5-F3ECB024D42A}">
      <dsp:nvSpPr>
        <dsp:cNvPr id="0" name=""/>
        <dsp:cNvSpPr/>
      </dsp:nvSpPr>
      <dsp:spPr>
        <a:xfrm>
          <a:off x="7308342" y="122413"/>
          <a:ext cx="3203971" cy="120779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T" sz="2400" kern="1200" dirty="0" err="1"/>
            <a:t>Evaluierung</a:t>
          </a:r>
          <a:r>
            <a:rPr lang="en-AT" sz="2400" kern="1200" dirty="0"/>
            <a:t> des </a:t>
          </a:r>
          <a:r>
            <a:rPr lang="en-AT" sz="2400" kern="1200" dirty="0" err="1"/>
            <a:t>neuen</a:t>
          </a:r>
          <a:r>
            <a:rPr lang="en-AT" sz="2400" kern="1200" dirty="0"/>
            <a:t> weighted Sentiment Scores</a:t>
          </a:r>
          <a:endParaRPr lang="en-US" sz="2400" kern="1200" dirty="0"/>
        </a:p>
      </dsp:txBody>
      <dsp:txXfrm>
        <a:off x="7308342" y="122413"/>
        <a:ext cx="3203971" cy="1207790"/>
      </dsp:txXfrm>
    </dsp:sp>
    <dsp:sp modelId="{DFB6281A-9425-49B3-8379-80DADC66127B}">
      <dsp:nvSpPr>
        <dsp:cNvPr id="0" name=""/>
        <dsp:cNvSpPr/>
      </dsp:nvSpPr>
      <dsp:spPr>
        <a:xfrm>
          <a:off x="7308342" y="1330204"/>
          <a:ext cx="3203971" cy="289872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T" sz="2400" kern="1200"/>
            <a:t>ARMA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T" sz="2400" kern="1200"/>
            <a:t>XGBoost</a:t>
          </a:r>
          <a:endParaRPr lang="en-US" sz="2400" kern="1200" dirty="0"/>
        </a:p>
      </dsp:txBody>
      <dsp:txXfrm>
        <a:off x="7308342" y="1330204"/>
        <a:ext cx="3203971" cy="2898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29773-4322-4BFC-AD03-EDAADA94F5A4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E70B6-187B-48D5-8E57-A655F2E5D2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126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the </a:t>
            </a:r>
            <a:r>
              <a:rPr lang="en-GB" i="1" dirty="0"/>
              <a:t>useful</a:t>
            </a:r>
            <a:r>
              <a:rPr lang="en-GB" dirty="0"/>
              <a:t> rule is </a:t>
            </a:r>
            <a:r>
              <a:rPr lang="en-GB" b="1" dirty="0"/>
              <a:t>contrarian</a:t>
            </a:r>
            <a:r>
              <a:rPr lang="en-GB" dirty="0"/>
              <a:t>:</a:t>
            </a:r>
          </a:p>
          <a:p>
            <a:r>
              <a:rPr lang="en-GB" dirty="0"/>
              <a:t>🔁 </a:t>
            </a:r>
            <a:r>
              <a:rPr lang="en-GB" b="1" dirty="0"/>
              <a:t>If sentiment is </a:t>
            </a:r>
            <a:r>
              <a:rPr lang="en-GB" b="1" i="1" dirty="0"/>
              <a:t>below</a:t>
            </a:r>
            <a:r>
              <a:rPr lang="en-GB" b="1" dirty="0"/>
              <a:t> -0.1934 → tomorrow is slightly more likely to be an up day</a:t>
            </a:r>
            <a:br>
              <a:rPr lang="en-GB" dirty="0"/>
            </a:br>
            <a:r>
              <a:rPr lang="en-GB" dirty="0"/>
              <a:t>If sentiment is </a:t>
            </a:r>
            <a:r>
              <a:rPr lang="en-GB" i="1" dirty="0"/>
              <a:t>above</a:t>
            </a:r>
            <a:r>
              <a:rPr lang="en-GB" dirty="0"/>
              <a:t> -0.1934 → slightly more likely not to be an up day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E70B6-187B-48D5-8E57-A655F2E5D2EE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3457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</a:t>
            </a:r>
            <a:r>
              <a:rPr lang="en-AT" dirty="0" err="1"/>
              <a:t>mpact</a:t>
            </a:r>
            <a:r>
              <a:rPr lang="en-AT" dirty="0"/>
              <a:t> threshold &lt; 0,05 </a:t>
            </a:r>
            <a:r>
              <a:rPr lang="en-AT" dirty="0" err="1"/>
              <a:t>wurden</a:t>
            </a:r>
            <a:r>
              <a:rPr lang="en-AT" dirty="0"/>
              <a:t> </a:t>
            </a:r>
            <a:r>
              <a:rPr lang="en-AT" dirty="0" err="1"/>
              <a:t>entfernt</a:t>
            </a:r>
            <a:endParaRPr lang="en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E70B6-187B-48D5-8E57-A655F2E5D2EE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533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7A8A7-2ADC-5BE9-BC6C-54962E3D0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1B6B03-2D56-12EC-AA80-7FE2FE5DE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8E0BB-D93F-77A6-9F22-F6F96DC1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1D4DA3-F00F-9480-9278-A979EEE5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B10C24-BAE3-4F87-60C8-058B235E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041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E28700-8DC4-E5CF-B783-2EE2764F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F17085-E2F5-8480-C824-733F0FAC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02A5EE-3E2E-1984-E71E-BCB230C2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FEF05A-76F8-825A-A9FC-53154872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02F17B-6C50-72D9-DEE2-A61977B3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170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0C977-B8AA-5F22-2F44-2C4B111D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5DE87F-5D28-B67F-072D-51ADD9FFC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C753FD-1768-50A5-3704-EED4E070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7C1CF7-BBC2-0410-1F7C-FB8A8E1E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F9E71D-4EAF-8C12-3EB0-4BBFF2DA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430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BA335-A4AC-9C10-9654-62B846D9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46C444-F9A6-9F3C-F7EF-9F3F8588C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A8D639-AD09-C53A-3E6F-F44D0FA66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0D279D-0F1D-206F-17F1-44F1EADA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58B143-4A58-75A8-89CA-E78C857A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E27B85-D64D-6DCA-FA65-E18019E6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4246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9BE48-03D4-247A-0137-F0F99689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BD81D9-2070-9152-D319-E922F963D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DEBCD1-7A32-D991-F94D-B7EFCA1D4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638598-1B44-2A5A-CEA6-BFD1CAAC9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8C983F-2114-B10A-BCBB-DBBE07096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5F1D5B-52DF-45FC-F12E-79217325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5080A5F-7783-F21A-D79E-39EF1B63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54C486-75C1-A1A0-1572-04015564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5765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85725B-80D4-EFDA-A9D4-35B6F853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29330D-ECAE-D545-C27D-38C800C9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6B0009-033A-6294-578D-5866C692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817731-6F08-4D42-BFE7-9842B88F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677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B70D17-58B6-62B0-5E18-03D80950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DD64DA-1B08-942F-1107-9BA1D231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64DB49-0F20-8D8C-C38C-EFBF0751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228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72585-DD2F-441F-05A9-F23631C7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777118-4956-C565-3A8C-B9EC71381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F5D4C2-C6C3-4FBF-110B-231A991D3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975065-76B4-D7C0-DFE6-A5171843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C5369-7529-E2C1-5E41-A62E92CC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823FC8-F484-D7BE-621E-8FF87254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005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412BB-1F45-8E14-A228-A498762A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5E066B7-763F-CB25-1081-D0224708B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F069F2-4ABE-6461-18CF-A431FAFC3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8912F2-5AA5-805B-037E-2E07CA52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DD9533-9F9D-2578-4CD5-5C10A271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C37D57-B2FC-033C-50AF-8A14CBAC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657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3C6CB-9025-FC42-CE59-B23CAF0E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915728-5E6B-8DED-37EA-5D1FF3CD5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5B30D-23F4-729B-0A4D-761DCF84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3B2237-61BB-3CF6-3D56-B56F1D97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99A313-225A-FB59-4EF1-4DA4377F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1627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C2A8A5A-654D-5297-0C2C-BC6A58692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755718-205A-AA0D-A2C6-17560ED0A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54CF36-6747-CAC2-D6AD-DA579EFF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BDCF00-2446-F53A-A06A-FA6D15A6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F9AC57-D5B5-D582-E89B-12AADAE1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673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11AB2F5-1DE7-5746-F1BD-82B5BF4E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968C5A-B5AF-21B3-C9D4-F2AEEFC32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9CCEEC-EC84-F00E-7DBF-19AA64647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D243E-7CDF-409E-A9AA-607137C6D7DD}" type="datetimeFigureOut">
              <a:rPr lang="de-AT" smtClean="0"/>
              <a:t>14.11.2025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71E9AB-D6E2-362F-9D5A-2C44FF8DD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4902AD-9E15-A4AC-F852-38F37DCAB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22488-8873-4B71-8EA3-1EEB634615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0275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12156-3D5A-62A8-51B0-728E82776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Update </a:t>
            </a:r>
            <a:r>
              <a:rPr lang="en-AT" dirty="0" err="1"/>
              <a:t>Masterarbeit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4D3BFD-B18D-751E-6B5E-E612C651C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13.11.2025 – David Höchtl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3077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0C1EA644-7FEC-0A0B-B696-585A66A00E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325" b="94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53CA5C-42A5-EC1B-3E3A-E65C8EE1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T"/>
              <a:t>Was hat sich getan?</a:t>
            </a:r>
            <a:endParaRPr lang="de-AT" dirty="0"/>
          </a:p>
        </p:txBody>
      </p:sp>
      <p:graphicFrame>
        <p:nvGraphicFramePr>
          <p:cNvPr id="9" name="Inhaltsplatzhalter 2">
            <a:extLst>
              <a:ext uri="{FF2B5EF4-FFF2-40B4-BE49-F238E27FC236}">
                <a16:creationId xmlns:a16="http://schemas.microsoft.com/office/drawing/2014/main" id="{E7D4E641-89E9-796D-3AA6-63337F4483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0907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313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6E1CA6-1BBB-ED72-4BF9-2C466890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Analyse von Sentiment Feature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5714479-E56B-BAD4-3AF6-5CFDAE8D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1" y="1820190"/>
            <a:ext cx="3204194" cy="21387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605BE58-C9DA-9830-7F75-FDD1B4ACB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377" y="2219235"/>
            <a:ext cx="7043068" cy="359196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3775AF7-B586-F181-D70F-092AD1D19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76" y="3882885"/>
            <a:ext cx="4255485" cy="264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8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11A88-3B74-A793-537C-C3B6565CB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Analyse von weighted Sentiment Feature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5FB1388A-1291-EFD0-5217-4C2A7A3E4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151" y="1690688"/>
            <a:ext cx="6666053" cy="331537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1326442-3981-7488-2807-D5191A85E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23" y="3746788"/>
            <a:ext cx="4722180" cy="299293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269A808-E1EC-D2D0-0A4F-B58C47543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28" y="1524642"/>
            <a:ext cx="3463866" cy="2296731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48A5BBE9-7DC3-9EFB-92FA-14FD154678D2}"/>
              </a:ext>
            </a:extLst>
          </p:cNvPr>
          <p:cNvSpPr txBox="1"/>
          <p:nvPr/>
        </p:nvSpPr>
        <p:spPr>
          <a:xfrm>
            <a:off x="6287069" y="5727510"/>
            <a:ext cx="2712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Filter: &lt;0,05 impact score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11752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DE8999-E759-D1E5-7650-97347E78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T" sz="4000" dirty="0">
                <a:solidFill>
                  <a:srgbClr val="FFFFFF"/>
                </a:solidFill>
              </a:rPr>
              <a:t>ARMA </a:t>
            </a:r>
            <a:r>
              <a:rPr lang="en-US" sz="4000" dirty="0" err="1">
                <a:solidFill>
                  <a:srgbClr val="FFFFFF"/>
                </a:solidFill>
              </a:rPr>
              <a:t>FinBERT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ohne</a:t>
            </a:r>
            <a:r>
              <a:rPr lang="en-US" sz="4000" dirty="0">
                <a:solidFill>
                  <a:srgbClr val="FFFFFF"/>
                </a:solidFill>
              </a:rPr>
              <a:t> Impact-Score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BEB23B1-7EB8-3CFA-000F-D5BEC9382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40" y="954973"/>
            <a:ext cx="3387578" cy="22188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78300DD-7F98-6334-87A6-CD92B910E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930" y="933217"/>
            <a:ext cx="3631542" cy="2206161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2746A63-8C56-2D2B-CF8F-9D3DF361F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230456" y="3747447"/>
            <a:ext cx="7695016" cy="271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0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470FC-5ED2-D22C-5D84-167F56C0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B29780-FA91-4D00-C600-DC979DC0D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T" sz="4000" dirty="0">
                <a:solidFill>
                  <a:srgbClr val="FFFFFF"/>
                </a:solidFill>
              </a:rPr>
              <a:t>ARMA</a:t>
            </a:r>
            <a:br>
              <a:rPr lang="en-AT" sz="4000" dirty="0">
                <a:solidFill>
                  <a:srgbClr val="FFFFFF"/>
                </a:solidFill>
              </a:rPr>
            </a:br>
            <a:r>
              <a:rPr lang="en-US" sz="4000" dirty="0" err="1">
                <a:solidFill>
                  <a:srgbClr val="FFFFFF"/>
                </a:solidFill>
              </a:rPr>
              <a:t>FinBERT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mit</a:t>
            </a:r>
            <a:r>
              <a:rPr lang="en-US" sz="4000" dirty="0">
                <a:solidFill>
                  <a:srgbClr val="FFFFFF"/>
                </a:solidFill>
              </a:rPr>
              <a:t> Impact-Score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7B928E-13C2-51C0-5622-8FF8E5030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40" y="659568"/>
            <a:ext cx="3903610" cy="267397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750BB66-6460-0E15-616C-E1AABE90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0" y="659568"/>
            <a:ext cx="4175574" cy="248446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9D8CA77-C937-025B-6ED4-674D035E3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892" y="3993108"/>
            <a:ext cx="8312088" cy="268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8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DECBA-24A0-6CBC-1BF0-C86FF7FC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BF20315-8668-09A8-1FC9-666408342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D72B1B-A28D-E3DD-F492-B0F5D77A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3DEF0B-7322-5641-A0A4-0130258F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48CAC31-1610-0B30-FAEB-D81F826DA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A00009-334A-45F1-7F4A-43C253824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5C18BE-1272-9D03-A912-22CE4D51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T" sz="4000" dirty="0" err="1">
                <a:solidFill>
                  <a:srgbClr val="FFFFFF"/>
                </a:solidFill>
              </a:rPr>
              <a:t>XGBoost</a:t>
            </a:r>
            <a:br>
              <a:rPr lang="en-AT" sz="4000" dirty="0">
                <a:solidFill>
                  <a:srgbClr val="FFFFFF"/>
                </a:solidFill>
              </a:rPr>
            </a:br>
            <a:r>
              <a:rPr lang="en-US" sz="4000" dirty="0" err="1">
                <a:solidFill>
                  <a:srgbClr val="FFFFFF"/>
                </a:solidFill>
              </a:rPr>
              <a:t>FinBERT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AT" sz="4000" dirty="0" err="1">
                <a:solidFill>
                  <a:srgbClr val="FFFFFF"/>
                </a:solidFill>
              </a:rPr>
              <a:t>ohne</a:t>
            </a:r>
            <a:r>
              <a:rPr lang="en-US" sz="4000" dirty="0">
                <a:solidFill>
                  <a:srgbClr val="FFFFFF"/>
                </a:solidFill>
              </a:rPr>
              <a:t> Impact-Score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392E2A5-81EF-C865-FB38-42ABAC47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966" y="2057371"/>
            <a:ext cx="7438532" cy="274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7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D5B44-AAB4-5A53-8638-4F874CB1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FEB834C-A4FB-37FC-59AB-C74A2922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F6B648-9604-43FE-F0EC-B53D49EE6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93EE47-A2D2-013B-8DF7-9F32B913A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5A856E1-9104-B753-9CFB-A64E40C88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0A45B3-1277-9C4B-4847-1E4C1BAD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6BF422-B3BE-BC55-5FFD-F9F78AA5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T" sz="4000" dirty="0" err="1">
                <a:solidFill>
                  <a:srgbClr val="FFFFFF"/>
                </a:solidFill>
              </a:rPr>
              <a:t>XGBoost</a:t>
            </a:r>
            <a:br>
              <a:rPr lang="en-AT" sz="4000" dirty="0">
                <a:solidFill>
                  <a:srgbClr val="FFFFFF"/>
                </a:solidFill>
              </a:rPr>
            </a:br>
            <a:r>
              <a:rPr lang="en-US" sz="4000" dirty="0" err="1">
                <a:solidFill>
                  <a:srgbClr val="FFFFFF"/>
                </a:solidFill>
              </a:rPr>
              <a:t>FinBERT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mit</a:t>
            </a:r>
            <a:r>
              <a:rPr lang="en-US" sz="4000" dirty="0">
                <a:solidFill>
                  <a:srgbClr val="FFFFFF"/>
                </a:solidFill>
              </a:rPr>
              <a:t> Impact-Score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E68F66-76C7-104E-7B02-6468C4CE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83" y="2229790"/>
            <a:ext cx="7739667" cy="261931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09AB6C6-11B0-B2DF-23DE-92926367683E}"/>
              </a:ext>
            </a:extLst>
          </p:cNvPr>
          <p:cNvSpPr txBox="1"/>
          <p:nvPr/>
        </p:nvSpPr>
        <p:spPr>
          <a:xfrm>
            <a:off x="5786651" y="655093"/>
            <a:ext cx="519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AT" dirty="0"/>
              <a:t>entiment_lag0 -&gt; sentiment </a:t>
            </a:r>
            <a:r>
              <a:rPr lang="en-AT" dirty="0" err="1"/>
              <a:t>gestern</a:t>
            </a:r>
            <a:r>
              <a:rPr lang="en-AT" dirty="0"/>
              <a:t> in </a:t>
            </a:r>
            <a:r>
              <a:rPr lang="en-AT" dirty="0" err="1"/>
              <a:t>diesem</a:t>
            </a:r>
            <a:r>
              <a:rPr lang="en-AT" dirty="0"/>
              <a:t> fall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3017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8EC00-7B67-DAC8-74B6-2308792C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Next Steps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3DE2F-3A56-66BF-24AE-B72A8F860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</a:t>
            </a:r>
            <a:r>
              <a:rPr lang="en-AT" dirty="0" err="1"/>
              <a:t>ext</a:t>
            </a:r>
            <a:r>
              <a:rPr lang="en-AT" dirty="0"/>
              <a:t> day target –&gt; next week -&gt; next month</a:t>
            </a:r>
          </a:p>
          <a:p>
            <a:r>
              <a:rPr lang="en-AT" dirty="0"/>
              <a:t>Impact Score </a:t>
            </a:r>
            <a:r>
              <a:rPr lang="en-AT" dirty="0" err="1"/>
              <a:t>verbessern</a:t>
            </a:r>
            <a:r>
              <a:rPr lang="en-AT" dirty="0"/>
              <a:t> (fine tuned model?!)</a:t>
            </a:r>
          </a:p>
          <a:p>
            <a:r>
              <a:rPr lang="en-AT" dirty="0"/>
              <a:t>Mehr </a:t>
            </a:r>
            <a:r>
              <a:rPr lang="en-AT" dirty="0" err="1"/>
              <a:t>Daten</a:t>
            </a:r>
            <a:r>
              <a:rPr lang="en-AT" dirty="0"/>
              <a:t> </a:t>
            </a:r>
            <a:r>
              <a:rPr lang="en-GB" dirty="0"/>
              <a:t>https://huggingface.co/datasets/Brianferrell787/financial-news-multisource/viewer/data/train?p=1&amp;row=101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17035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Breitbild</PresentationFormat>
  <Paragraphs>31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Update Masterarbeit</vt:lpstr>
      <vt:lpstr>Was hat sich getan?</vt:lpstr>
      <vt:lpstr>Analyse von Sentiment Feature</vt:lpstr>
      <vt:lpstr>Analyse von weighted Sentiment Feature</vt:lpstr>
      <vt:lpstr>ARMA FinBERT ohne Impact-Score</vt:lpstr>
      <vt:lpstr>ARMA FinBERT mit Impact-Score</vt:lpstr>
      <vt:lpstr>XGBoost FinBERT ohne Impact-Score</vt:lpstr>
      <vt:lpstr>XGBoost FinBERT mit Impact-Score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2</cp:revision>
  <dcterms:created xsi:type="dcterms:W3CDTF">2025-11-13T12:49:02Z</dcterms:created>
  <dcterms:modified xsi:type="dcterms:W3CDTF">2025-11-14T16:46:54Z</dcterms:modified>
</cp:coreProperties>
</file>