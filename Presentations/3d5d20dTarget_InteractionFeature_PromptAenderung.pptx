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57" r:id="rId9"/>
    <p:sldId id="258" r:id="rId10"/>
    <p:sldId id="259" r:id="rId11"/>
    <p:sldId id="261" r:id="rId12"/>
    <p:sldId id="260" r:id="rId13"/>
    <p:sldId id="272" r:id="rId14"/>
    <p:sldId id="269" r:id="rId15"/>
    <p:sldId id="270" r:id="rId16"/>
    <p:sldId id="271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34C17D-4DA9-9701-C4C6-CF387B0E2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D472A0-4EEE-9FD9-653A-1D22CA09D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B29D9C-F37B-4E81-A0EF-74F3A5E30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30.11.2025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733BEF-3E51-25F1-93E4-E1F1CC77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A0FF47-3107-57ED-717F-D8D77F21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38617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0D38FE-15D6-1DBF-CBE2-5E090E294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3A37C1-3035-0B6B-1851-580654289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A918A0-7DBD-5D5D-F859-6F964F35D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30.11.2025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D8CDEA-3132-425C-2ACC-24F9687D4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542F0A-4C15-5B41-834A-A155E0F4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27063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D52990-7ADE-AEFB-C993-CD4F9C0B6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92F86F-4B38-783E-0C61-D23A4AA69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E9C38A-7635-67F3-CCBB-B7810AC1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30.11.2025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A82EF7-FFED-5F2A-5BB0-03D69CA25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85A019-E5F3-4CD7-A857-AFB2D30B6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71691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7E7F80-5CEB-55DF-1F18-070950673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A35D97-EB20-73D9-5E19-C5BC244AA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B1D8BE-B345-18FC-8B46-6C0D5CB5A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441484F-768C-2E96-27A2-C81618679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30.11.2025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99806F-D7E0-B983-C18A-5BA65BD05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1C3024-EE72-0D7A-455B-1AFFA06C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3826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A220A9-F8E3-7C21-97FA-EC167D2DB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783E6C-D4FA-1727-1520-18E384DBE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9E178E0-798D-165A-9DC5-CB8936272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4FDBE3-7D07-2DAB-C627-363C8FEA7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F835C3E-2DC2-8AFB-30DF-83048E58BD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1F786B1-3A85-9754-08A5-4405BDCEC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30.11.2025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E9C74D2-61AF-05FA-92BF-7C06A8446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EFBF814-D1A6-0FAB-7195-9884A341B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02620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4C8C7-8DDF-67E0-C920-4FD53408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35855E-76B9-5D63-5182-43D4E29E0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30.11.2025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89FCC11-55C7-687C-335F-1580FACA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5B33CCD-38B0-DBC5-BF8A-D5F5423E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3719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EBC0398-58A6-14BC-3A56-47F77F66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30.11.2025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6025F49-C7B4-7870-179C-D472435FB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AB9A87-3D38-EA3F-2056-25CFC6A5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13333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8759EC-2C94-DCC9-5D45-5D8B84D9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E239A2-DFAD-C9C5-CEE4-3D5510DE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AA29E19-2BE2-4009-693E-966DB895C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6A50A6-F5CF-444E-1892-B979DF07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30.11.2025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A89E17-CC9F-1923-98AD-C99751708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88C0DB-9F90-B65E-329C-5114C8E1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02910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3B7C4C-3842-707E-8FAD-61F0E9C72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54C4AE2-DB88-3476-2134-B52F9B380A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C41137-6674-4740-AD5E-68953E8D7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94AA8A-DB95-3792-E83B-5A4B42DF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30.11.2025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BC46FD-3142-2A3A-FB82-46515F7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1937E5-FDDF-1BED-55B1-C51C6EBA4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6783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200718-2462-4D81-D808-3294D094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27460B6-1FF3-F9A9-DDE6-108B701AB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EDED30-3177-2790-47B8-82B0B563B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30.11.2025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63F365-67E4-7A2C-7AC6-1E7E6913D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EC587A-92B5-DD3B-3D88-6F45CC400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29787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0713D4B-2699-870E-3829-5DA33CC77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67E4FC1-EC75-E56E-C946-D61EF508A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97ABD3-00B9-4CCA-BDA3-6272A9966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DD5C-05B5-4FD5-8032-6710465D0004}" type="datetimeFigureOut">
              <a:rPr lang="de-AT" smtClean="0"/>
              <a:t>30.11.2025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3F79A4-918C-03BC-0082-A559CCAA1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6851CC-7E83-EA5A-83E1-DD4D408A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20963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F41A763-6154-3D50-A048-64E70FC8C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C473B2-5640-7CD2-6B9C-755FFCC3F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FFC0A6-DB93-214D-23D3-94A34D259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5DDD5C-05B5-4FD5-8032-6710465D0004}" type="datetimeFigureOut">
              <a:rPr lang="de-AT" smtClean="0"/>
              <a:t>30.11.2025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BF0083-4E5A-4EB7-C3C5-341AAEB16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B234C1-7483-ADF0-8E3D-200B1DDC9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3FB87-B7E9-476C-95CC-629FB99E8B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83125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FF2E5D-7719-D5B2-7F22-6CCF02602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T" dirty="0"/>
              <a:t>Update </a:t>
            </a:r>
            <a:r>
              <a:rPr lang="en-AT" dirty="0" err="1"/>
              <a:t>Masterarbeit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AD3710-EDF8-1407-0A63-B8C687C2ED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T" dirty="0"/>
              <a:t>27.11.2025 – David Höchtl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3604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B9FFCB-221D-1DCE-75F2-67DBE60E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W</a:t>
            </a:r>
            <a:r>
              <a:rPr lang="en-GB" dirty="0"/>
              <a:t>a</a:t>
            </a:r>
            <a:r>
              <a:rPr lang="en-AT" dirty="0"/>
              <a:t>s hat </a:t>
            </a:r>
            <a:r>
              <a:rPr lang="en-AT" dirty="0" err="1"/>
              <a:t>sich</a:t>
            </a:r>
            <a:r>
              <a:rPr lang="en-AT" dirty="0"/>
              <a:t> </a:t>
            </a:r>
            <a:r>
              <a:rPr lang="en-AT" dirty="0" err="1"/>
              <a:t>getan</a:t>
            </a:r>
            <a:r>
              <a:rPr lang="en-AT" dirty="0"/>
              <a:t>?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A8501E-F1F6-FDCE-8530-275AEA605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Us-Relevant </a:t>
            </a:r>
            <a:r>
              <a:rPr lang="en-AT" dirty="0" err="1"/>
              <a:t>Klassifizierung</a:t>
            </a:r>
            <a:r>
              <a:rPr lang="en-AT" dirty="0"/>
              <a:t> (</a:t>
            </a:r>
            <a:r>
              <a:rPr lang="en-AT" dirty="0" err="1"/>
              <a:t>ja</a:t>
            </a:r>
            <a:r>
              <a:rPr lang="en-AT" dirty="0"/>
              <a:t>/</a:t>
            </a:r>
            <a:r>
              <a:rPr lang="en-AT" dirty="0" err="1"/>
              <a:t>nein</a:t>
            </a:r>
            <a:r>
              <a:rPr lang="en-AT" dirty="0"/>
              <a:t>)</a:t>
            </a:r>
          </a:p>
          <a:p>
            <a:r>
              <a:rPr lang="en-AT" dirty="0"/>
              <a:t>Sentiment und Volatility</a:t>
            </a:r>
          </a:p>
          <a:p>
            <a:r>
              <a:rPr lang="en-AT" dirty="0"/>
              <a:t>ARMA und Volatility (interaction feature)</a:t>
            </a:r>
          </a:p>
          <a:p>
            <a:r>
              <a:rPr lang="en-AT" dirty="0"/>
              <a:t>Neue Targets (3d, 5d, 20d)</a:t>
            </a:r>
          </a:p>
          <a:p>
            <a:r>
              <a:rPr lang="en-AT" dirty="0"/>
              <a:t>Neues </a:t>
            </a:r>
            <a:r>
              <a:rPr lang="en-AT" dirty="0" err="1"/>
              <a:t>Datenset</a:t>
            </a:r>
            <a:r>
              <a:rPr lang="en-AT" dirty="0"/>
              <a:t> </a:t>
            </a:r>
            <a:r>
              <a:rPr lang="en-AT" dirty="0" err="1"/>
              <a:t>hinzugefügt</a:t>
            </a:r>
            <a:r>
              <a:rPr lang="en-AT" dirty="0"/>
              <a:t> (FNSPID)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762743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3B69F5-A436-FC98-C1DF-F91EBE6A8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Prompt-</a:t>
            </a:r>
            <a:r>
              <a:rPr lang="en-AT" dirty="0" err="1"/>
              <a:t>Änderung</a:t>
            </a:r>
            <a:r>
              <a:rPr lang="en-AT" dirty="0"/>
              <a:t> (Classification)</a:t>
            </a:r>
            <a:endParaRPr lang="de-AT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4227006-F62A-62FE-E9AE-9018D47CB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A2C72C4-6377-ABB7-D8B3-E9BEC5C18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18" y="1628043"/>
            <a:ext cx="10504989" cy="467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514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5D4B9B-2D9E-D28C-46B8-A40ADD28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Prompt-</a:t>
            </a:r>
            <a:r>
              <a:rPr lang="en-AT" dirty="0" err="1"/>
              <a:t>Änderung</a:t>
            </a:r>
            <a:r>
              <a:rPr lang="en-AT" dirty="0"/>
              <a:t> (Regression)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97EA2E-AF35-9E9E-544F-240D0BC85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8AC7FA3-92B5-BE46-4B33-2B6A7F43C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89" y="1707069"/>
            <a:ext cx="11087390" cy="458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46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49DEC-D7CE-B834-85A9-4B93EB0E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D26A7D1-5D0B-2F8D-0A97-4A9C2DD61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129" y="1267764"/>
            <a:ext cx="5291667" cy="261937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4342EB5-4C41-9209-DC90-EA10F956211E}"/>
              </a:ext>
            </a:extLst>
          </p:cNvPr>
          <p:cNvSpPr txBox="1"/>
          <p:nvPr/>
        </p:nvSpPr>
        <p:spPr>
          <a:xfrm>
            <a:off x="2353755" y="349005"/>
            <a:ext cx="187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Mit Impact Score</a:t>
            </a:r>
            <a:endParaRPr lang="de-AT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9E71F70-2BBA-30D6-1668-A46B5F285750}"/>
              </a:ext>
            </a:extLst>
          </p:cNvPr>
          <p:cNvSpPr txBox="1"/>
          <p:nvPr/>
        </p:nvSpPr>
        <p:spPr>
          <a:xfrm>
            <a:off x="7851737" y="349005"/>
            <a:ext cx="2101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 err="1"/>
              <a:t>Ohne</a:t>
            </a:r>
            <a:r>
              <a:rPr lang="en-AT" dirty="0"/>
              <a:t> Impact Score</a:t>
            </a:r>
            <a:endParaRPr lang="de-AT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4062C78-E1F7-B8A4-A6C4-723264E87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22" y="3951025"/>
            <a:ext cx="5143184" cy="2557970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69A2F68-C213-50C1-E14A-24787EB03AE0}"/>
              </a:ext>
            </a:extLst>
          </p:cNvPr>
          <p:cNvCxnSpPr/>
          <p:nvPr/>
        </p:nvCxnSpPr>
        <p:spPr>
          <a:xfrm flipH="1">
            <a:off x="5409063" y="1059976"/>
            <a:ext cx="423080" cy="354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0A6055E4-409C-CFF0-9C29-46DBCDF5502E}"/>
              </a:ext>
            </a:extLst>
          </p:cNvPr>
          <p:cNvSpPr txBox="1"/>
          <p:nvPr/>
        </p:nvSpPr>
        <p:spPr>
          <a:xfrm>
            <a:off x="5299212" y="774156"/>
            <a:ext cx="2420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</a:t>
            </a:r>
            <a:r>
              <a:rPr lang="en-AT" sz="1400" dirty="0" err="1"/>
              <a:t>eue</a:t>
            </a:r>
            <a:r>
              <a:rPr lang="en-AT" sz="1400" dirty="0"/>
              <a:t> prompt (Classification)</a:t>
            </a:r>
            <a:endParaRPr lang="de-AT" sz="14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BAA7FC2-3FCA-A978-3CAE-759C13DA8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34" y="1451963"/>
            <a:ext cx="4906441" cy="249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450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1D74890-0DD9-EA79-B3B8-259095E6C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22" y="1214848"/>
            <a:ext cx="5291666" cy="267229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59BCF82-5ACF-D3BB-BDD1-4C04D0A0C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129" y="1267764"/>
            <a:ext cx="5291667" cy="261937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FB0EAD3C-8FFB-9D1C-5F41-B4619ECF69D6}"/>
              </a:ext>
            </a:extLst>
          </p:cNvPr>
          <p:cNvSpPr txBox="1"/>
          <p:nvPr/>
        </p:nvSpPr>
        <p:spPr>
          <a:xfrm>
            <a:off x="2353755" y="349005"/>
            <a:ext cx="187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Mit Impact Score</a:t>
            </a:r>
            <a:endParaRPr lang="de-AT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75A6A0B-D6E4-60A7-DC14-981AFF194337}"/>
              </a:ext>
            </a:extLst>
          </p:cNvPr>
          <p:cNvSpPr txBox="1"/>
          <p:nvPr/>
        </p:nvSpPr>
        <p:spPr>
          <a:xfrm>
            <a:off x="7851737" y="349005"/>
            <a:ext cx="2101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 err="1"/>
              <a:t>Ohne</a:t>
            </a:r>
            <a:r>
              <a:rPr lang="en-AT" dirty="0"/>
              <a:t> Impact Score</a:t>
            </a:r>
            <a:endParaRPr lang="de-AT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1C33B59-AFCA-0083-3F71-C13000E2D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22" y="3951025"/>
            <a:ext cx="5143184" cy="2557970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9223918A-A547-B087-2F1D-31E3C4E1E368}"/>
              </a:ext>
            </a:extLst>
          </p:cNvPr>
          <p:cNvCxnSpPr/>
          <p:nvPr/>
        </p:nvCxnSpPr>
        <p:spPr>
          <a:xfrm flipH="1">
            <a:off x="5409063" y="1059976"/>
            <a:ext cx="423080" cy="354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7911F9D1-2D31-5919-9AA8-757097EE7334}"/>
              </a:ext>
            </a:extLst>
          </p:cNvPr>
          <p:cNvSpPr txBox="1"/>
          <p:nvPr/>
        </p:nvSpPr>
        <p:spPr>
          <a:xfrm>
            <a:off x="5299212" y="774156"/>
            <a:ext cx="21915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</a:t>
            </a:r>
            <a:r>
              <a:rPr lang="en-AT" sz="1400" dirty="0" err="1"/>
              <a:t>eue</a:t>
            </a:r>
            <a:r>
              <a:rPr lang="en-AT" sz="1400" dirty="0"/>
              <a:t> prompt (Regression)</a:t>
            </a:r>
            <a:endParaRPr lang="de-AT" sz="1400" dirty="0"/>
          </a:p>
        </p:txBody>
      </p:sp>
    </p:spTree>
    <p:extLst>
      <p:ext uri="{BB962C8B-B14F-4D97-AF65-F5344CB8AC3E}">
        <p14:creationId xmlns:p14="http://schemas.microsoft.com/office/powerpoint/2010/main" val="42804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E1DB2F-4ED6-2710-F864-C8F4B6605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Sentiment und Volatility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E3283D1-AE21-F621-AC26-9C400D991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367" y="2121441"/>
            <a:ext cx="11261265" cy="307027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E87D13C-30EC-EEA4-102E-E180CBA77F37}"/>
              </a:ext>
            </a:extLst>
          </p:cNvPr>
          <p:cNvSpPr txBox="1"/>
          <p:nvPr/>
        </p:nvSpPr>
        <p:spPr>
          <a:xfrm>
            <a:off x="1568781" y="5672747"/>
            <a:ext cx="7628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b="1" u="sng" dirty="0"/>
              <a:t>Finding: Wenn Sentiment </a:t>
            </a:r>
            <a:r>
              <a:rPr lang="en-AT" b="1" u="sng" dirty="0" err="1"/>
              <a:t>niedrig</a:t>
            </a:r>
            <a:r>
              <a:rPr lang="en-AT" b="1" u="sng" dirty="0"/>
              <a:t> -&gt; </a:t>
            </a:r>
            <a:r>
              <a:rPr lang="en-AT" b="1" u="sng" dirty="0" err="1"/>
              <a:t>Volatilität</a:t>
            </a:r>
            <a:r>
              <a:rPr lang="en-AT" b="1" u="sng" dirty="0"/>
              <a:t> </a:t>
            </a:r>
            <a:r>
              <a:rPr lang="en-AT" b="1" u="sng" dirty="0" err="1"/>
              <a:t>hoch</a:t>
            </a:r>
            <a:r>
              <a:rPr lang="en-AT" b="1" u="sng" dirty="0"/>
              <a:t> (</a:t>
            </a:r>
            <a:r>
              <a:rPr lang="en-AT" b="1" u="sng" dirty="0" err="1"/>
              <a:t>negativ</a:t>
            </a:r>
            <a:r>
              <a:rPr lang="en-AT" b="1" u="sng" dirty="0"/>
              <a:t> </a:t>
            </a:r>
            <a:r>
              <a:rPr lang="en-AT" b="1" u="sng" dirty="0" err="1"/>
              <a:t>Korrelation</a:t>
            </a:r>
            <a:r>
              <a:rPr lang="en-AT" b="1" u="sng" dirty="0"/>
              <a:t>)</a:t>
            </a:r>
            <a:endParaRPr lang="de-AT" b="1" u="sng" dirty="0"/>
          </a:p>
        </p:txBody>
      </p:sp>
    </p:spTree>
    <p:extLst>
      <p:ext uri="{BB962C8B-B14F-4D97-AF65-F5344CB8AC3E}">
        <p14:creationId xmlns:p14="http://schemas.microsoft.com/office/powerpoint/2010/main" val="1457473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8BAF825-61EE-DF1B-CED0-01DD357D1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Sentiment x Volatility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D0C63783-C968-C85F-64C1-D6CE3F3CF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80018"/>
            <a:ext cx="6780700" cy="46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84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3E4C4-D177-FF3A-423C-3ED7105C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4F9398C-9963-4A34-7C37-1327167D9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Nur sentiment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6C0937E4-56A2-3E9A-D179-17315B795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88494"/>
            <a:ext cx="6780700" cy="467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21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F1956-12ED-5EA8-E39D-516EE2262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FAB1B89-9DCC-F76E-97F8-4961ABA1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Nur Volaitlity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580D5284-6AA0-E47C-4553-BF6A66C1E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80018"/>
            <a:ext cx="6780700" cy="46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23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32010E-7873-26F8-3717-9BAC3DA1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1DC305A-6202-C915-41C8-F54D9093F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Nur interaction</a:t>
            </a:r>
          </a:p>
        </p:txBody>
      </p:sp>
      <p:pic>
        <p:nvPicPr>
          <p:cNvPr id="6" name="Inhaltsplatzhalter 5" descr="Ein Bild, das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B4797C92-EA00-A434-1D65-08955392A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215632"/>
            <a:ext cx="6780700" cy="442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32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4E055E-3D69-0CC2-EF93-28B6E1E98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170" y="-111576"/>
            <a:ext cx="10515600" cy="1325563"/>
          </a:xfrm>
        </p:spPr>
        <p:txBody>
          <a:bodyPr/>
          <a:lstStyle/>
          <a:p>
            <a:r>
              <a:rPr lang="en-AT" dirty="0"/>
              <a:t>Target 3d, 5d, 20d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DCE1D26-C90C-D31B-C626-620FF2079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02" y="936613"/>
            <a:ext cx="9860163" cy="586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22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1F4EDE-91F6-2AA8-A36C-5E3BEA6A8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1d Target</a:t>
            </a:r>
            <a:endParaRPr lang="de-AT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A1A7577-1256-2008-5404-EE48A69DC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909" y="1909706"/>
            <a:ext cx="10233891" cy="366699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27FC4CD-82AC-12D9-24A1-AA67BAAC4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346" y="5795721"/>
            <a:ext cx="6635016" cy="50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98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BF7E80-C78F-A5A4-A483-9A698AC03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3d Target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DDB22FC-9D89-FC3C-67E5-77F64B4CA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98" y="1656019"/>
            <a:ext cx="11632672" cy="388506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8A1D585-F533-0D8F-94CA-169674510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707" y="5623584"/>
            <a:ext cx="6580586" cy="5007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12B0BFE-7ECE-A629-6DAA-71916EC12DDB}"/>
              </a:ext>
            </a:extLst>
          </p:cNvPr>
          <p:cNvSpPr txBox="1"/>
          <p:nvPr/>
        </p:nvSpPr>
        <p:spPr>
          <a:xfrm>
            <a:off x="577273" y="6308209"/>
            <a:ext cx="7268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 err="1"/>
              <a:t>Große</a:t>
            </a:r>
            <a:r>
              <a:rPr lang="en-AT" dirty="0"/>
              <a:t> </a:t>
            </a:r>
            <a:r>
              <a:rPr lang="en-AT" dirty="0" err="1"/>
              <a:t>Verbesserung</a:t>
            </a:r>
            <a:r>
              <a:rPr lang="en-AT" dirty="0"/>
              <a:t> </a:t>
            </a:r>
            <a:r>
              <a:rPr lang="en-AT" dirty="0" err="1"/>
              <a:t>zu</a:t>
            </a:r>
            <a:r>
              <a:rPr lang="en-AT" dirty="0"/>
              <a:t> 1d Target, </a:t>
            </a:r>
            <a:r>
              <a:rPr lang="en-AT" dirty="0" err="1"/>
              <a:t>Auffällige</a:t>
            </a:r>
            <a:r>
              <a:rPr lang="en-AT" dirty="0"/>
              <a:t> </a:t>
            </a:r>
            <a:r>
              <a:rPr lang="en-AT" dirty="0" err="1"/>
              <a:t>schwäche</a:t>
            </a:r>
            <a:r>
              <a:rPr lang="en-AT" dirty="0"/>
              <a:t> </a:t>
            </a:r>
            <a:r>
              <a:rPr lang="en-AT" dirty="0" err="1"/>
              <a:t>bei</a:t>
            </a:r>
            <a:r>
              <a:rPr lang="en-AT" dirty="0"/>
              <a:t> ARIMA (3,0,2)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42176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DB1024-7604-0DD0-AC4E-5476E2B6D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5d Target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E95C87F-BD81-A1AC-0525-0D309F886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54" y="1462348"/>
            <a:ext cx="10691091" cy="370826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103A538-CFC7-066C-9FC0-C3A70D73E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560" y="5529029"/>
            <a:ext cx="6732990" cy="47354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93BCD00-E8DB-813B-BA50-B340ED3042D4}"/>
              </a:ext>
            </a:extLst>
          </p:cNvPr>
          <p:cNvSpPr txBox="1"/>
          <p:nvPr/>
        </p:nvSpPr>
        <p:spPr>
          <a:xfrm>
            <a:off x="452582" y="6176316"/>
            <a:ext cx="5473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 err="1"/>
              <a:t>Mäßige</a:t>
            </a:r>
            <a:r>
              <a:rPr lang="en-AT" dirty="0"/>
              <a:t> </a:t>
            </a:r>
            <a:r>
              <a:rPr lang="en-AT" dirty="0" err="1"/>
              <a:t>Verbesserung</a:t>
            </a:r>
            <a:r>
              <a:rPr lang="en-AT" dirty="0"/>
              <a:t> </a:t>
            </a:r>
            <a:r>
              <a:rPr lang="en-AT" dirty="0" err="1"/>
              <a:t>zum</a:t>
            </a:r>
            <a:r>
              <a:rPr lang="en-AT" dirty="0"/>
              <a:t> 1d Target, </a:t>
            </a:r>
            <a:r>
              <a:rPr lang="en-AT" dirty="0" err="1"/>
              <a:t>hohe</a:t>
            </a:r>
            <a:r>
              <a:rPr lang="en-AT" dirty="0"/>
              <a:t> </a:t>
            </a:r>
            <a:r>
              <a:rPr lang="en-AT" dirty="0" err="1"/>
              <a:t>Konsistenz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74049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D709D-4CFF-8579-B44D-87778F4DB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20d Target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A890F5C-1140-DC1D-9C40-A397342A4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20" y="1482699"/>
            <a:ext cx="10718360" cy="389260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DB453C2-A5ED-B945-6037-654AAA3D6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441" y="5552944"/>
            <a:ext cx="6673117" cy="46265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7AB1ABF-C779-00B9-CFB2-B4411A4B38F3}"/>
              </a:ext>
            </a:extLst>
          </p:cNvPr>
          <p:cNvSpPr txBox="1"/>
          <p:nvPr/>
        </p:nvSpPr>
        <p:spPr>
          <a:xfrm>
            <a:off x="461818" y="6188363"/>
            <a:ext cx="214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</a:t>
            </a:r>
            <a:r>
              <a:rPr lang="en-AT" dirty="0" err="1"/>
              <a:t>eine</a:t>
            </a:r>
            <a:r>
              <a:rPr lang="en-AT" dirty="0"/>
              <a:t> </a:t>
            </a:r>
            <a:r>
              <a:rPr lang="en-AT" dirty="0" err="1"/>
              <a:t>Verbesserung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82403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A78BA4-A7B5-4CF9-B00F-844C666AA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FNSPID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19675C-461B-2D9E-1E5E-F95BF14CD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 err="1"/>
              <a:t>Riesiges</a:t>
            </a:r>
            <a:r>
              <a:rPr lang="en-AT" dirty="0"/>
              <a:t> Dataset </a:t>
            </a:r>
            <a:r>
              <a:rPr lang="en-AT" dirty="0" err="1"/>
              <a:t>mit</a:t>
            </a:r>
            <a:r>
              <a:rPr lang="en-AT" dirty="0"/>
              <a:t> 15,7 </a:t>
            </a:r>
            <a:r>
              <a:rPr lang="en-AT" dirty="0" err="1"/>
              <a:t>Millionen</a:t>
            </a:r>
            <a:r>
              <a:rPr lang="en-AT" dirty="0"/>
              <a:t> </a:t>
            </a:r>
            <a:r>
              <a:rPr lang="en-AT" dirty="0" err="1"/>
              <a:t>Artikeln</a:t>
            </a:r>
            <a:r>
              <a:rPr lang="en-AT" dirty="0"/>
              <a:t> (1999-2023)</a:t>
            </a:r>
          </a:p>
          <a:p>
            <a:endParaRPr lang="en-AT" dirty="0"/>
          </a:p>
          <a:p>
            <a:endParaRPr lang="en-AT" dirty="0"/>
          </a:p>
          <a:p>
            <a:endParaRPr lang="en-AT" dirty="0"/>
          </a:p>
          <a:p>
            <a:r>
              <a:rPr lang="en-GB" dirty="0"/>
              <a:t>P</a:t>
            </a:r>
            <a:r>
              <a:rPr lang="en-AT" dirty="0" err="1"/>
              <a:t>ositive</a:t>
            </a:r>
            <a:r>
              <a:rPr lang="en-AT" dirty="0"/>
              <a:t> </a:t>
            </a:r>
            <a:r>
              <a:rPr lang="en-AT" dirty="0" err="1"/>
              <a:t>Korrelation</a:t>
            </a:r>
            <a:r>
              <a:rPr lang="en-AT" dirty="0"/>
              <a:t> </a:t>
            </a:r>
            <a:r>
              <a:rPr lang="en-AT" dirty="0" err="1"/>
              <a:t>zwischen</a:t>
            </a:r>
            <a:r>
              <a:rPr lang="en-AT" dirty="0"/>
              <a:t> sentiment vs price change!</a:t>
            </a:r>
          </a:p>
          <a:p>
            <a:endParaRPr lang="en-AT" dirty="0"/>
          </a:p>
          <a:p>
            <a:r>
              <a:rPr lang="en-AT" b="1" dirty="0" err="1"/>
              <a:t>Gravierenden</a:t>
            </a:r>
            <a:r>
              <a:rPr lang="en-AT" b="1" dirty="0"/>
              <a:t> F</a:t>
            </a:r>
            <a:r>
              <a:rPr lang="en-GB" b="1" dirty="0"/>
              <a:t>e</a:t>
            </a:r>
            <a:r>
              <a:rPr lang="en-AT" b="1" dirty="0" err="1"/>
              <a:t>hler</a:t>
            </a:r>
            <a:r>
              <a:rPr lang="en-AT" b="1" dirty="0"/>
              <a:t> </a:t>
            </a:r>
            <a:r>
              <a:rPr lang="en-AT" b="1" dirty="0" err="1"/>
              <a:t>im</a:t>
            </a:r>
            <a:r>
              <a:rPr lang="en-AT" b="1" dirty="0"/>
              <a:t> </a:t>
            </a:r>
            <a:r>
              <a:rPr lang="en-AT" b="1" dirty="0" err="1"/>
              <a:t>Datenset</a:t>
            </a:r>
            <a:r>
              <a:rPr lang="en-AT" b="1" dirty="0"/>
              <a:t> </a:t>
            </a:r>
            <a:r>
              <a:rPr lang="en-AT" b="1" dirty="0" err="1"/>
              <a:t>gefunden</a:t>
            </a:r>
            <a:endParaRPr lang="en-AT" b="1" dirty="0"/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AD3C00C-DD32-F6EB-8190-C846C9B37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8" y="2628722"/>
            <a:ext cx="11770683" cy="61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35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EF8D7E-A556-C97C-ED45-7A16A03C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Fehler </a:t>
            </a:r>
            <a:r>
              <a:rPr lang="en-AT" dirty="0" err="1"/>
              <a:t>im</a:t>
            </a:r>
            <a:r>
              <a:rPr lang="en-AT" dirty="0"/>
              <a:t> FNSPID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1AB8A0C-EC28-310B-7B71-084852921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144" y="2053700"/>
            <a:ext cx="11247584" cy="272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26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6A6E5A-576E-390E-D17B-ED936F006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8569038" cy="1680519"/>
          </a:xfrm>
        </p:spPr>
        <p:txBody>
          <a:bodyPr>
            <a:normAutofit/>
          </a:bodyPr>
          <a:lstStyle/>
          <a:p>
            <a:r>
              <a:rPr lang="en-AT" sz="4000" dirty="0"/>
              <a:t>FNSPID – Normalized Date</a:t>
            </a:r>
            <a:endParaRPr lang="de-AT" sz="40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AE64D84-1378-6A6B-9812-FC8AA644F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574" y="2502019"/>
            <a:ext cx="5167185" cy="319073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0E34F11-3FE0-848F-9E54-D70B2D6AF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7" y="2502019"/>
            <a:ext cx="5167185" cy="313906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60EDEF0-FB1A-923E-4515-6AAED90CE5F3}"/>
              </a:ext>
            </a:extLst>
          </p:cNvPr>
          <p:cNvSpPr txBox="1"/>
          <p:nvPr/>
        </p:nvSpPr>
        <p:spPr>
          <a:xfrm>
            <a:off x="4710546" y="6125519"/>
            <a:ext cx="1591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</a:t>
            </a:r>
            <a:r>
              <a:rPr lang="en-AT" dirty="0"/>
              <a:t>it lookahead</a:t>
            </a:r>
            <a:endParaRPr lang="de-AT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9CCF737-E8A3-F240-4B46-7AEE17193B1A}"/>
              </a:ext>
            </a:extLst>
          </p:cNvPr>
          <p:cNvCxnSpPr/>
          <p:nvPr/>
        </p:nvCxnSpPr>
        <p:spPr>
          <a:xfrm flipH="1" flipV="1">
            <a:off x="4433455" y="5551055"/>
            <a:ext cx="364836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092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A25857-ABDE-8480-AA84-80165751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Next Steps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D6B577-0464-45C1-C453-1834A3A8C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b="1" dirty="0"/>
              <a:t>Progress Report</a:t>
            </a:r>
          </a:p>
          <a:p>
            <a:r>
              <a:rPr lang="en-AT" dirty="0"/>
              <a:t>Feature Engineering für Sentiment </a:t>
            </a:r>
            <a:r>
              <a:rPr lang="en-AT" dirty="0" err="1"/>
              <a:t>abschließen</a:t>
            </a:r>
            <a:endParaRPr lang="en-AT" dirty="0"/>
          </a:p>
          <a:p>
            <a:r>
              <a:rPr lang="en-AT" dirty="0"/>
              <a:t>Technical indicators</a:t>
            </a:r>
          </a:p>
          <a:p>
            <a:r>
              <a:rPr lang="en-AT" dirty="0"/>
              <a:t>More Eval Models (LSTM, </a:t>
            </a:r>
            <a:r>
              <a:rPr lang="en-AT" i="1" dirty="0"/>
              <a:t>Transformer</a:t>
            </a:r>
            <a:r>
              <a:rPr lang="en-AT" dirty="0"/>
              <a:t>?!)</a:t>
            </a:r>
          </a:p>
          <a:p>
            <a:r>
              <a:rPr lang="en-AT" dirty="0"/>
              <a:t>Rolling Sentiment </a:t>
            </a:r>
            <a:r>
              <a:rPr lang="en-AT" dirty="0" err="1"/>
              <a:t>mit</a:t>
            </a:r>
            <a:r>
              <a:rPr lang="en-AT" dirty="0"/>
              <a:t> (1d,3d,5d) Target</a:t>
            </a:r>
          </a:p>
        </p:txBody>
      </p:sp>
    </p:spTree>
    <p:extLst>
      <p:ext uri="{BB962C8B-B14F-4D97-AF65-F5344CB8AC3E}">
        <p14:creationId xmlns:p14="http://schemas.microsoft.com/office/powerpoint/2010/main" val="4291771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Breitbild</PresentationFormat>
  <Paragraphs>47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</vt:lpstr>
      <vt:lpstr>Update Masterarbeit</vt:lpstr>
      <vt:lpstr>Was hat sich getan?</vt:lpstr>
      <vt:lpstr>Prompt-Änderung (Classification)</vt:lpstr>
      <vt:lpstr>Prompt-Änderung (Regression)</vt:lpstr>
      <vt:lpstr>PowerPoint-Präsentation</vt:lpstr>
      <vt:lpstr>PowerPoint-Präsentation</vt:lpstr>
      <vt:lpstr>Sentiment und Volatility</vt:lpstr>
      <vt:lpstr>Sentiment x Volatility</vt:lpstr>
      <vt:lpstr>Nur sentiment</vt:lpstr>
      <vt:lpstr>Nur Volaitlity</vt:lpstr>
      <vt:lpstr>Nur interaction</vt:lpstr>
      <vt:lpstr>Target 3d, 5d, 20d</vt:lpstr>
      <vt:lpstr>1d Target</vt:lpstr>
      <vt:lpstr>3d Target</vt:lpstr>
      <vt:lpstr>5d Target</vt:lpstr>
      <vt:lpstr>20d Target</vt:lpstr>
      <vt:lpstr>FNSPID</vt:lpstr>
      <vt:lpstr>Fehler im FNSPID</vt:lpstr>
      <vt:lpstr>FNSPID – Normalized Date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Höchtl</dc:creator>
  <cp:lastModifiedBy>David Höchtl</cp:lastModifiedBy>
  <cp:revision>4</cp:revision>
  <dcterms:created xsi:type="dcterms:W3CDTF">2025-11-19T15:50:56Z</dcterms:created>
  <dcterms:modified xsi:type="dcterms:W3CDTF">2025-11-30T19:59:25Z</dcterms:modified>
</cp:coreProperties>
</file>